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🚀 Day 2: Product &amp;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იდეიდან მუშა პროტოტიპამდე და პირველ გაშვებამდე (Launch)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9448495" cy="128016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600">
                <a:solidFill>
                  <a:srgbClr val="14532D"/>
                </a:solidFill>
              </a:rPr>
              <a:t>📅 Day 2: Product &amp; Launch (5 საათი / 300 წუთი)</a:t>
            </a:r>
          </a:p>
          <a:p>
            <a:r>
              <a:rPr sz="1400">
                <a:solidFill>
                  <a:srgbClr val="333333"/>
                </a:solidFill>
              </a:rPr>
              <a:t>ფოკუსი: Visual identity, Copywriting, live Landing Page, Supabase ბაზა, Make.com ავტომატიზაცია, Demo Day და VC Grill.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Day 2 Agenda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დღის განრიგი და მუშაობის ფორმატი: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📅 Day 2 განრიგი:</a:t>
            </a:r>
          </a:p>
          <a:p>
            <a:r>
              <a:rPr sz="1200">
                <a:solidFill>
                  <a:srgbClr val="333333"/>
                </a:solidFill>
              </a:rPr>
              <a:t>• 0:00 - 1:05: Brand + Photo + Copy + Gamma</a:t>
            </a:r>
          </a:p>
          <a:p>
            <a:r>
              <a:rPr sz="1200">
                <a:solidFill>
                  <a:srgbClr val="333333"/>
                </a:solidFill>
              </a:rPr>
              <a:t>• 1:05 - 1:35: შესვენება (☕ 30 წთ)</a:t>
            </a:r>
          </a:p>
          <a:p>
            <a:r>
              <a:rPr sz="1200">
                <a:solidFill>
                  <a:srgbClr val="333333"/>
                </a:solidFill>
              </a:rPr>
              <a:t>• 1:35 - 1:55: Technical Specification</a:t>
            </a:r>
          </a:p>
          <a:p>
            <a:r>
              <a:rPr sz="1200">
                <a:solidFill>
                  <a:srgbClr val="333333"/>
                </a:solidFill>
              </a:rPr>
              <a:t>• 1:55 - 3:15: Lovable MVP + Supabase + GDPR</a:t>
            </a:r>
          </a:p>
          <a:p>
            <a:r>
              <a:rPr sz="1200">
                <a:solidFill>
                  <a:srgbClr val="333333"/>
                </a:solidFill>
              </a:rPr>
              <a:t>• 3:15 - 4:00: ავტომატიზაცია (Make.com)</a:t>
            </a:r>
          </a:p>
          <a:p>
            <a:r>
              <a:rPr sz="1200">
                <a:solidFill>
                  <a:srgbClr val="333333"/>
                </a:solidFill>
              </a:rPr>
              <a:t>• 4:00 - 5:00: Pitch Deck + VC Mock Grill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🎯 დღის მიზანი:</a:t>
            </a:r>
          </a:p>
          <a:p>
            <a:r>
              <a:rPr sz="1200">
                <a:solidFill>
                  <a:srgbClr val="333333"/>
                </a:solidFill>
              </a:rPr>
              <a:t>დღის ბოლოს თითოეულ მონაწილეს ექნება ცოცხალი MVP საიტი საკუთარ დომენზე Supabase მონაცემთა ბაზით, Make ავტომატიზაციითა და მზა Pitch Deck-ით.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Voice of Customer: რეალური ინსაითების ინტეგრაცია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მომხმარებელთა რეალური ციტატებისა და უკუკავშირის გამოყენება პროდუქტის დიზაინში: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🎤 რატომ არის მნიშვნელოვანი?</a:t>
            </a:r>
          </a:p>
          <a:p>
            <a:r>
              <a:rPr sz="1200">
                <a:solidFill>
                  <a:srgbClr val="333333"/>
                </a:solidFill>
              </a:rPr>
              <a:t>სტარტაპები ხშირად იგონებენ პრობლემებს. მომხმარებელთან უშუალო საუბარი (ინტერვიუები, გამოკითხვები) გვაძლევს რეალურ ლექსიკონს - როგორ აღწერენ ისინი თავიანთ ტკივილს.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📝 ინტეგრაციის პროცესი:</a:t>
            </a:r>
          </a:p>
          <a:p>
            <a:r>
              <a:rPr sz="1200">
                <a:solidFill>
                  <a:srgbClr val="333333"/>
                </a:solidFill>
              </a:rPr>
              <a:t>• შეაგროვეთ მინიმუმ 3 რეალური მომხმარებლის ციტატა (Testimonials).</a:t>
            </a:r>
          </a:p>
          <a:p>
            <a:r>
              <a:rPr sz="1200">
                <a:solidFill>
                  <a:srgbClr val="333333"/>
                </a:solidFill>
              </a:rPr>
              <a:t>• გამოიყენეთ მათი სიტყვები სადესანტო გვერდის სათაურებში.</a:t>
            </a:r>
          </a:p>
          <a:p>
            <a:r>
              <a:rPr sz="1200">
                <a:solidFill>
                  <a:srgbClr val="333333"/>
                </a:solidFill>
              </a:rPr>
              <a:t>• დააფუძნეთ ბრენდის Tone of Voice მათ ემოციურ მდგომარეობაზე.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Copywriting Frameworks: AIDA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სადესანტო გვერდის (Landing Page) ტექსტების სტრუქტურა AIDA-ს მიხედვით: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🅰️ AIDA ნაბიჯები:</a:t>
            </a:r>
          </a:p>
          <a:p>
            <a:r>
              <a:rPr sz="1200">
                <a:solidFill>
                  <a:srgbClr val="333333"/>
                </a:solidFill>
              </a:rPr>
              <a:t>• Attention (ყურადღება): ყურადღების მიპყრობა სათაურით.</a:t>
            </a:r>
          </a:p>
          <a:p>
            <a:r>
              <a:rPr sz="1200">
                <a:solidFill>
                  <a:srgbClr val="333333"/>
                </a:solidFill>
              </a:rPr>
              <a:t>• Interest (ინტერესი): პრობლემის გაცნობიერება.</a:t>
            </a:r>
          </a:p>
          <a:p>
            <a:r>
              <a:rPr sz="1200">
                <a:solidFill>
                  <a:srgbClr val="333333"/>
                </a:solidFill>
              </a:rPr>
              <a:t>• Desire (სურვილი): პროდუქტის სარგებლის ჩვენება.</a:t>
            </a:r>
          </a:p>
          <a:p>
            <a:r>
              <a:rPr sz="1200">
                <a:solidFill>
                  <a:srgbClr val="333333"/>
                </a:solidFill>
              </a:rPr>
              <a:t>• Action (მოქმედება): ნათელი CTA (რეგისტრაციის ფორმა).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>
                <a:solidFill>
                  <a:srgbClr val="333333"/>
                </a:solidFill>
              </a:rPr>
              <a:t>AIDA Copywriting Prompt: შექმენი Landing Page-ის ტექსტები ჩემი სტარტაპისთვის [იდეა] AIDA მოდელის მიხედვით. დაწერე ქართულად, მოკლედ და დამარწმუნებლად.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Copywriting Frameworks: PAS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სარეკლამო კამპანიებისა და სოციალური პოსტების ყველაზე ეფექტური ჩარჩო: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🅿️ PAS ნაბიჯები:</a:t>
            </a:r>
          </a:p>
          <a:p>
            <a:r>
              <a:rPr sz="1200">
                <a:solidFill>
                  <a:srgbClr val="333333"/>
                </a:solidFill>
              </a:rPr>
              <a:t>• Problem (პრობლემა): მომხმარებლის ტკივილის დასახელება.</a:t>
            </a:r>
          </a:p>
          <a:p>
            <a:r>
              <a:rPr sz="1200">
                <a:solidFill>
                  <a:srgbClr val="333333"/>
                </a:solidFill>
              </a:rPr>
              <a:t>• Agitate (ემოციის გამძაფრება): პრობლემის ნეგატიური ეფექტის ჩვენება.</a:t>
            </a:r>
          </a:p>
          <a:p>
            <a:r>
              <a:rPr sz="1200">
                <a:solidFill>
                  <a:srgbClr val="333333"/>
                </a:solidFill>
              </a:rPr>
              <a:t>• Solution (გადაწყვეტა): თქვენი პროდუქტის, როგორც ერთადერთი ხსნის წარდგენა.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>
                <a:solidFill>
                  <a:srgbClr val="333333"/>
                </a:solidFill>
              </a:rPr>
              <a:t>PAS Copywriting Prompt: დაწერე 3 სარეკლამო პოსტი Facebook/LinkedIn-ისთვის ჩემი სტარტაპისთვის [იდეა] PAS მოდელით. თითოეულში გამოიყენე შესაბამისი ემოჯიები და CTA.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Tone of Voice: Brand Persona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შევინარჩუნოთ ბრენდის ერთიანი ტონი ყველა ტექსტში?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4532D"/>
                </a:solidFill>
              </a:rPr>
              <a:t>🎭 ბრენდის ხმის ტიპები:</a:t>
            </a:r>
          </a:p>
          <a:p>
            <a:r>
              <a:rPr sz="1300">
                <a:solidFill>
                  <a:srgbClr val="333333"/>
                </a:solidFill>
              </a:rPr>
              <a:t>• Professional / Authoritative: ფინანსები და ჯანდაცვა (ნდობის აღძვრა);</a:t>
            </a:r>
          </a:p>
          <a:p>
            <a:r>
              <a:rPr sz="1300">
                <a:solidFill>
                  <a:srgbClr val="333333"/>
                </a:solidFill>
              </a:rPr>
              <a:t>• Friendly / Playful: განათლება და გართობა (მეგობრული ტონი);</a:t>
            </a:r>
          </a:p>
          <a:p>
            <a:r>
              <a:rPr sz="1300">
                <a:solidFill>
                  <a:srgbClr val="333333"/>
                </a:solidFill>
              </a:rPr>
              <a:t>• Bold / Disrupter: ინოვაციური No-Code პლატფორმები.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Brand Voice Prompt: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ჩამოაყალიბე ბრენდის Tone of Voice ჩემი სტარტაპისთვის [იდეა]. მიეცი 5 კონკრეტული წესი AI-ს, თუ როგორ უნდა დაწეროს ტექსტები (მაგალითად: "წერე მოკლედ, გამოიყენე 'შენ' და მოერიდე პათეტიკურ სიტყვებს").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ბრენდის არქიტექტურა: Mission, Voice, Visual, 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ბრენდის 4 ძირითადი ფენა, რომელიც ქმნის მომხმარებლის ნდობას: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728618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1. Mission (მისია)</a:t>
            </a:r>
          </a:p>
          <a:p>
            <a:r>
              <a:rPr sz="1200">
                <a:solidFill>
                  <a:srgbClr val="333333"/>
                </a:solidFill>
              </a:rPr>
              <a:t>რატომ არსებობს თქვენი სტარტაპი და რა გრძელვადიან ცვლილებას ახდენს იგი ინდუსტრიაში?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1538" y="1463040"/>
            <a:ext cx="3728618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2. Voice (ბრენდის ხმა)</a:t>
            </a:r>
          </a:p>
          <a:p>
            <a:r>
              <a:rPr sz="1200">
                <a:solidFill>
                  <a:srgbClr val="333333"/>
                </a:solidFill>
              </a:rPr>
              <a:t>როგორია ბრენდის პიროვნება? (მაგ. ავტორიტეტული ფინანსებში, მეგობრული განათლებაში).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463040"/>
            <a:ext cx="3728618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3. Visual (ვიზუალი)</a:t>
            </a:r>
          </a:p>
          <a:p>
            <a:r>
              <a:rPr sz="1200">
                <a:solidFill>
                  <a:srgbClr val="333333"/>
                </a:solidFill>
              </a:rPr>
              <a:t>ფერები, ფონტები და გრაფიკული ენა, რომელიც მომენტალურად ასოცირდება თქვენს ბრენდთან.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07208"/>
            <a:ext cx="3728618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4. Tone (ბრენდის ტონი)</a:t>
            </a:r>
          </a:p>
          <a:p>
            <a:r>
              <a:rPr sz="1200">
                <a:solidFill>
                  <a:srgbClr val="333333"/>
                </a:solidFill>
              </a:rPr>
              <a:t>როგორ იცვლება ბრენდის ხმა კონტექსტის მიხედვით (მაგ. შეცდომის შეტყობინებისას vs გაყიდვებისას).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ვიზუალური სტილის სახელმძღვანელო (Visual Style Guide)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ბრენდის ვიზუალური იდენტობის სტანდარტების განსაზღვრა Lovable MVP-სთვის: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🎨 ფერების შერჩევა (Color Palette):</a:t>
            </a:r>
          </a:p>
          <a:p>
            <a:r>
              <a:rPr sz="1200">
                <a:solidFill>
                  <a:srgbClr val="333333"/>
                </a:solidFill>
              </a:rPr>
              <a:t>• Primary: ძირითადი ფერი (ბრენდის ემოცია, მაგ. ლურჯი - ნდობა);</a:t>
            </a:r>
          </a:p>
          <a:p>
            <a:r>
              <a:rPr sz="1200">
                <a:solidFill>
                  <a:srgbClr val="333333"/>
                </a:solidFill>
              </a:rPr>
              <a:t>• Secondary: დამხმარე ფერი (ინტერფეისის ბალანსისთვის);</a:t>
            </a:r>
          </a:p>
          <a:p>
            <a:r>
              <a:rPr sz="1200">
                <a:solidFill>
                  <a:srgbClr val="333333"/>
                </a:solidFill>
              </a:rPr>
              <a:t>• Accent: აქცენტის ფერი (მხოლოდ CTA ღილაკებისთვის).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✍️ Typography &amp; Imagery:</a:t>
            </a:r>
          </a:p>
          <a:p>
            <a:r>
              <a:rPr sz="1200">
                <a:solidFill>
                  <a:srgbClr val="333333"/>
                </a:solidFill>
              </a:rPr>
              <a:t>• აირჩიეთ მაქსიმუმ 2 შრიფტი (მაგ. FiraGO სათაურებისთვის და Segoe UI ტექსტისთვის).</a:t>
            </a:r>
          </a:p>
          <a:p>
            <a:r>
              <a:rPr sz="1200">
                <a:solidFill>
                  <a:srgbClr val="333333"/>
                </a:solidFill>
              </a:rPr>
              <a:t>• განსაზღვრეთ ლოგოს სტილი (Flat vector, minimalist, geometric).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Visual Identity: Logo with Ideogram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შევქმნათ ლოგო ტექსტთან ერთად Ideogram-ის მეშვეობით: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E3A8A"/>
                </a:solidFill>
              </a:rPr>
              <a:t>🎨 Ideogram-ის უპირატესობა:</a:t>
            </a:r>
          </a:p>
          <a:p>
            <a:r>
              <a:rPr sz="1300">
                <a:solidFill>
                  <a:srgbClr val="333333"/>
                </a:solidFill>
              </a:rPr>
              <a:t>იგი საუკეთესოდ აინტეგრირებს ნაწერს სურათში. იდეალურია სტარტაპის ლოგოსა და სლოგანისთვის.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Ideogram Logo Prompt: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A minimalist flat vector logo for a startup named "[სტარტაპის სახელი]". A clean geometric icon representing [სფერო], bold typography, corporate color palette, white background, high resolution.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Visual Identity: Hero Image with 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საიტის მთავარი სურათის (Hero image) შექმნა Flux.1.1 Pro-თი: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🌟 Flux-ის მახასიათებლები:</a:t>
            </a:r>
          </a:p>
          <a:p>
            <a:r>
              <a:rPr sz="1200">
                <a:solidFill>
                  <a:srgbClr val="333333"/>
                </a:solidFill>
              </a:rPr>
              <a:t>• ულტრა-ფოტო-რეალიზმი;</a:t>
            </a:r>
          </a:p>
          <a:p>
            <a:r>
              <a:rPr sz="1200">
                <a:solidFill>
                  <a:srgbClr val="333333"/>
                </a:solidFill>
              </a:rPr>
              <a:t>• ანატომიურად ზუსტი დეტალები (ხელები, სახე);</a:t>
            </a:r>
          </a:p>
          <a:p>
            <a:r>
              <a:rPr sz="1200">
                <a:solidFill>
                  <a:srgbClr val="333333"/>
                </a:solidFill>
              </a:rPr>
              <a:t>• რთული პრომპტების ზუსტი გაგება.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>
                <a:solidFill>
                  <a:srgbClr val="333333"/>
                </a:solidFill>
              </a:rPr>
              <a:t>Flux Hero Prompt: A professional studio product photograph of [პროდუქტი], floating in space with soft lighting, premium glassmorphism background, cinematic composition, depth of field, 8k resolution, photorealistic.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გაშვების სტრატეგია (Launch Strategy) &amp; Product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გავაცნოთ ჩვენი MVP პირველ მომხმარებლებს და მოვიზიდოთ გლობალური ყურადღება?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🚀 Product Hunt გაშვება:</a:t>
            </a:r>
          </a:p>
          <a:p>
            <a:r>
              <a:rPr sz="1200">
                <a:solidFill>
                  <a:srgbClr val="333333"/>
                </a:solidFill>
              </a:rPr>
              <a:t>პლატფორმა, სადაც ყოველდღიურად ათასობით ტექნოლოგიური ენთუზიასტი ეძებს ახალ სტარტაპებს. გაშვება უფასოა და იძლევა უზარმაზარ ორგანულ ტრაფიკს.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სოციალური მედიის სპრინტი:</a:t>
            </a:r>
          </a:p>
          <a:p>
            <a:r>
              <a:rPr sz="1200">
                <a:solidFill>
                  <a:srgbClr val="333333"/>
                </a:solidFill>
              </a:rPr>
              <a:t>• დაწერეთ 3 გამორჩეული პოსტი Launch-ისთვის;</a:t>
            </a:r>
          </a:p>
          <a:p>
            <a:r>
              <a:rPr sz="1200">
                <a:solidFill>
                  <a:srgbClr val="333333"/>
                </a:solidFill>
              </a:rPr>
              <a:t>• გამოიყენეთ მოკლე ვიდეო-დემო (GIF ან Screen record);</a:t>
            </a:r>
          </a:p>
          <a:p>
            <a:r>
              <a:rPr sz="1200">
                <a:solidFill>
                  <a:srgbClr val="333333"/>
                </a:solidFill>
              </a:rPr>
              <a:t>• პირველ 1 საათში ჩართეთ თქვენი მეგობრები და მხარდამჭერები აქტივობისთვის.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Visual Prompting: Camera &amp; Lighting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დავწეროთ სურათის პრომპტი პროფესიონალური შედეგისთვის?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7C2D12"/>
                </a:solidFill>
              </a:rPr>
              <a:t>📷 Visual Prompt Formula:</a:t>
            </a:r>
          </a:p>
          <a:p>
            <a:r>
              <a:rPr sz="1300">
                <a:solidFill>
                  <a:srgbClr val="333333"/>
                </a:solidFill>
              </a:rPr>
              <a:t>სუბიექტი + მოქმედება + გარემო + განათება + კამერის ხედი + სტილი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💡 განათება:</a:t>
            </a:r>
          </a:p>
          <a:p>
            <a:r>
              <a:rPr sz="1200">
                <a:solidFill>
                  <a:srgbClr val="333333"/>
                </a:solidFill>
              </a:rPr>
              <a:t>Studio light, volumetric lighting, neon glow, soft shadows.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1538" y="3035808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კამერის ხედი:</a:t>
            </a:r>
          </a:p>
          <a:p>
            <a:r>
              <a:rPr sz="1200">
                <a:solidFill>
                  <a:srgbClr val="333333"/>
                </a:solidFill>
              </a:rPr>
              <a:t>Macro shot, eye-level, top-down view, cinematic depth of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3035808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სტილი:</a:t>
            </a:r>
          </a:p>
          <a:p>
            <a:r>
              <a:rPr sz="1200">
                <a:solidFill>
                  <a:srgbClr val="333333"/>
                </a:solidFill>
              </a:rPr>
              <a:t>Minimalist flat design, photorealistic, 3D render, vector illustration.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Gamma.app: Presentation Outline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Gamma AI-ით პრეზენტაციის სტრუქტურის შექმნა: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E3A8A"/>
                </a:solidFill>
              </a:rPr>
              <a:t>⚡ პროცესი:</a:t>
            </a:r>
          </a:p>
          <a:p>
            <a:r>
              <a:rPr sz="1300">
                <a:solidFill>
                  <a:srgbClr val="333333"/>
                </a:solidFill>
              </a:rPr>
              <a:t>ტექსტური აღწერიდან Gamma ავტომატურად ქმნის 10-სლაიდიან საპრეზენტაციო outline-სა და დიზაინს.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Gamma Outline Prompt: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შექმენი 10-სლაიდიანი Pitch Deck-ის სტრუქტურა ჩემი სტარტაპისთვის [იდეა]. გამოიყენე შემდეგი სექციები: პრობლემა, გადაწყვეტა, ბაზრის ზომა, ბიზნეს მოდელი, კონკურენცია. დაწერე ქართულად, გამოიყენე მოკლე და მკაფიო პუნქტები.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Gamma.app: Exporters &amp; Design Adjustments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დავარედაქტიროთ და გავაზიაროთ Gamma პრეზენტაცია?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🛠️ დიზაინის მორგება:</a:t>
            </a:r>
          </a:p>
          <a:p>
            <a:r>
              <a:rPr sz="1200">
                <a:solidFill>
                  <a:srgbClr val="333333"/>
                </a:solidFill>
              </a:rPr>
              <a:t>• ბრენდის ფერებისა და ფონტების იმპორტი;</a:t>
            </a:r>
          </a:p>
          <a:p>
            <a:r>
              <a:rPr sz="1200">
                <a:solidFill>
                  <a:srgbClr val="333333"/>
                </a:solidFill>
              </a:rPr>
              <a:t>• სურათების ჩანაცვლება Flux-ით გენერირებული ვიზუალებით;</a:t>
            </a:r>
          </a:p>
          <a:p>
            <a:r>
              <a:rPr sz="1200">
                <a:solidFill>
                  <a:srgbClr val="333333"/>
                </a:solidFill>
              </a:rPr>
              <a:t>• სლაიდების განლაგების შეცვლა 1 კლიკით.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📤 ექსპორტის ოფციები:</a:t>
            </a:r>
          </a:p>
          <a:p>
            <a:r>
              <a:rPr sz="1200">
                <a:solidFill>
                  <a:srgbClr val="333333"/>
                </a:solidFill>
              </a:rPr>
              <a:t>• PDF ექსპორტი ჟიურისთვის გასაგზავნად;</a:t>
            </a:r>
          </a:p>
          <a:p>
            <a:r>
              <a:rPr sz="1200">
                <a:solidFill>
                  <a:srgbClr val="333333"/>
                </a:solidFill>
              </a:rPr>
              <a:t>• PowerPoint (.pptx) ფორმატში ჩამოტვირთვა;</a:t>
            </a:r>
          </a:p>
          <a:p>
            <a:r>
              <a:rPr sz="1200">
                <a:solidFill>
                  <a:srgbClr val="333333"/>
                </a:solidFill>
              </a:rPr>
              <a:t>• საჯარო ვებ-ბმულის (Link sharing) გაზიარება.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10-Slide GITA Pitch Deck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GITA-ს გრანტების სტანდარტული საპრეზენტაციო დეკის სტრუქტურა: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6017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სლაიდი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დასახელება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რა უნდა ეწეროს?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Title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სტარტაპის სახელი, ლოგო და 1-წინადადებიანი Pitch.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მთავარი პრობლემა მომხმარებლის ციტატებით.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თქვენი MVP-ს 3 ძირითადი სარგებელი.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TAM, SAM, SOM (ბაზრის მოცულობა ციფრებში).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როგორ გამოიმუშავებთ ფულს (Pricing).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Technical Specification: 6 ძირითადი კომპონენტი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რა კომპონენტებისგან შედგება პროფესიონალური Tech Spec დოკუმენტი სტარტაპისთვის?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6017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კომპონენტი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აღწერა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მიზანი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Product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პროდუქტის არსი და მიზანი 2-3 წინადადებაში.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გუნდის სინქრონიზაცია.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User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მომხმარებლის გზა: „როგორც [როლი], მინდა [აქტივობა]...“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UX-ის დაგეგმვა.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Core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ძირითადი ფუნქციების ჩამონათვალი.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MVP-ის ფარგლების განსაზღვრა.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Technical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ტექნოლოგიები (React, Tailwind, Supabase, Make).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არქიტექტურის დაგეგმვა.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Lovable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დიდი დეტალური პრომპტი საიტის ასაწყობად.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ავტომატური კოდირება.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 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როდის ითვლება ფუნქცია მზადყოფნაში (measurable).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ხარისხის კონტროლი.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Engineering-Ready სტატუსი Pitch-ში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დავარწმუნოთ ინვესტორები და GITA-ს ჟიური, რომ ჩვენი პროექტი მზადაა დეველოპმენტისთვის?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🛠️ „Engineering Ready“ მარკერი:</a:t>
            </a:r>
          </a:p>
          <a:p>
            <a:r>
              <a:rPr sz="1200">
                <a:solidFill>
                  <a:srgbClr val="333333"/>
                </a:solidFill>
              </a:rPr>
              <a:t>ჟიურის წევრებს უყვართ, როდესაც დამფუძნებელს ესმის ტექნიკური მხარე. ეს აჩვენებს, რომ გრანტის თანხა არ დაიხარჯება არასწორ დიზაინსა და კოდში.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საპრეზენტაციო თეზისები (Slide 9):</a:t>
            </a:r>
          </a:p>
          <a:p>
            <a:r>
              <a:rPr sz="1200">
                <a:solidFill>
                  <a:srgbClr val="333333"/>
                </a:solidFill>
              </a:rPr>
              <a:t>• „MVP არქიტექტურა აწყობილია React-ზე და Supabase-ზე;“</a:t>
            </a:r>
          </a:p>
          <a:p>
            <a:r>
              <a:rPr sz="1200">
                <a:solidFill>
                  <a:srgbClr val="333333"/>
                </a:solidFill>
              </a:rPr>
              <a:t>• „Technical Specification დოკუმენტი სრულად მზადაა;“</a:t>
            </a:r>
          </a:p>
          <a:p>
            <a:r>
              <a:rPr sz="1200">
                <a:solidFill>
                  <a:srgbClr val="333333"/>
                </a:solidFill>
              </a:rPr>
              <a:t>• „კოდის ექსპორტირება მოხდა GitHub-ზე და მზადაა React დეველოპერებისთვის გადასაცემად.“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Lovable.dev: Interface &amp;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დავიწყოთ ახალი პროექტი Lovable-ში?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🚀 ნაბიჯები:</a:t>
            </a:r>
          </a:p>
          <a:p>
            <a:r>
              <a:rPr sz="1200">
                <a:solidFill>
                  <a:srgbClr val="333333"/>
                </a:solidFill>
              </a:rPr>
              <a:t>• შედით lovable.dev-ზე და გაიარეთ ავტორიზაცია Google-ით;</a:t>
            </a:r>
          </a:p>
          <a:p>
            <a:r>
              <a:rPr sz="1200">
                <a:solidFill>
                  <a:srgbClr val="333333"/>
                </a:solidFill>
              </a:rPr>
              <a:t>• დააჭირეთ "Create New Project" ღილაკს;</a:t>
            </a:r>
          </a:p>
          <a:p>
            <a:r>
              <a:rPr sz="1200">
                <a:solidFill>
                  <a:srgbClr val="333333"/>
                </a:solidFill>
              </a:rPr>
              <a:t>• ჩაწერეთ თქვენი 1-წინადადებიანი Pitch საწყის პრომპტად.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🖥️ Lovable-ის ინტერფეისი:</a:t>
            </a:r>
          </a:p>
          <a:p>
            <a:r>
              <a:rPr sz="1200">
                <a:solidFill>
                  <a:srgbClr val="333333"/>
                </a:solidFill>
              </a:rPr>
              <a:t>• Chat Panel (მარცხნივ): სადაც AI-ს აძლევთ ინსტრუქციებს;</a:t>
            </a:r>
          </a:p>
          <a:p>
            <a:r>
              <a:rPr sz="1200">
                <a:solidFill>
                  <a:srgbClr val="333333"/>
                </a:solidFill>
              </a:rPr>
              <a:t>• Preview Panel (მარჯვნივ): სადაც რეალურ დროში ხედავთ მუშა საიტს;</a:t>
            </a:r>
          </a:p>
          <a:p>
            <a:r>
              <a:rPr sz="1200">
                <a:solidFill>
                  <a:srgbClr val="333333"/>
                </a:solidFill>
              </a:rPr>
              <a:t>• GitHub connect: კოდის რეპოზიტორიასთან დასაკავშირებლად.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Lovable.dev: Prompting UI layouts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ვმართოთ საიტის ინტერფეისი პრომპტებით?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7C2D12"/>
                </a:solidFill>
              </a:rPr>
              <a:t>💡 რეკომენდაცია: წერეთ ეტაპობრივად</a:t>
            </a:r>
          </a:p>
          <a:p>
            <a:r>
              <a:rPr sz="1300">
                <a:solidFill>
                  <a:srgbClr val="333333"/>
                </a:solidFill>
              </a:rPr>
              <a:t>არ სთხოვოთ AI-ს მთელი საიტის ერთბაშად შეცვლა. მიეცით 1-2 კონკრეტული დავალება ყოველ ჯერზე.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UI Prompt Example: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დაამატე Hero სექცია მუქი ლურჯი ფონით. მარცხენა მხარეს განათავსე სათაური "[სათაური]" და CTA ღილაკი "დაიწყე უფასოდ". მარჯვენა მხარეს დაამატე პროდუქტის ილუსტრაციის მოკაპი.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Supabase: Connecting Backend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ბექენდ მონაცემთა ბაზის დაკავშირება Lovable-თან: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🗄️ Supabase შესაძლებლობები:</a:t>
            </a:r>
          </a:p>
          <a:p>
            <a:r>
              <a:rPr sz="1200">
                <a:solidFill>
                  <a:srgbClr val="333333"/>
                </a:solidFill>
              </a:rPr>
              <a:t>• მონაცემთა ბაზა (PostgreSQL);</a:t>
            </a:r>
          </a:p>
          <a:p>
            <a:r>
              <a:rPr sz="1200">
                <a:solidFill>
                  <a:srgbClr val="333333"/>
                </a:solidFill>
              </a:rPr>
              <a:t>• მომხმარებელთა ავთენტიფიკაცია (Sign Up / Login);</a:t>
            </a:r>
          </a:p>
          <a:p>
            <a:r>
              <a:rPr sz="1200">
                <a:solidFill>
                  <a:srgbClr val="333333"/>
                </a:solidFill>
              </a:rPr>
              <a:t>• ფაილების შენახვა (Storage).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🔗 დაკავშირების ინსტრუქცია:</a:t>
            </a:r>
          </a:p>
          <a:p>
            <a:r>
              <a:rPr sz="1200">
                <a:solidFill>
                  <a:srgbClr val="333333"/>
                </a:solidFill>
              </a:rPr>
              <a:t>Lovable-ის პარამეტრებში დააჭირეთ "Connect Supabase" ღილაკს. Lovable ავტომატურად შექმნის ახალ პროექტს და დააკავშირებს API გასაღებებს.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Supabase: Creating Leads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მონაცემთა ბაზის ცხრილის შექმნა მეილების შესაგროვებლად: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E3A8A"/>
                </a:solidFill>
              </a:rPr>
              <a:t>📊 Leads ცხრილის სტრუქტურა (Schema):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35808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Supabase Table Prompt: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Supabase-ში შექმენი Leads ცხრილი id, email, name და created_at სვეტებით. Lovable-ის საიტზე არსებული ფორმის შევსებისას მონაცემები ავტომატურად ჩაიწეროს ამ ცხრილში.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Supabase: ავთენტიფიკაცია და ფაილების შენახვა (Storage)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მონაცემთა ბაზის შესაძლებლობების გაფართოება მომხმარებლის მართვისა და ფაილებისთვის: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🔐 User Auth (ავთენტიფიკაცია):</a:t>
            </a:r>
          </a:p>
          <a:p>
            <a:r>
              <a:rPr sz="1200">
                <a:solidFill>
                  <a:srgbClr val="333333"/>
                </a:solidFill>
              </a:rPr>
              <a:t>Supabase-ში მომხმარებლის რეგისტრაცია (Email/Password ან Google Login) ხდება სრულიად უფასოდ და დაცულად. Lovable-ს შეუძლია ავტომატურად ააწყოს შესვლის ფორმა.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📂 Supabase Storage:</a:t>
            </a:r>
          </a:p>
          <a:p>
            <a:r>
              <a:rPr sz="1200">
                <a:solidFill>
                  <a:srgbClr val="333333"/>
                </a:solidFill>
              </a:rPr>
              <a:t>ადგილი ფაილების, სურათებისა და დოკუმენტების შესანახად. მაგალითად: მომხმარებლის პროფილის სურათების ან ატვირთული CV-ების შესანახად.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GDPR Compliance: 4 Core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მონაცემთა დაცვის ევროპული რეგულაციები (GDPR) სტარტაპებისთვის: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7C2D12"/>
                </a:solidFill>
              </a:rPr>
              <a:t>GDPR 4 ძირითადი წესი:</a:t>
            </a:r>
          </a:p>
          <a:p>
            <a:r>
              <a:rPr sz="1300">
                <a:solidFill>
                  <a:srgbClr val="333333"/>
                </a:solidFill>
              </a:rPr>
              <a:t>• მკაფიო თანხმობა (Consent): ფორმაში მეილის შეყვანისას მომხმარებელმა უნდა მონიშნოს "ვეთანხმები წესებს" ჩეკბოქსი.</a:t>
            </a:r>
          </a:p>
          <a:p>
            <a:r>
              <a:rPr sz="1300">
                <a:solidFill>
                  <a:srgbClr val="333333"/>
                </a:solidFill>
              </a:rPr>
              <a:t>• მონაცემთა მინიმიზაცია: შეაგროვეთ მხოლოდ ის მონაცემები, რაც კრიტიკულად გჭირდებათ (არა ზედმეტი პირადი ინფორმაცია).</a:t>
            </a:r>
          </a:p>
          <a:p>
            <a:r>
              <a:rPr sz="1300">
                <a:solidFill>
                  <a:srgbClr val="333333"/>
                </a:solidFill>
              </a:rPr>
              <a:t>• წაშლის უფლება: მომხმარებლის მოთხოვნისთანავე წაშალეთ მისი მონაცემები ბაზიდან.</a:t>
            </a:r>
          </a:p>
          <a:p>
            <a:r>
              <a:rPr sz="1300">
                <a:solidFill>
                  <a:srgbClr val="333333"/>
                </a:solidFill>
              </a:rPr>
              <a:t>• Privacy Policy გვერდი: საიტზე უნდა არსებობდეს ბმული მარტივი წესების გვერდზე.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GDPR: Generating Privacy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Privacy Policy გვერდის ტექსტის გენერირება Claude-ის საშუალებით: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200">
                <a:solidFill>
                  <a:srgbClr val="F59E0B"/>
                </a:solidFill>
              </a:rPr>
              <a:t>GDPR Legal Prompt:</a:t>
            </a:r>
          </a:p>
          <a:p>
            <a:r>
              <a:rPr sz="1200">
                <a:solidFill>
                  <a:srgbClr val="E2E8F0"/>
                </a:solidFill>
                <a:latin typeface="Consolas"/>
              </a:rPr>
              <a:t>მე მაქვს Landing Page [პროდუქტის სახელი], რომელიც აგროვებს მომხმარებელთა Email-ებს Supabase-ის მეშვეობით. დამიწერე მარტივი Privacy Policy და Terms of Service გვერდის ტექსტი ქართულად, GDPR წესების დაცვით. მიუთითე მონაცემთა შენახვის მიზანი და წაშლის უფლება.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333333"/>
                </a:solidFill>
              </a:rPr>
              <a:t>💡 მითითება: გენერირებული ტექსტი განათავსეთ Lovable-ის საიტზე `/privacy` გვერდზე და ბმული ჩასვით ფუტერში.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Custom Domain Deploy: DNS A-record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საიტის ძირითადი დომენის (მაგ: `mystartup.ge`) დაკავშირება Lovable-თან: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DNS კონფიგურაცია:</a:t>
            </a:r>
          </a:p>
          <a:p>
            <a:r>
              <a:rPr sz="1200">
                <a:solidFill>
                  <a:srgbClr val="333333"/>
                </a:solidFill>
              </a:rPr>
              <a:t>შედით თქვენი დომენის რეგისტრატორის (Namecheap, GoDaddy) პანელში და დაამატეთ A Record:</a:t>
            </a:r>
          </a:p>
          <a:p>
            <a:r>
              <a:rPr sz="1200">
                <a:solidFill>
                  <a:srgbClr val="333333"/>
                </a:solidFill>
              </a:rPr>
              <a:t>• Type: A Record</a:t>
            </a:r>
          </a:p>
          <a:p>
            <a:r>
              <a:rPr sz="1200">
                <a:solidFill>
                  <a:srgbClr val="333333"/>
                </a:solidFill>
              </a:rPr>
              <a:t>• Host: @</a:t>
            </a:r>
          </a:p>
          <a:p>
            <a:r>
              <a:rPr sz="1200">
                <a:solidFill>
                  <a:srgbClr val="333333"/>
                </a:solidFill>
              </a:rPr>
              <a:t>• Value: 76.76.21.21 (Lovable/Vercel სერვერი)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რატომ არის საჭირო A Record?</a:t>
            </a:r>
          </a:p>
          <a:p>
            <a:r>
              <a:rPr sz="1200">
                <a:solidFill>
                  <a:srgbClr val="333333"/>
                </a:solidFill>
              </a:rPr>
              <a:t>იგი მიმართავს თქვენს დომენს სერვერის კონკრეტულ IP მისამართზე, სადაც განთავსებულია საიტი.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Custom Domain Deploy: CNAME &amp; SSL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`www` ქვედომენის მიერთება და უსაფრთხოების (SSL) სერტიფიკატი: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CNAME კონფიგურაცია:</a:t>
            </a:r>
          </a:p>
          <a:p>
            <a:r>
              <a:rPr sz="1200">
                <a:solidFill>
                  <a:srgbClr val="333333"/>
                </a:solidFill>
              </a:rPr>
              <a:t>• Type: CNAME Record</a:t>
            </a:r>
          </a:p>
          <a:p>
            <a:r>
              <a:rPr sz="1200">
                <a:solidFill>
                  <a:srgbClr val="333333"/>
                </a:solidFill>
              </a:rPr>
              <a:t>• Host: www</a:t>
            </a:r>
          </a:p>
          <a:p>
            <a:r>
              <a:rPr sz="1200">
                <a:solidFill>
                  <a:srgbClr val="333333"/>
                </a:solidFill>
              </a:rPr>
              <a:t>• Value: cname.lovable.dev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SSL სერტიფიკატი (HTTPS):</a:t>
            </a:r>
          </a:p>
          <a:p>
            <a:r>
              <a:rPr sz="1200">
                <a:solidFill>
                  <a:srgbClr val="333333"/>
                </a:solidFill>
              </a:rPr>
              <a:t>DNS ჩანაწერების გაწერიდან 10-15 წუთში Lovable ავტომატურად დააგენერირებს უფასო SSL სერტიფიკატს, რაც უზრუნველყოფს საიტის უსაფრთხოებას.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GitHub Integration: Code Export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კოდის ექსპორტი პირადი უსაფრთხოებისთვის: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📦 ექსპორტის ნაბიჯები:</a:t>
            </a:r>
          </a:p>
          <a:p>
            <a:r>
              <a:rPr sz="1200">
                <a:solidFill>
                  <a:srgbClr val="333333"/>
                </a:solidFill>
              </a:rPr>
              <a:t>• Lovable-ის მენიუში აირჩიეთ "GitHub integration";</a:t>
            </a:r>
          </a:p>
          <a:p>
            <a:r>
              <a:rPr sz="1200">
                <a:solidFill>
                  <a:srgbClr val="333333"/>
                </a:solidFill>
              </a:rPr>
              <a:t>• გაიარეთ ავტორიზაცია თქვენს GitHub პროფილზე;</a:t>
            </a:r>
          </a:p>
          <a:p>
            <a:r>
              <a:rPr sz="1200">
                <a:solidFill>
                  <a:srgbClr val="333333"/>
                </a:solidFill>
              </a:rPr>
              <a:t>• შექმენით ახალი რეპოზიტორია. Lovable ავტომატურად ატვირთავს მთელ კოდს.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📂 კოდის სტრუქტურა:</a:t>
            </a:r>
          </a:p>
          <a:p>
            <a:r>
              <a:rPr sz="1200">
                <a:solidFill>
                  <a:srgbClr val="333333"/>
                </a:solidFill>
              </a:rPr>
              <a:t>საიტი აწყობილია React-ზე (Vite), სტილებისთვის გამოიყენება TailwindCSS, ხოლო კომპონენტებისთვის - shadcn/ui.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Code Ownership: Handover to React/Vite Devs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გადავაბაროთ No-Code-ით დაწყებული პროექტი დეველოპერებს?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7C2D12"/>
                </a:solidFill>
              </a:rPr>
              <a:t>💡 კოდის გადაცემის წესები:</a:t>
            </a:r>
          </a:p>
          <a:p>
            <a:r>
              <a:rPr sz="1300">
                <a:solidFill>
                  <a:srgbClr val="333333"/>
                </a:solidFill>
              </a:rPr>
              <a:t>• მიეცით დეველოპერს წვდომა თქვენს GitHub რეპოზიტორიაზე;</a:t>
            </a:r>
          </a:p>
          <a:p>
            <a:r>
              <a:rPr sz="1300">
                <a:solidFill>
                  <a:srgbClr val="333333"/>
                </a:solidFill>
              </a:rPr>
              <a:t>• გადასცემთ Supabase-ის API გასაღებებს;</a:t>
            </a:r>
          </a:p>
          <a:p>
            <a:r>
              <a:rPr sz="1300">
                <a:solidFill>
                  <a:srgbClr val="333333"/>
                </a:solidFill>
              </a:rPr>
              <a:t>• დეველოპერს შეუძლია ჩვეულებრივ გააგრძელოს მუშაობა React-ში, ყოველგვარი No-Code შეზღუდვების გარეშე.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Make.com: Interface &amp; Workflow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ავტომატიზაციის ვიზუალური პლატფორმა Make.com: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Make.com ძირითადი ელემენტები:</a:t>
            </a:r>
          </a:p>
          <a:p>
            <a:r>
              <a:rPr sz="1200">
                <a:solidFill>
                  <a:srgbClr val="333333"/>
                </a:solidFill>
              </a:rPr>
              <a:t>• Scenarios: სრული ავტომატიზაციის სქემები;</a:t>
            </a:r>
          </a:p>
          <a:p>
            <a:r>
              <a:rPr sz="1200">
                <a:solidFill>
                  <a:srgbClr val="333333"/>
                </a:solidFill>
              </a:rPr>
              <a:t>• Modules: აპლიკაციების ბლოკები (მაგ. Gmail, Google Sheets);</a:t>
            </a:r>
          </a:p>
          <a:p>
            <a:r>
              <a:rPr sz="1200">
                <a:solidFill>
                  <a:srgbClr val="333333"/>
                </a:solidFill>
              </a:rPr>
              <a:t>• Filters: პირობები მონაცემთა გასაფილტრად.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🚀 რატომ Make?</a:t>
            </a:r>
          </a:p>
          <a:p>
            <a:r>
              <a:rPr sz="1200">
                <a:solidFill>
                  <a:srgbClr val="333333"/>
                </a:solidFill>
              </a:rPr>
              <a:t>იგი არის ვიზუალური, მარტივი გამოსაყენებელი და უფასო ვერსიაში გაძლევთ 1000 ოპერაციას თვეში.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Make.com: Webhooks setup &amp; JSON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მონაცემთა მყისიერი მიღება საიტიდან (Webhook):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🌐 რა არის Webhook?</a:t>
            </a:r>
          </a:p>
          <a:p>
            <a:r>
              <a:rPr sz="1200">
                <a:solidFill>
                  <a:srgbClr val="333333"/>
                </a:solidFill>
              </a:rPr>
              <a:t>ეს არის URL მისამართი Make.com-ში, რომელიც ელოდება მონაცემების გამოგზავნას საიტიდან. ყოველი ფორმის შევსებისას Lovable აგზავნის მონაცემებს ამ მისამართზე.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⚙️ JSON Mapping:</a:t>
            </a:r>
          </a:p>
          <a:p>
            <a:r>
              <a:rPr sz="1200">
                <a:solidFill>
                  <a:srgbClr val="333333"/>
                </a:solidFill>
              </a:rPr>
              <a:t>Webhook-ის გააქტიურების შემდეგ გაუშვით ტესტური რეგისტრაცია საიტზე, რათა Make-მა ავტომატურად ამოიცნოს ცვლადები (Email, Name).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CRM Scenario: Appending Lead Row in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მონაცემთა ბაზიდან Leads-ის გადატანა Google Sheets CRM-ში: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E3A8A"/>
                </a:solidFill>
              </a:rPr>
              <a:t>Google Sheets მოდულის კონფიგურაცია:</a:t>
            </a:r>
          </a:p>
          <a:p>
            <a:r>
              <a:rPr sz="1300">
                <a:solidFill>
                  <a:srgbClr val="333333"/>
                </a:solidFill>
              </a:rPr>
              <a:t>• დააკავშირეთ თქვენი Google Drive ანგარიში Make-თან;</a:t>
            </a:r>
          </a:p>
          <a:p>
            <a:r>
              <a:rPr sz="1300">
                <a:solidFill>
                  <a:srgbClr val="333333"/>
                </a:solidFill>
              </a:rPr>
              <a:t>• აირჩიეთ ფაილი „Leads CRM“;</a:t>
            </a:r>
          </a:p>
          <a:p>
            <a:r>
              <a:rPr sz="1300">
                <a:solidFill>
                  <a:srgbClr val="333333"/>
                </a:solidFill>
              </a:rPr>
              <a:t>• სვეტებში (A, B, C) მიაბით Webhook-იდან მიღებული ცვლადები: A = Name, B = Email, C = Created_at.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CRM Scenario: Gmail SMTP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ავტომატური იმეილის გაგზავნა დარეგისტრირებულ მომხმარებელთან: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Gmail მოდულის პარამეტრები:</a:t>
            </a:r>
          </a:p>
          <a:p>
            <a:r>
              <a:rPr sz="1200">
                <a:solidFill>
                  <a:srgbClr val="333333"/>
                </a:solidFill>
              </a:rPr>
              <a:t>• To: Webhook-იდან მიღებული Email ცვლადი;</a:t>
            </a:r>
          </a:p>
          <a:p>
            <a:r>
              <a:rPr sz="1200">
                <a:solidFill>
                  <a:srgbClr val="333333"/>
                </a:solidFill>
              </a:rPr>
              <a:t>• Subject: „გმადლობთ რეგისტრაციისთვის [სტარტაპის სახელი]-ზე!“;</a:t>
            </a:r>
          </a:p>
          <a:p>
            <a:r>
              <a:rPr sz="1200">
                <a:solidFill>
                  <a:srgbClr val="333333"/>
                </a:solidFill>
              </a:rPr>
              <a:t>• Body: პერსონალიზებული ტექსტი, სადაც გამოიყენებთ Name ცვლადს.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905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3A8A"/>
                </a:solidFill>
              </a:rPr>
              <a:t>🔒 SMTP უსაფრთხოება:</a:t>
            </a:r>
          </a:p>
          <a:p>
            <a:r>
              <a:rPr sz="1200">
                <a:solidFill>
                  <a:srgbClr val="333333"/>
                </a:solidFill>
              </a:rPr>
              <a:t>Gmail-თან დასაკავშირებლად დაგჭირდებათ Google-ის უსაფრთხოების მენიუდან "App Password"-ის გენერირება.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Make.com: შეცდომების მართვა და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უზრუნველვყოთ ჩვენი ავტომატიზაციების სტაბილური მუშაობა შეცდომების შემთხვევაში?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⚠️ პოტენციური შეცდომები:</a:t>
            </a:r>
          </a:p>
          <a:p>
            <a:r>
              <a:rPr sz="1200">
                <a:solidFill>
                  <a:srgbClr val="333333"/>
                </a:solidFill>
              </a:rPr>
              <a:t>• მომხმარებელმა ფორმაში არ შეიყვანა სახელი (ცარიელი ველი);</a:t>
            </a:r>
          </a:p>
          <a:p>
            <a:r>
              <a:rPr sz="1200">
                <a:solidFill>
                  <a:srgbClr val="333333"/>
                </a:solidFill>
              </a:rPr>
              <a:t>• ელფოსტის ფორმატი არასწორია;</a:t>
            </a:r>
          </a:p>
          <a:p>
            <a:r>
              <a:rPr sz="1200">
                <a:solidFill>
                  <a:srgbClr val="333333"/>
                </a:solidFill>
              </a:rPr>
              <a:t>• სერვერი დროებით გაითიშა.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⚙️ გადაჭრის გზები:</a:t>
            </a:r>
          </a:p>
          <a:p>
            <a:r>
              <a:rPr sz="1200">
                <a:solidFill>
                  <a:srgbClr val="333333"/>
                </a:solidFill>
              </a:rPr>
              <a:t>• Validation Rules: საიტის ფორმაში ელფოსტის ველის სავალდებულოობა (Required field);</a:t>
            </a:r>
          </a:p>
          <a:p>
            <a:r>
              <a:rPr sz="1200">
                <a:solidFill>
                  <a:srgbClr val="333333"/>
                </a:solidFill>
              </a:rPr>
              <a:t>• Error Handling Modules: Make.com-ში შეცდომის მართვის ბლოკების (Ignore, Resume, Break) გამოყენება.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Demo Day Pitch: First 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პრეზენტაციის დასაწყისი — ჟიურის ყურადღების მიპყრობა: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0:00 - 1:00 (პრობლემა):</a:t>
            </a:r>
          </a:p>
          <a:p>
            <a:r>
              <a:rPr sz="1200">
                <a:solidFill>
                  <a:srgbClr val="333333"/>
                </a:solidFill>
              </a:rPr>
              <a:t>დაიწყეთ რეალური ისტორიით ან შოკისმომგვრელი სტატისტიკით. აჩვენეთ, რომ პრობლემა მტკივნეულია და ბაზარი დიდია.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1:00 - 2:00 (გადაწყვეტა/MVP):</a:t>
            </a:r>
          </a:p>
          <a:p>
            <a:r>
              <a:rPr sz="1200">
                <a:solidFill>
                  <a:srgbClr val="333333"/>
                </a:solidFill>
              </a:rPr>
              <a:t>აჩვენეთ მუშა საიტი. არ აჩვენოთ სქრინშოთები - აჩვენეთ რეალური Lovable URL და მომხმარებლის რეგისტრაციის პროცესი.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Demo Day Pitch: Last 3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პრეზენტაციის დასასრული — ბიზნეს მოდელი და Ask: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2:00 - 3:00 (ბიზნეს მოდელი):</a:t>
            </a:r>
          </a:p>
          <a:p>
            <a:r>
              <a:rPr sz="1200">
                <a:solidFill>
                  <a:srgbClr val="333333"/>
                </a:solidFill>
              </a:rPr>
              <a:t>როგორ გამოიმუშავებთ ფულს? აჩვენეთ 3-საფეხურიანი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1538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3:00 - 4:00 (კონკურენცია &amp; Traction):</a:t>
            </a:r>
          </a:p>
          <a:p>
            <a:r>
              <a:rPr sz="1200">
                <a:solidFill>
                  <a:srgbClr val="333333"/>
                </a:solidFill>
              </a:rPr>
              <a:t>აჩვენეთ, რით ხართ უკეთესი Perplexity Matrix-ის მიხედვით. აჩვენეთ პირველი ლიდები Google Sheets-დან.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4:00 - 5:00 (გუნდი &amp; Ask):</a:t>
            </a:r>
          </a:p>
          <a:p>
            <a:r>
              <a:rPr sz="1200">
                <a:solidFill>
                  <a:srgbClr val="333333"/>
                </a:solidFill>
              </a:rPr>
              <a:t>რატომ ხართ თქვენ საუკეთესო გუნდი და რისთვის გჭირდებათ 25,000-ლარიანი გრანტი.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VC Mock Grill: Financial Q&amp;A (CAC:LTV)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ჟიურის ფინანსური კითხვები და სწორი პასუხები: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❓ კითხვა: „როგორ აპირებთ მომხმარებლის მოზიდვას და რა იქნება თქვენი CAC?“</a:t>
            </a:r>
          </a:p>
          <a:p>
            <a:r>
              <a:rPr sz="1200">
                <a:solidFill>
                  <a:srgbClr val="333333"/>
                </a:solidFill>
              </a:rPr>
              <a:t>არასწორი პასუხი: „ჩვენ მარკეტინგზე ფულს არ დავხარჯავთ, მომხმარებლები თავად მოვლენ.“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064E3B"/>
                </a:solidFill>
              </a:rPr>
              <a:t>🟢 სწორი პასუხი (CAC:LTV):</a:t>
            </a:r>
          </a:p>
          <a:p>
            <a:r>
              <a:rPr sz="1200">
                <a:solidFill>
                  <a:srgbClr val="333333"/>
                </a:solidFill>
              </a:rPr>
              <a:t>„ჩვენი საწყისი CAC იქნება $5 Facebook Ads-ით, მომხმარებლის LTV კი - $30 (საშუალოდ 6 თვიანი ხელმოწერა $5-ად). ჩვენი LTV:CAC პროპორცია იქნება 6:1, რაც ბიზნესს მომგებიანს ხდის.“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No-Code ლიმიტები და დეველოპერის აყვანის დრო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როგორია No-Code პლატფორმების შეზღუდვები და როდის უნდა გადავიდეთ ტრადიციულ დეველოპმენტზე?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⚠️ No-Code პლატფორმების ლიმიტები:</a:t>
            </a:r>
          </a:p>
          <a:p>
            <a:r>
              <a:rPr sz="1200">
                <a:solidFill>
                  <a:srgbClr val="333333"/>
                </a:solidFill>
              </a:rPr>
              <a:t>• რთული ლოგიკა: მრავალდონიანი ფინანსური ტრანზაქციები ან მორგებული დაშიფვრა;</a:t>
            </a:r>
          </a:p>
          <a:p>
            <a:r>
              <a:rPr sz="1200">
                <a:solidFill>
                  <a:srgbClr val="333333"/>
                </a:solidFill>
              </a:rPr>
              <a:t>• მძიმე AI/ML მოდელები: ვიდეო/აუდიო დამუშავება რეალურ დროში;</a:t>
            </a:r>
          </a:p>
          <a:p>
            <a:r>
              <a:rPr sz="1200">
                <a:solidFill>
                  <a:srgbClr val="333333"/>
                </a:solidFill>
              </a:rPr>
              <a:t>• საკუთარი მობილური აპლიკაციები: App Store / Google Play-ზე მორგებული Native ფუნქციები (Bluetooth, NFC).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🚀 როდის ავიყვანოთ დეველოპერი?</a:t>
            </a:r>
          </a:p>
          <a:p>
            <a:r>
              <a:rPr sz="1200">
                <a:solidFill>
                  <a:srgbClr val="333333"/>
                </a:solidFill>
              </a:rPr>
              <a:t>• როდესაც MVP-მ მიაღწია Product-Market Fit-ს და გყავთ პირველი ასობით აქტიური მომხმარებელი;</a:t>
            </a:r>
          </a:p>
          <a:p>
            <a:r>
              <a:rPr sz="1200">
                <a:solidFill>
                  <a:srgbClr val="333333"/>
                </a:solidFill>
              </a:rPr>
              <a:t>• როდესაც გჭირდებათ უნიკალური უსაფრთხოების/ლოკალიზაციის პარამეტრები;</a:t>
            </a:r>
          </a:p>
          <a:p>
            <a:r>
              <a:rPr sz="1200">
                <a:solidFill>
                  <a:srgbClr val="333333"/>
                </a:solidFill>
              </a:rPr>
              <a:t>• როდესაც მიიღეთ GITA გრანტი და გაქვთ ბიუჯეტი პროფესიონალური გუნდის დასაქირავებლად (Handover to React Devs GitHub-ით).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VC Mock Grill: Competitors Q&amp;A (Unfair Advantage)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კონკურენციის საკითხები და გრანტის მიზნობრიობა: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❓ კითხვა: „რა არის თქვენი კონკურენტული უპირატესობა და რაში დახარჯავთ გრანტს?“</a:t>
            </a:r>
          </a:p>
          <a:p>
            <a:r>
              <a:rPr sz="1200">
                <a:solidFill>
                  <a:srgbClr val="333333"/>
                </a:solidFill>
              </a:rPr>
              <a:t>არასწორი პასუხი: „გრანტით გადავუხდით ხელფასს დეველოპერებს, რომ საიტი დაგვიწერონ.“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064E3B"/>
                </a:solidFill>
              </a:rPr>
              <a:t>🟢 სწორი პასუხი:</a:t>
            </a:r>
          </a:p>
          <a:p>
            <a:r>
              <a:rPr sz="1200">
                <a:solidFill>
                  <a:srgbClr val="333333"/>
                </a:solidFill>
              </a:rPr>
              <a:t>„ჩვენ უკვე გვაქვს მუშა MVP და პირველი 20 დარეგისტრირებული მომხმარებელი. გრანტის 80%-ს დავხარჯავთ მარკეტინგსა და მომხმარებლის მოზიდვაზე, ხოლო 20%-ს - API სერვერების ლიცენზიებზე.“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ფინანსური მოდელირება: P&amp;L და CAC:LTV მატრიცა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დავასაბუთოთ Pitch Deck-ის ფინანსური სლაიდი (Slide 8) ციფრებით?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📈 P&amp;L (მოგება-ზარალი)</a:t>
            </a:r>
          </a:p>
          <a:p>
            <a:r>
              <a:rPr sz="1200">
                <a:solidFill>
                  <a:srgbClr val="333333"/>
                </a:solidFill>
              </a:rPr>
              <a:t>პროგნოზი 3 წელზე: შემოსავლები, საოპერაციო ხარჯები (OPEX), სერვერები, მარკეტინგი და წმინდა მოგება.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1538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💰 CAC (მოზიდვის ხარჯი)</a:t>
            </a:r>
          </a:p>
          <a:p>
            <a:r>
              <a:rPr sz="1200">
                <a:solidFill>
                  <a:srgbClr val="333333"/>
                </a:solidFill>
              </a:rPr>
              <a:t>რამდენი ლარი იხარჯება 1 ახალი კლიენტის მოსაზიდად (მაგ. რეკლამა, გაყიდვები).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7316" y="1463040"/>
            <a:ext cx="372861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E293B"/>
                </a:solidFill>
              </a:rPr>
              <a:t>💎 LTV (მომხმარებლის ღირებულება)</a:t>
            </a:r>
          </a:p>
          <a:p>
            <a:r>
              <a:rPr sz="1200">
                <a:solidFill>
                  <a:srgbClr val="333333"/>
                </a:solidFill>
              </a:rPr>
              <a:t>რა ჯამურ შემოსავალს მოიტანს მომხმარებელი ბრენდთან ურთიერთობისას (ხელმოწერის საშუალო დრო × თვიური საფასური).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67328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ჯანსაღი სტარტაპის ოქროს წესი: LTV : CAC ≥ 3:1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GITA ჟიურისთან Q&amp;A სესიის ტაქტიკა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როგორ ვუპასუხოთ ჟიურის რთულ კითხვებს 5-წუთიანი პრეზენტაციის შემდეგ?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7C2D12"/>
                </a:solidFill>
              </a:rPr>
              <a:t>⚠️ 3 ძირითადი წესი:</a:t>
            </a:r>
          </a:p>
          <a:p>
            <a:r>
              <a:rPr sz="1200">
                <a:solidFill>
                  <a:srgbClr val="333333"/>
                </a:solidFill>
              </a:rPr>
              <a:t>• იყავით კონკრეტული: უპასუხეთ პირდაპირ ციფრებით, მოერიდეთ ზოგად ფილოსოფიას;</a:t>
            </a:r>
          </a:p>
          <a:p>
            <a:r>
              <a:rPr sz="1200">
                <a:solidFill>
                  <a:srgbClr val="333333"/>
                </a:solidFill>
              </a:rPr>
              <a:t>• არ იკამათოთ: მიიღეთ ჟიურის შენიშვნა, როგორც კონსტრუქციული რჩევა;</a:t>
            </a:r>
          </a:p>
          <a:p>
            <a:r>
              <a:rPr sz="1200">
                <a:solidFill>
                  <a:srgbClr val="333333"/>
                </a:solidFill>
              </a:rPr>
              <a:t>• აღიარეთ თუ არ იცით: „ამ ეტაპზე ზუსტი პასუხი არ გვაქვს, მაგრამ შევამოწმებთ ექსპერიმენტით.“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5638647" cy="23774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400">
                <a:solidFill>
                  <a:srgbClr val="14532D"/>
                </a:solidFill>
              </a:rPr>
              <a:t>კითხვების ტიპები:</a:t>
            </a:r>
          </a:p>
          <a:p>
            <a:r>
              <a:rPr sz="1200">
                <a:solidFill>
                  <a:srgbClr val="333333"/>
                </a:solidFill>
              </a:rPr>
              <a:t>• „რით განსხვავდებით კონკურენტებისგან?“ (აჩვენეთ Feature Matrix);</a:t>
            </a:r>
          </a:p>
          <a:p>
            <a:r>
              <a:rPr sz="1200">
                <a:solidFill>
                  <a:srgbClr val="333333"/>
                </a:solidFill>
              </a:rPr>
              <a:t>• „რაში დახარჯავთ 25,000 ლარს?“ (აჩვენეთ გაწერილი ხარჯები);</a:t>
            </a:r>
          </a:p>
          <a:p>
            <a:r>
              <a:rPr sz="1200">
                <a:solidFill>
                  <a:srgbClr val="333333"/>
                </a:solidFill>
              </a:rPr>
              <a:t>• „როგორ მოიზიდავთ მომხმარებლებს?“ (აჩვენეთ Channels &amp; CAC).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Homework Part B &amp; Launch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დავალება Demo Day-სთვის (1 კვირიანი Sprint):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4532D"/>
                </a:solidFill>
              </a:rPr>
              <a:t>📋 Launch Checklist:</a:t>
            </a:r>
          </a:p>
          <a:p>
            <a:r>
              <a:rPr sz="1300">
                <a:solidFill>
                  <a:srgbClr val="333333"/>
                </a:solidFill>
              </a:rPr>
              <a:t>• [ ] Lovable საიტი გაშვებულია საკუთარ დომენზე;</a:t>
            </a:r>
          </a:p>
          <a:p>
            <a:r>
              <a:rPr sz="1300">
                <a:solidFill>
                  <a:srgbClr val="333333"/>
                </a:solidFill>
              </a:rPr>
              <a:t>• [ ] Make.com სცენარი აქტიურია;</a:t>
            </a:r>
          </a:p>
          <a:p>
            <a:r>
              <a:rPr sz="1300">
                <a:solidFill>
                  <a:srgbClr val="333333"/>
                </a:solidFill>
              </a:rPr>
              <a:t>• [ ] მოზიდულია მინიმუმ 15 რეალური Leads/Email Google Sheets-ში;</a:t>
            </a:r>
          </a:p>
          <a:p>
            <a:r>
              <a:rPr sz="1300">
                <a:solidFill>
                  <a:srgbClr val="333333"/>
                </a:solidFill>
              </a:rPr>
              <a:t>• [ ] პრეზენტაცია (Gamma Pitch Deck) დასრულებულია.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97706"/>
                </a:solidFill>
              </a:rPr>
              <a:t>Course Wrap-up &amp;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🎉 გილოცავთ!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75569"/>
                </a:solidFill>
              </a:rPr>
              <a:t>თქვენ წარმატებით დაასრულეთ 10-საათიანი პრაქტიკული კურსი „AI ინსტრუმენტები სტარტაპერებისთვის“!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1460175" cy="146304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b="1" sz="1500">
                <a:solidFill>
                  <a:srgbClr val="14532D"/>
                </a:solidFill>
              </a:rPr>
              <a:t>🚀 რა არის შემდეგი ნაბიჯი?</a:t>
            </a:r>
          </a:p>
          <a:p>
            <a:r>
              <a:rPr sz="1300">
                <a:solidFill>
                  <a:srgbClr val="333333"/>
                </a:solidFill>
              </a:rPr>
              <a:t>გამოიყენეთ მიღებული ცოდნა, აწყობილი MVP და ავტომატიზაციები GITA-ს 25,000 ლარიანი გრანტის მოსაპოვებლად. წარმატებები Demo Day-ზე!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