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D97706"/>
        </a:solidFill>
        <a:effectLst/>
      </p:bgPr>
    </p:bg>
    <p:spTree>
      <p:nvGrpSpPr>
        <p:cNvPr id="1" name=""/>
        <p:cNvGrpSpPr/>
        <p:nvPr/>
      </p:nvGrpSpPr>
      <p:grpSpPr/>
      <p:sp>
        <p:nvSpPr>
          <p:cNvPr id="2" name="TextBox 1"/>
          <p:cNvSpPr txBox="1"/>
          <p:nvPr/>
        </p:nvSpPr>
        <p:spPr>
          <a:xfrm>
            <a:off x="731520" y="2011680"/>
            <a:ext cx="10728655" cy="1371600"/>
          </a:xfrm>
          <a:prstGeom prst="rect">
            <a:avLst/>
          </a:prstGeom>
          <a:noFill/>
        </p:spPr>
        <p:txBody>
          <a:bodyPr wrap="square">
            <a:spAutoFit/>
          </a:bodyPr>
          <a:lstStyle/>
          <a:p>
            <a:pPr algn="ctr"/>
            <a:r>
              <a:rPr sz="3600" b="1">
                <a:solidFill>
                  <a:srgbClr val="FFFFFF"/>
                </a:solidFill>
              </a:rPr>
              <a:t>AI ინსტრუმენტები სტარტაპერებისთვის: იდეიდან პროტოტიპამდე</a:t>
            </a:r>
          </a:p>
        </p:txBody>
      </p:sp>
      <p:sp>
        <p:nvSpPr>
          <p:cNvPr id="3" name="TextBox 2"/>
          <p:cNvSpPr txBox="1"/>
          <p:nvPr/>
        </p:nvSpPr>
        <p:spPr>
          <a:xfrm>
            <a:off x="731520" y="3474720"/>
            <a:ext cx="10728655" cy="548640"/>
          </a:xfrm>
          <a:prstGeom prst="rect">
            <a:avLst/>
          </a:prstGeom>
          <a:noFill/>
        </p:spPr>
        <p:txBody>
          <a:bodyPr wrap="square">
            <a:spAutoFit/>
          </a:bodyPr>
          <a:lstStyle/>
          <a:p>
            <a:pPr algn="ctr"/>
            <a:r>
              <a:rPr sz="2000">
                <a:solidFill>
                  <a:srgbClr val="FFFFFF"/>
                </a:solidFill>
              </a:rPr>
              <a:t>2-დღიანი პრაქტიკული კურსი · 10 საათი · 20+ AI ხელსაწყო</a:t>
            </a:r>
          </a:p>
        </p:txBody>
      </p:sp>
      <p:sp>
        <p:nvSpPr>
          <p:cNvPr id="4" name="Rounded Rectangle 3"/>
          <p:cNvSpPr/>
          <p:nvPr/>
        </p:nvSpPr>
        <p:spPr>
          <a:xfrm>
            <a:off x="1371600" y="4114800"/>
            <a:ext cx="9448495" cy="1280160"/>
          </a:xfrm>
          <a:prstGeom prst="roundRect">
            <a:avLst>
              <a:gd name="adj" fmla="val 4000"/>
            </a:avLst>
          </a:prstGeom>
          <a:solidFill>
            <a:srgbClr val="F1F8E9"/>
          </a:solidFill>
          <a:ln w="190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600">
                <a:solidFill>
                  <a:srgbClr val="14532D"/>
                </a:solidFill>
              </a:rPr>
              <a:t>📅 Day 1: AI Foundation &amp; Validation (5 საათი / 300 წუთი)</a:t>
            </a:r>
          </a:p>
          <a:p>
            <a:r>
              <a:rPr sz="1400">
                <a:solidFill>
                  <a:srgbClr val="333333"/>
                </a:solidFill>
              </a:rPr>
              <a:t>ფოკუსი: იდეების გენერირება, ფილტრაცია, ვალიდაცია, Lean Canvas და მომხმარებლის ინტერვიუს დიზაინი.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Welcome &amp; Agenda</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დღის განრიგი და მუშაობის ფორმატი:</a:t>
            </a:r>
          </a:p>
        </p:txBody>
      </p:sp>
      <p:sp>
        <p:nvSpPr>
          <p:cNvPr id="4" name="Rounded Rectangle 3"/>
          <p:cNvSpPr/>
          <p:nvPr/>
        </p:nvSpPr>
        <p:spPr>
          <a:xfrm>
            <a:off x="365760" y="1463040"/>
            <a:ext cx="5638647" cy="2377440"/>
          </a:xfrm>
          <a:prstGeom prst="roundRect">
            <a:avLst>
              <a:gd name="adj" fmla="val 4000"/>
            </a:avLst>
          </a:prstGeom>
          <a:solidFill>
            <a:srgbClr val="F1F8E9"/>
          </a:solidFill>
          <a:ln w="190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4532D"/>
                </a:solidFill>
              </a:rPr>
              <a:t>📅 Day 1 განრიგი:</a:t>
            </a:r>
          </a:p>
          <a:p>
            <a:r>
              <a:rPr sz="1200">
                <a:solidFill>
                  <a:srgbClr val="333333"/>
                </a:solidFill>
              </a:rPr>
              <a:t>• 0:00 - 0:20: Welcome + Projects Showcase</a:t>
            </a:r>
          </a:p>
          <a:p>
            <a:r>
              <a:rPr sz="1200">
                <a:solidFill>
                  <a:srgbClr val="333333"/>
                </a:solidFill>
              </a:rPr>
              <a:t>• 0:20 - 1:00: AI Strategy &amp; Safety Matrix</a:t>
            </a:r>
          </a:p>
          <a:p>
            <a:r>
              <a:rPr sz="1200">
                <a:solidFill>
                  <a:srgbClr val="333333"/>
                </a:solidFill>
              </a:rPr>
              <a:t>• 1:00 - 1:30: AI Tools Overview</a:t>
            </a:r>
          </a:p>
          <a:p>
            <a:r>
              <a:rPr sz="1200">
                <a:solidFill>
                  <a:srgbClr val="333333"/>
                </a:solidFill>
              </a:rPr>
              <a:t>• 1:30 - 2:00: შესვენება (☕ 30 წთ)</a:t>
            </a:r>
          </a:p>
          <a:p>
            <a:r>
              <a:rPr sz="1200">
                <a:solidFill>
                  <a:srgbClr val="333333"/>
                </a:solidFill>
              </a:rPr>
              <a:t>• 2:00 - 3:05: Brainstorming &amp; SCAMPER</a:t>
            </a:r>
          </a:p>
          <a:p>
            <a:r>
              <a:rPr sz="1200">
                <a:solidFill>
                  <a:srgbClr val="333333"/>
                </a:solidFill>
              </a:rPr>
              <a:t>• 3:05 - 4:00: Lean Canvas &amp; VPC Validation</a:t>
            </a:r>
          </a:p>
          <a:p>
            <a:r>
              <a:rPr sz="1200">
                <a:solidFill>
                  <a:srgbClr val="333333"/>
                </a:solidFill>
              </a:rPr>
              <a:t>• 4:00 - 5:00: Wrap-up + Homework Setup</a:t>
            </a:r>
          </a:p>
        </p:txBody>
      </p:sp>
      <p:sp>
        <p:nvSpPr>
          <p:cNvPr id="5" name="Rounded Rectangle 4"/>
          <p:cNvSpPr/>
          <p:nvPr/>
        </p:nvSpPr>
        <p:spPr>
          <a:xfrm>
            <a:off x="6187287" y="1463040"/>
            <a:ext cx="5638647" cy="23774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3A8A"/>
                </a:solidFill>
              </a:rPr>
              <a:t>💡 მუშაობის წესი:</a:t>
            </a:r>
          </a:p>
          <a:p>
            <a:r>
              <a:rPr sz="1200">
                <a:solidFill>
                  <a:srgbClr val="333333"/>
                </a:solidFill>
              </a:rPr>
              <a:t>ეს არის 100% პრაქტიკული ვორქშოფი. არანაირი პასიური მოსმენა - ყოველი თეორიის შემდეგ AI-სთან ერთად ვაკეთებთ რეალურ დავალებას.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
            </a:r>
          </a:p>
        </p:txBody>
      </p:sp>
      <p:sp>
        <p:nvSpPr>
          <p:cNvPr id="3" name="TextBox 2"/>
          <p:cNvSpPr txBox="1"/>
          <p:nvPr/>
        </p:nvSpPr>
        <p:spPr>
          <a:xfrm>
            <a:off x="365760" y="1051560"/>
            <a:ext cx="11460175" cy="365760"/>
          </a:xfrm>
          <a:prstGeom prst="rect">
            <a:avLst/>
          </a:prstGeom>
          <a:noFill/>
        </p:spPr>
        <p:txBody>
          <a:bodyPr wrap="square">
            <a:spAutoFit/>
          </a:bodyPr>
          <a:lstStyle/>
          <a:p>
            <a:r>
              <a:rPr sz="1300"/>
              <a:t>3/47</a:t>
            </a:r>
          </a:p>
        </p:txBody>
      </p:sp>
      <p:sp>
        <p:nvSpPr>
          <p:cNvPr id="4" name="TextBox 3"/>
          <p:cNvSpPr txBox="1"/>
          <p:nvPr/>
        </p:nvSpPr>
        <p:spPr>
          <a:xfrm>
            <a:off x="365760" y="1417320"/>
            <a:ext cx="11460175" cy="365760"/>
          </a:xfrm>
          <a:prstGeom prst="rect">
            <a:avLst/>
          </a:prstGeom>
          <a:noFill/>
        </p:spPr>
        <p:txBody>
          <a:bodyPr wrap="square">
            <a:spAutoFit/>
          </a:bodyPr>
          <a:lstStyle/>
          <a:p>
            <a:r>
              <a:rPr sz="1300"/>
              <a:t>0:00 - 0:20: Welcome + Projects Showcase</a:t>
            </a:r>
          </a:p>
        </p:txBody>
      </p:sp>
      <p:sp>
        <p:nvSpPr>
          <p:cNvPr id="5" name="TextBox 4"/>
          <p:cNvSpPr txBox="1"/>
          <p:nvPr/>
        </p:nvSpPr>
        <p:spPr>
          <a:xfrm>
            <a:off x="365760" y="1783080"/>
            <a:ext cx="11460175" cy="365760"/>
          </a:xfrm>
          <a:prstGeom prst="rect">
            <a:avLst/>
          </a:prstGeom>
          <a:noFill/>
        </p:spPr>
        <p:txBody>
          <a:bodyPr wrap="square">
            <a:spAutoFit/>
          </a:bodyPr>
          <a:lstStyle/>
          <a:p>
            <a:r>
              <a:rPr sz="1300"/>
              <a:t>0:20 - 1:00: AI Strategy &amp; Safety Matrix</a:t>
            </a:r>
          </a:p>
        </p:txBody>
      </p:sp>
      <p:sp>
        <p:nvSpPr>
          <p:cNvPr id="6" name="TextBox 5"/>
          <p:cNvSpPr txBox="1"/>
          <p:nvPr/>
        </p:nvSpPr>
        <p:spPr>
          <a:xfrm>
            <a:off x="365760" y="2148840"/>
            <a:ext cx="11460175" cy="365760"/>
          </a:xfrm>
          <a:prstGeom prst="rect">
            <a:avLst/>
          </a:prstGeom>
          <a:noFill/>
        </p:spPr>
        <p:txBody>
          <a:bodyPr wrap="square">
            <a:spAutoFit/>
          </a:bodyPr>
          <a:lstStyle/>
          <a:p>
            <a:r>
              <a:rPr sz="1300"/>
              <a:t>1:00 - 1:30: AI Tools Overview</a:t>
            </a:r>
          </a:p>
        </p:txBody>
      </p:sp>
      <p:sp>
        <p:nvSpPr>
          <p:cNvPr id="7" name="TextBox 6"/>
          <p:cNvSpPr txBox="1"/>
          <p:nvPr/>
        </p:nvSpPr>
        <p:spPr>
          <a:xfrm>
            <a:off x="365760" y="2514600"/>
            <a:ext cx="11460175" cy="365760"/>
          </a:xfrm>
          <a:prstGeom prst="rect">
            <a:avLst/>
          </a:prstGeom>
          <a:noFill/>
        </p:spPr>
        <p:txBody>
          <a:bodyPr wrap="square">
            <a:spAutoFit/>
          </a:bodyPr>
          <a:lstStyle/>
          <a:p>
            <a:r>
              <a:rPr sz="1300"/>
              <a:t>1:30 - 2:00: შესვენება (☕ 30 წთ)</a:t>
            </a:r>
          </a:p>
        </p:txBody>
      </p:sp>
      <p:sp>
        <p:nvSpPr>
          <p:cNvPr id="8" name="TextBox 7"/>
          <p:cNvSpPr txBox="1"/>
          <p:nvPr/>
        </p:nvSpPr>
        <p:spPr>
          <a:xfrm>
            <a:off x="365760" y="2880360"/>
            <a:ext cx="11460175" cy="365760"/>
          </a:xfrm>
          <a:prstGeom prst="rect">
            <a:avLst/>
          </a:prstGeom>
          <a:noFill/>
        </p:spPr>
        <p:txBody>
          <a:bodyPr wrap="square">
            <a:spAutoFit/>
          </a:bodyPr>
          <a:lstStyle/>
          <a:p>
            <a:r>
              <a:rPr sz="1300"/>
              <a:t>2:00 - 3:05: Brainstorming &amp; SCAMPER</a:t>
            </a:r>
          </a:p>
        </p:txBody>
      </p:sp>
      <p:sp>
        <p:nvSpPr>
          <p:cNvPr id="9" name="TextBox 8"/>
          <p:cNvSpPr txBox="1"/>
          <p:nvPr/>
        </p:nvSpPr>
        <p:spPr>
          <a:xfrm>
            <a:off x="365760" y="3246120"/>
            <a:ext cx="11460175" cy="365760"/>
          </a:xfrm>
          <a:prstGeom prst="rect">
            <a:avLst/>
          </a:prstGeom>
          <a:noFill/>
        </p:spPr>
        <p:txBody>
          <a:bodyPr wrap="square">
            <a:spAutoFit/>
          </a:bodyPr>
          <a:lstStyle/>
          <a:p>
            <a:r>
              <a:rPr sz="1300"/>
              <a:t>3:05 - 4:00: Lean Canvas &amp; VPC Validation</a:t>
            </a:r>
          </a:p>
        </p:txBody>
      </p:sp>
      <p:sp>
        <p:nvSpPr>
          <p:cNvPr id="10" name="TextBox 9"/>
          <p:cNvSpPr txBox="1"/>
          <p:nvPr/>
        </p:nvSpPr>
        <p:spPr>
          <a:xfrm>
            <a:off x="365760" y="3611880"/>
            <a:ext cx="11460175" cy="365760"/>
          </a:xfrm>
          <a:prstGeom prst="rect">
            <a:avLst/>
          </a:prstGeom>
          <a:noFill/>
        </p:spPr>
        <p:txBody>
          <a:bodyPr wrap="square">
            <a:spAutoFit/>
          </a:bodyPr>
          <a:lstStyle/>
          <a:p>
            <a:r>
              <a:rPr sz="1300"/>
              <a:t>4:00 - 5:00: Wrap-up + Homework Setup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Welcome Showcase - AgriTech Focus</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როგორ წარვადგინოთ აგროტექნოლოგიური სტარტაპ იდეა 30 წამში:</a:t>
            </a:r>
          </a:p>
        </p:txBody>
      </p:sp>
      <p:sp>
        <p:nvSpPr>
          <p:cNvPr id="4" name="Rounded Rectangle 3"/>
          <p:cNvSpPr/>
          <p:nvPr/>
        </p:nvSpPr>
        <p:spPr>
          <a:xfrm>
            <a:off x="365760" y="1463040"/>
            <a:ext cx="11460175" cy="14630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500">
                <a:solidFill>
                  <a:srgbClr val="1E3A8A"/>
                </a:solidFill>
              </a:rPr>
              <a:t>🌾 სადემონსტრაციო ქეისი: ჭკვიანი ირიგაციის სისტემა</a:t>
            </a:r>
          </a:p>
          <a:p>
            <a:r>
              <a:rPr sz="1300">
                <a:solidFill>
                  <a:srgbClr val="333333"/>
                </a:solidFill>
              </a:rPr>
              <a:t>პრობლემა: კლიმატის ცვლილების გამო ფერმერები კარგავენ მოსავალს და ხარჯავენ ზედმეტ წყალს.</a:t>
            </a:r>
          </a:p>
          <a:p>
            <a:r>
              <a:rPr sz="1300">
                <a:solidFill>
                  <a:srgbClr val="333333"/>
                </a:solidFill>
              </a:rPr>
              <a:t>გადაწყვეტა: ნიადაგის ტენიანობის AI სენსორები, რომლებიც ავტომატურად არეგულირებენ მორწყვას.</a:t>
            </a:r>
          </a:p>
        </p:txBody>
      </p:sp>
      <p:sp>
        <p:nvSpPr>
          <p:cNvPr id="5" name="Rounded Rectangle 4"/>
          <p:cNvSpPr/>
          <p:nvPr/>
        </p:nvSpPr>
        <p:spPr>
          <a:xfrm>
            <a:off x="365760" y="3035808"/>
            <a:ext cx="11460175" cy="1188720"/>
          </a:xfrm>
          <a:prstGeom prst="roundRect">
            <a:avLst>
              <a:gd name="adj" fmla="val 3000"/>
            </a:avLst>
          </a:prstGeom>
          <a:solidFill>
            <a:srgbClr val="1E293B"/>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b="1" sz="1200">
                <a:solidFill>
                  <a:srgbClr val="F59E0B"/>
                </a:solidFill>
              </a:rPr>
              <a:t>AgriTech Welcome Pitch Prompt:</a:t>
            </a:r>
          </a:p>
          <a:p>
            <a:r>
              <a:rPr sz="1200">
                <a:solidFill>
                  <a:srgbClr val="E2E8F0"/>
                </a:solidFill>
                <a:latin typeface="Consolas"/>
              </a:rPr>
              <a:t>მე ვარ ფერმერი/აგრონომი. ჩემი იდეაა ჭკვიანი სარწყავი სისტემა. დამიწერე 30-წამიანი პრეზენტაციის ტექსტი ქართულად, რომელიც ნათლად გამოკვეთს პრობლემას და წყლის დაზოგვის ეკონომიკურ სარგებელს.</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Welcome Showcase - FinTech Focus</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როგორ წარვადგინოთ ფინტექ სტარტაპ იდეა 30 წამში:</a:t>
            </a:r>
          </a:p>
        </p:txBody>
      </p:sp>
      <p:sp>
        <p:nvSpPr>
          <p:cNvPr id="4" name="Rounded Rectangle 3"/>
          <p:cNvSpPr/>
          <p:nvPr/>
        </p:nvSpPr>
        <p:spPr>
          <a:xfrm>
            <a:off x="365760" y="1463040"/>
            <a:ext cx="11460175" cy="14630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500">
                <a:solidFill>
                  <a:srgbClr val="1E3A8A"/>
                </a:solidFill>
              </a:rPr>
              <a:t>💳 სადემონსტრაციო ქეისი: AI ბუღალტერია მცირე ბიზნესისთვის</a:t>
            </a:r>
          </a:p>
          <a:p>
            <a:r>
              <a:rPr sz="1300">
                <a:solidFill>
                  <a:srgbClr val="333333"/>
                </a:solidFill>
              </a:rPr>
              <a:t>პრობლემა: ინდ. მეწარმეები ხარჯავენ საათებს საგადასახადო დეკლარაციების შევსებაზე.</a:t>
            </a:r>
          </a:p>
          <a:p>
            <a:r>
              <a:rPr sz="1300">
                <a:solidFill>
                  <a:srgbClr val="333333"/>
                </a:solidFill>
              </a:rPr>
              <a:t>გადაწყვეტა: AI აპლიკაცია, რომელიც ბანკის ამონაწერებიდან ავტომატურად აგენერირებს დეკლარაციებს.</a:t>
            </a:r>
          </a:p>
        </p:txBody>
      </p:sp>
      <p:sp>
        <p:nvSpPr>
          <p:cNvPr id="5" name="Rounded Rectangle 4"/>
          <p:cNvSpPr/>
          <p:nvPr/>
        </p:nvSpPr>
        <p:spPr>
          <a:xfrm>
            <a:off x="365760" y="3035808"/>
            <a:ext cx="11460175" cy="1188720"/>
          </a:xfrm>
          <a:prstGeom prst="roundRect">
            <a:avLst>
              <a:gd name="adj" fmla="val 3000"/>
            </a:avLst>
          </a:prstGeom>
          <a:solidFill>
            <a:srgbClr val="1E293B"/>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b="1" sz="1200">
                <a:solidFill>
                  <a:srgbClr val="F59E0B"/>
                </a:solidFill>
              </a:rPr>
              <a:t>FinTech Welcome Pitch Prompt:</a:t>
            </a:r>
          </a:p>
          <a:p>
            <a:r>
              <a:rPr sz="1200">
                <a:solidFill>
                  <a:srgbClr val="E2E8F0"/>
                </a:solidFill>
                <a:latin typeface="Consolas"/>
              </a:rPr>
              <a:t>მე ვარ ფინანსისტი. ჩემი იდეაა AI ბუღალტერია მცირე ბიზნესისთვის. დამიწერე 30-წამიანი პრეზენტაციის ტექსტი ქართულად, რომელიც აჩვენებს თუ როგორ ზოგავს მომხმარებელი დროსა და ჯარიმების რისკს.</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Welcome Showcase - HealthTech Focus</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როგორ წარვადგინოთ ჯანდაცვის სტარტაპ იდეა 30 წამში:</a:t>
            </a:r>
          </a:p>
        </p:txBody>
      </p:sp>
      <p:sp>
        <p:nvSpPr>
          <p:cNvPr id="4" name="Rounded Rectangle 3"/>
          <p:cNvSpPr/>
          <p:nvPr/>
        </p:nvSpPr>
        <p:spPr>
          <a:xfrm>
            <a:off x="365760" y="1463040"/>
            <a:ext cx="11460175" cy="14630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500">
                <a:solidFill>
                  <a:srgbClr val="1E3A8A"/>
                </a:solidFill>
              </a:rPr>
              <a:t>🏥 სადემონსტრაციო ქეისი: აფთიაქი-დელივერი ხანდაზმულებისთვის</a:t>
            </a:r>
          </a:p>
          <a:p>
            <a:r>
              <a:rPr sz="1300">
                <a:solidFill>
                  <a:srgbClr val="333333"/>
                </a:solidFill>
              </a:rPr>
              <a:t>პრობლემა: ქრონიკული დაავადებების მქონე ხანდაზმულებს უჭირთ წამლების რიგებში დგომა.</a:t>
            </a:r>
          </a:p>
          <a:p>
            <a:r>
              <a:rPr sz="1300">
                <a:solidFill>
                  <a:srgbClr val="333333"/>
                </a:solidFill>
              </a:rPr>
              <a:t>გადაწყვეტა: პერსონალური რეცეპტების ავტომატური გამოწერა და წამლების სახლში მიტანა 1 საათში.</a:t>
            </a:r>
          </a:p>
        </p:txBody>
      </p:sp>
      <p:sp>
        <p:nvSpPr>
          <p:cNvPr id="5" name="Rounded Rectangle 4"/>
          <p:cNvSpPr/>
          <p:nvPr/>
        </p:nvSpPr>
        <p:spPr>
          <a:xfrm>
            <a:off x="365760" y="3035808"/>
            <a:ext cx="11460175" cy="1188720"/>
          </a:xfrm>
          <a:prstGeom prst="roundRect">
            <a:avLst>
              <a:gd name="adj" fmla="val 3000"/>
            </a:avLst>
          </a:prstGeom>
          <a:solidFill>
            <a:srgbClr val="1E293B"/>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b="1" sz="1200">
                <a:solidFill>
                  <a:srgbClr val="F59E0B"/>
                </a:solidFill>
              </a:rPr>
              <a:t>HealthTech Welcome Pitch Prompt:</a:t>
            </a:r>
          </a:p>
          <a:p>
            <a:r>
              <a:rPr sz="1200">
                <a:solidFill>
                  <a:srgbClr val="E2E8F0"/>
                </a:solidFill>
                <a:latin typeface="Consolas"/>
              </a:rPr>
              <a:t>მე ვარ ჯანდაცვის სპეციალისტი. ჩემი იდეაა აფთიაქი-დელივერი. დამიწერე 30-წამიანი პრეზენტაციის ტექსტი ქართულად, რომელიც ხაზს უსვამს სოციალურ პასუხისმგებლობასა და ოპერატიულობას.</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30-30-30 Pitch Rules</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მონაწილეთა პრეზენტაციის მკაცრი სტრუქტურა:</a:t>
            </a:r>
          </a:p>
        </p:txBody>
      </p:sp>
      <p:sp>
        <p:nvSpPr>
          <p:cNvPr id="4" name="Rounded Rectangle 3"/>
          <p:cNvSpPr/>
          <p:nvPr/>
        </p:nvSpPr>
        <p:spPr>
          <a:xfrm>
            <a:off x="365760" y="1463040"/>
            <a:ext cx="5638647" cy="2377440"/>
          </a:xfrm>
          <a:prstGeom prst="roundRect">
            <a:avLst>
              <a:gd name="adj" fmla="val 4000"/>
            </a:avLst>
          </a:prstGeom>
          <a:solidFill>
            <a:srgbClr val="F1F8E9"/>
          </a:solidFill>
          <a:ln w="190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4532D"/>
                </a:solidFill>
              </a:rPr>
              <a:t>⏱️ დროის გადანაწილება:</a:t>
            </a:r>
          </a:p>
          <a:p>
            <a:r>
              <a:rPr sz="1200">
                <a:solidFill>
                  <a:srgbClr val="333333"/>
                </a:solidFill>
              </a:rPr>
              <a:t>• პირველი 30 წამი: ვინ ხართ თქვენ და რა არის თქვენი კომპეტენცია?</a:t>
            </a:r>
          </a:p>
          <a:p>
            <a:r>
              <a:rPr sz="1200">
                <a:solidFill>
                  <a:srgbClr val="333333"/>
                </a:solidFill>
              </a:rPr>
              <a:t>• მეორე 30 წამი: რა არის იდეა, ვისთვის არის და რა პრობლემას ჭრის?</a:t>
            </a:r>
          </a:p>
          <a:p>
            <a:r>
              <a:rPr sz="1200">
                <a:solidFill>
                  <a:srgbClr val="333333"/>
                </a:solidFill>
              </a:rPr>
              <a:t>• ბოლო 30 წამი: ტრენერის 1-2 კითხვა და თქვენი მკაფიო პასუხი.</a:t>
            </a:r>
          </a:p>
        </p:txBody>
      </p:sp>
      <p:sp>
        <p:nvSpPr>
          <p:cNvPr id="5" name="Rounded Rectangle 4"/>
          <p:cNvSpPr/>
          <p:nvPr/>
        </p:nvSpPr>
        <p:spPr>
          <a:xfrm>
            <a:off x="6187287" y="1463040"/>
            <a:ext cx="5638647" cy="2377440"/>
          </a:xfrm>
          <a:prstGeom prst="roundRect">
            <a:avLst>
              <a:gd name="adj" fmla="val 4000"/>
            </a:avLst>
          </a:prstGeom>
          <a:solidFill>
            <a:srgbClr val="FFF3E0"/>
          </a:solidFill>
          <a:ln w="19050">
            <a:solidFill>
              <a:srgbClr val="FF98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7C2D12"/>
                </a:solidFill>
              </a:rPr>
              <a:t>⚠️ 3 კრიტიკული შეცდომა:</a:t>
            </a:r>
          </a:p>
          <a:p>
            <a:r>
              <a:rPr sz="1200">
                <a:solidFill>
                  <a:srgbClr val="333333"/>
                </a:solidFill>
              </a:rPr>
              <a:t>• დროის გადაცილება (ტაიმერი გაგაჩერებთ);</a:t>
            </a:r>
          </a:p>
          <a:p>
            <a:r>
              <a:rPr sz="1200">
                <a:solidFill>
                  <a:srgbClr val="333333"/>
                </a:solidFill>
              </a:rPr>
              <a:t>• პროდუქტის ფუნქციების დეტალური ჩამოთვლა ბიზნეს-მოდელის ნაცვლად;</a:t>
            </a:r>
          </a:p>
          <a:p>
            <a:r>
              <a:rPr sz="1200">
                <a:solidFill>
                  <a:srgbClr val="333333"/>
                </a:solidFill>
              </a:rPr>
              <a:t>• ბუნდოვანი სამიზნე აუდიტორია.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Elevator Pitch Formula</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როგორ ჩამოვაყალიბოთ სტარტაპის არსი 1 წინადადებაში?</a:t>
            </a:r>
          </a:p>
        </p:txBody>
      </p:sp>
      <p:sp>
        <p:nvSpPr>
          <p:cNvPr id="4" name="Rounded Rectangle 3"/>
          <p:cNvSpPr/>
          <p:nvPr/>
        </p:nvSpPr>
        <p:spPr>
          <a:xfrm>
            <a:off x="365760" y="1463040"/>
            <a:ext cx="11460175" cy="14630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sz="1300">
                <a:solidFill>
                  <a:srgbClr val="333333"/>
                </a:solidFill>
              </a:rPr>
              <a:t>"ჩემი [პროდუქტი] ეხმარება [სამიზნე მომხმარებელს],</a:t>
            </a:r>
          </a:p>
        </p:txBody>
      </p:sp>
      <p:sp>
        <p:nvSpPr>
          <p:cNvPr id="5" name="Rounded Rectangle 4"/>
          <p:cNvSpPr/>
          <p:nvPr/>
        </p:nvSpPr>
        <p:spPr>
          <a:xfrm>
            <a:off x="365760" y="3035808"/>
            <a:ext cx="11460175" cy="146304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500">
                <a:solidFill>
                  <a:srgbClr val="1E293B"/>
                </a:solidFill>
              </a:rPr>
              <a:t>💳 FinTech:</a:t>
            </a:r>
          </a:p>
          <a:p>
            <a:r>
              <a:rPr sz="1300">
                <a:solidFill>
                  <a:srgbClr val="333333"/>
                </a:solidFill>
              </a:rPr>
              <a:t>„ჩვენი AI ბუღალტერია ეხმარება მცირე მეწარმეებს, რომელთაც ეშინიათ საგადასახადო ჯარიმების, რადგან დეკლარაციებს 1 წამში აგენერირებს.“</a:t>
            </a:r>
          </a:p>
        </p:txBody>
      </p:sp>
      <p:sp>
        <p:nvSpPr>
          <p:cNvPr id="6" name="Rounded Rectangle 5"/>
          <p:cNvSpPr/>
          <p:nvPr/>
        </p:nvSpPr>
        <p:spPr>
          <a:xfrm>
            <a:off x="365760" y="4608576"/>
            <a:ext cx="11460175" cy="146304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500">
                <a:solidFill>
                  <a:srgbClr val="1E293B"/>
                </a:solidFill>
              </a:rPr>
              <a:t>🏥 HealthTech:</a:t>
            </a:r>
          </a:p>
          <a:p>
            <a:r>
              <a:rPr sz="1300">
                <a:solidFill>
                  <a:srgbClr val="333333"/>
                </a:solidFill>
              </a:rPr>
              <a:t>„ჩვენი აპლიკაცია ეხმარება ხანდაზმულ პაციენტებს, რომელთაც წამლების მიღება ავიწყდებათ, რადგან ავტომატურად უგზავნის შეხსენებას და აწვდის წამლებს სახლში.“</a:t>
            </a:r>
          </a:p>
        </p:txBody>
      </p:sp>
      <p:sp>
        <p:nvSpPr>
          <p:cNvPr id="7" name="TextBox 6"/>
          <p:cNvSpPr txBox="1"/>
          <p:nvPr/>
        </p:nvSpPr>
        <p:spPr>
          <a:xfrm>
            <a:off x="365760" y="6181344"/>
            <a:ext cx="11460175" cy="365760"/>
          </a:xfrm>
          <a:prstGeom prst="rect">
            <a:avLst/>
          </a:prstGeom>
          <a:noFill/>
        </p:spPr>
        <p:txBody>
          <a:bodyPr wrap="square">
            <a:spAutoFit/>
          </a:bodyPr>
          <a:lstStyle/>
          <a:p>
            <a:r>
              <a:rPr sz="1300"/>
              <a:t>9/47 Elevator Pitch Sector Examples Elevator Pitch-ის მაგალითები სხვადასხვა სექტორისთვის: 🌾 AgriTech: „ჩვენი AI ირიგატორი ეხმარება ფერმერებს, რომელთაც სურთ წყლის ხარჯების შემცირება, რადგან სენსორულ მონაცემებზე დაყრდნობით ავტომატურად რწყავს მიწას.“ 💳 FinTech: „ჩვენი AI ბუღალტერია ეხმარება მცირე მეწარმეებს, რომელთაც ეშინიათ საგადასახადო ჯარიმების, რადგან დეკლარაციებს 1 წამში აგენერირებს.“ 🏥 HealthTech: „ჩვენი აპლიკაცია ეხმარება ხანდაზმულ პაციენტებს, რომელთაც წამლების მიღება ავიწყდებათ, რადგან ავტომატურად უგზავნის შეხსენებას და აწვდის წამლებს სახლში.“</a:t>
            </a:r>
          </a:p>
        </p:txBody>
      </p:sp>
      <p:sp>
        <p:nvSpPr>
          <p:cNvPr id="8" name="TextBox 7"/>
          <p:cNvSpPr txBox="1"/>
          <p:nvPr/>
        </p:nvSpPr>
        <p:spPr>
          <a:xfrm>
            <a:off x="365760" y="6547104"/>
            <a:ext cx="11460175" cy="365760"/>
          </a:xfrm>
          <a:prstGeom prst="rect">
            <a:avLst/>
          </a:prstGeom>
          <a:noFill/>
        </p:spPr>
        <p:txBody>
          <a:bodyPr wrap="square">
            <a:spAutoFit/>
          </a:bodyPr>
          <a:lstStyle/>
          <a:p>
            <a:r>
              <a:rPr sz="1300"/>
              <a:t>10/47 LLM-ების მუშაობის პრინციპი: Transformer, Training &amp; Inference როგორ ამუშავებს და აგენერირებს ტექსტს თანამედროვე ხელოვნური ინტელექტი? 🧠 Transformer &amp; Attention: Transformer არქიტექტურა (Attention Mechanism) საშუალებას აძლევს მოდელს ერთდროულად დაინახოს მთელი წინადადება და განსაზღვროს სიტყვების მნიშვნელობა კონტექსტში. ⚙️ Training Pipeline: Pre-training: მოდელი სწავლობს ენის სტრუქტურას ინტერნეტის მილიარდობით ტექსტზე. Fine-tuning: მოდელის მორგება კონკრეტული ამოცანების შესასრულებლად. RLHF (ადამიანური უკუკავშირი): მოდელის ქცევის კორექტირება ადამიანების შეფასებების მიხედვით. Inference (გენერაცია): AI ყოველ ჯერზე აგენერირებს მხოლოდ მომდევნო სიმბოლოს/სიტყვას (Token) ალბათობის მიხედვით.</a:t>
            </a:r>
          </a:p>
        </p:txBody>
      </p:sp>
      <p:sp>
        <p:nvSpPr>
          <p:cNvPr id="9" name="TextBox 8"/>
          <p:cNvSpPr txBox="1"/>
          <p:nvPr/>
        </p:nvSpPr>
        <p:spPr>
          <a:xfrm>
            <a:off x="365760" y="6912864"/>
            <a:ext cx="11460175" cy="365760"/>
          </a:xfrm>
          <a:prstGeom prst="rect">
            <a:avLst/>
          </a:prstGeom>
          <a:noFill/>
        </p:spPr>
        <p:txBody>
          <a:bodyPr wrap="square">
            <a:spAutoFit/>
          </a:bodyPr>
          <a:lstStyle/>
          <a:p>
            <a:r>
              <a:rPr sz="1300"/>
              <a:t>11/47 AI ლანდშაფტი 2026: Frontier, Reasoning &amp; Agentic AI ხელოვნური ინტელექტის ოთხი ძირითადი კატეგორია და მიმართულება დღეს: 🚀 Frontier Models ზოგადი და უნივერსალური მოდელები: GPT-5.6 Sol, Claude Sonnet 5, Gemini 3.5 Pro. გამოიყენება კოპირაითინგისთვის, ანალიზისა და თარგმნისთვის. 🧠 Reasoning Models ლოგიკური აზროვნების მოდელები: o1 / o3, DeepSeek R1, Claude Sonnet with Extended Thinking. იდეალურია რთული მათემატიკისთვის, კოდირებისა და სტრატეგიისთვის. 🤖 Agentic AI ავტონომიური AI აგენტები (Manus, Devin), რომლებსაც შეუძლიათ დამოუკიდებლად გამოიყენონ ბრაუზერი და კომპიუტერი ამოცანების დასასრულებლად.</a:t>
            </a:r>
          </a:p>
        </p:txBody>
      </p:sp>
      <p:sp>
        <p:nvSpPr>
          <p:cNvPr id="10" name="TextBox 9"/>
          <p:cNvSpPr txBox="1"/>
          <p:nvPr/>
        </p:nvSpPr>
        <p:spPr>
          <a:xfrm>
            <a:off x="365760" y="7278624"/>
            <a:ext cx="11460175" cy="365760"/>
          </a:xfrm>
          <a:prstGeom prst="rect">
            <a:avLst/>
          </a:prstGeom>
          <a:noFill/>
        </p:spPr>
        <p:txBody>
          <a:bodyPr wrap="square">
            <a:spAutoFit/>
          </a:bodyPr>
          <a:lstStyle/>
          <a:p>
            <a:r>
              <a:rPr sz="1300"/>
              <a:t>12/47 LLM-ების რეიტინგი: lmarena.ai &amp; ELO Rating როგორ განვსაზღვროთ რომელი მოდელია რეალურად საუკეთესო თქვენი ბიზნესისთვის? 📊 lmarena.ai (Chatbot Arena): დამოუკიდებელი პლატფორმა, სადაც მიმდინარეობს მოდელების „ბრმა“ შედარება ადამიანის მიერ (A/B testing). რეიტინგი ითვლება ჭადრაკის ELO სისტემით. 🏆 2026 წლის Top Rankings: GPT-5.6 Sol: ~1420 ELO (ლიდერი ზოგად ლოგიკაში) Claude Sonnet 5: ~1390 ELO (საუკეთესო კოდში/ტექსტში) Gemini 3.5 Pro: ~1350 ELO (საუკეთესო მულტიმედიაში) DeepSeek R1: ~1240 ELO (საუკეთესო ლოგიკა/ფასი)</a:t>
            </a:r>
          </a:p>
        </p:txBody>
      </p:sp>
      <p:sp>
        <p:nvSpPr>
          <p:cNvPr id="11" name="TextBox 10"/>
          <p:cNvSpPr txBox="1"/>
          <p:nvPr/>
        </p:nvSpPr>
        <p:spPr>
          <a:xfrm>
            <a:off x="365760" y="7644384"/>
            <a:ext cx="11460175" cy="365760"/>
          </a:xfrm>
          <a:prstGeom prst="rect">
            <a:avLst/>
          </a:prstGeom>
          <a:noFill/>
        </p:spPr>
        <p:txBody>
          <a:bodyPr wrap="square">
            <a:spAutoFit/>
          </a:bodyPr>
          <a:lstStyle/>
          <a:p>
            <a:r>
              <a:rPr sz="1300"/>
              <a:t>13/47 ვიზუალური AI-ის რეიტინგი: designarena.ai საუკეთესო ხელსაწყოების რეიტინგი გრაფიკისა და ბრენდინგის შესაქმნელად: 🎨 Ideogram v3/v4 რეიტინგი: #1 ლოგოებისთვის. საუკეთესოდ აინტეგრირებს ტექსტს სურათებში, იდეალურია სტარტაპის ლოგოსა და სლოგანისთვის. 📷 Flux.2 / Flux 1.1 Pro რეიტინგი: #1 ფოტო-რეალიზმში. საუკეთესოდ გადმოსცემს ადამიანის ანატომიას, ტექსტურებსა და პროფესიონალურ ფოტოგადაღების სტილს. 🖌️ Midjourney V8.1 რეიტინგი: #1 ილუსტრაციებში. საუკეთესოა კრეატიული კონცეფტ-არტის, 3D რენდერებისა და მხატვრული სურათებისთვის.</a:t>
            </a:r>
          </a:p>
        </p:txBody>
      </p:sp>
      <p:sp>
        <p:nvSpPr>
          <p:cNvPr id="12" name="TextBox 11"/>
          <p:cNvSpPr txBox="1"/>
          <p:nvPr/>
        </p:nvSpPr>
        <p:spPr>
          <a:xfrm>
            <a:off x="365760" y="8010144"/>
            <a:ext cx="11460175" cy="365760"/>
          </a:xfrm>
          <a:prstGeom prst="rect">
            <a:avLst/>
          </a:prstGeom>
          <a:noFill/>
        </p:spPr>
        <p:txBody>
          <a:bodyPr wrap="square">
            <a:spAutoFit/>
          </a:bodyPr>
          <a:lstStyle/>
          <a:p>
            <a:r>
              <a:rPr sz="1300"/>
              <a:t>14/47 C.R.E.A.T.E. პრომპტინგის ჩარჩო უნივერსალური 6-ელემენტიანი მეთოდოლოგია პროფესიონალური პრომპტების დასაწერად: ელემენტი განმარტება მაგალითი C - Context ბექგრაუნდი და როლი „იმოქმედე, როგორც გამოცდილი ფინანსისტი...“ R - Request ზუსტი დავალება „დამიწერე საინვესტიციო წინადადება...“ E - Explanation დეტალები და მიზანი „მიზანია დავარწმუნოთ ანგელოზი ინვესტორი...“ A - Action ნაბიჯები და წესები „გამოიყენე მარტივი ენა, წერე მოკლედ...“ T - Target ფორმატი და სტრუქტურა „წარმოადგინე 3 აბზაცის სახით...“ E - Extras მაგალითები/ტონი „ტონი: თავდაჯერებული. მაგალითი: ...“</a:t>
            </a:r>
          </a:p>
        </p:txBody>
      </p:sp>
      <p:sp>
        <p:nvSpPr>
          <p:cNvPr id="13" name="TextBox 12"/>
          <p:cNvSpPr txBox="1"/>
          <p:nvPr/>
        </p:nvSpPr>
        <p:spPr>
          <a:xfrm>
            <a:off x="365760" y="8375904"/>
            <a:ext cx="11460175" cy="365760"/>
          </a:xfrm>
          <a:prstGeom prst="rect">
            <a:avLst/>
          </a:prstGeom>
          <a:noFill/>
        </p:spPr>
        <p:txBody>
          <a:bodyPr wrap="square">
            <a:spAutoFit/>
          </a:bodyPr>
          <a:lstStyle/>
          <a:p>
            <a:r>
              <a:rPr sz="1300"/>
              <a:t>15/47 Day 1: Goals &amp; Deliverables დღეს ჩვენ შევქმნით შემდეგ ხელშესახებ შედეგებს (Deliverables): ბლოკი აქტივობა შედეგი (Output) Block III Brainstorming &amp; SCAMPER 10+ იდეის მუტაცია და ფილტრაცია Block IV Lean Canvas &amp; VPC შევსებული Lean Canvas + JTBD Personas Block V Interview Design 5-7 ღია კითხვა მომხმარებელთან საუბრისთვის 💡 მიზანი: დღის ბოლოს გქონდეთ მზა ბიზნეს მოდელი და ვალიდაციის გეგმა, რათა ხვალ დაიწყოთ MVP-ს აწყობა.</a:t>
            </a:r>
          </a:p>
        </p:txBody>
      </p:sp>
      <p:sp>
        <p:nvSpPr>
          <p:cNvPr id="14" name="TextBox 13"/>
          <p:cNvSpPr txBox="1"/>
          <p:nvPr/>
        </p:nvSpPr>
        <p:spPr>
          <a:xfrm>
            <a:off x="365760" y="8741664"/>
            <a:ext cx="11460175" cy="365760"/>
          </a:xfrm>
          <a:prstGeom prst="rect">
            <a:avLst/>
          </a:prstGeom>
          <a:noFill/>
        </p:spPr>
        <p:txBody>
          <a:bodyPr wrap="square">
            <a:spAutoFit/>
          </a:bodyPr>
          <a:lstStyle/>
          <a:p>
            <a:r>
              <a:rPr sz="1300"/>
              <a:t>16/47 Myth 1: Innovation requires uniqueness ❌ მითი #1: იდეა აუცილებლად სრულიად ახალი და უნიკალური უნდა იყოს ბაზარზე სტარტაპერები ხშირად უარს ამბობენ იდეაზე, თუ მსგავსი პროდუქტი უკვე არსებობს. 🟢 რეალობა: შესრულება (Execution) უფრო მნიშვნელოვანია წარმატებული სტარტაპების უმრავლესობა არსებულ ბაზარზე მცირე მუტაციით (SCAMPER) და უკეთესი სერვისით იმარჯვებს. მაგალითად: Google არ ყოფილა პირველი საძიებო სისტემა, ხოლო Facebook - პირველი სოციალური ქსელი.</a:t>
            </a:r>
          </a:p>
        </p:txBody>
      </p:sp>
      <p:sp>
        <p:nvSpPr>
          <p:cNvPr id="15" name="TextBox 14"/>
          <p:cNvSpPr txBox="1"/>
          <p:nvPr/>
        </p:nvSpPr>
        <p:spPr>
          <a:xfrm>
            <a:off x="365760" y="9107424"/>
            <a:ext cx="11460175" cy="365760"/>
          </a:xfrm>
          <a:prstGeom prst="rect">
            <a:avLst/>
          </a:prstGeom>
          <a:noFill/>
        </p:spPr>
        <p:txBody>
          <a:bodyPr wrap="square">
            <a:spAutoFit/>
          </a:bodyPr>
          <a:lstStyle/>
          <a:p>
            <a:r>
              <a:rPr sz="1300"/>
              <a:t>17/47 Myth 2: MVP requires developers ❌ მითი #2: MVP-ს (პირველი პროდუქტის) შესაქმნელად მჭირდება დეველოპერთა გუნდი და 3 თვე დამფუძნებლები ხარჯავენ თვეებს დეველოპერების ძებნაში იდეის ვალიდაციამდე. 🟢 რეალობა: No-Code/AI იძლევა სწრაფ ალტერნატივას Lovable.dev-ითა და Supabase-ით სტარტაპერს შეუძლია თავად ააწყოს მუშა Landing Page მონაცემთა ბაზით სულ რაღაც 45 წუთში, კოდის წერის გარეშე.</a:t>
            </a:r>
          </a:p>
        </p:txBody>
      </p:sp>
      <p:sp>
        <p:nvSpPr>
          <p:cNvPr id="16" name="TextBox 15"/>
          <p:cNvSpPr txBox="1"/>
          <p:nvPr/>
        </p:nvSpPr>
        <p:spPr>
          <a:xfrm>
            <a:off x="365760" y="9473184"/>
            <a:ext cx="11460175" cy="365760"/>
          </a:xfrm>
          <a:prstGeom prst="rect">
            <a:avLst/>
          </a:prstGeom>
          <a:noFill/>
        </p:spPr>
        <p:txBody>
          <a:bodyPr wrap="square">
            <a:spAutoFit/>
          </a:bodyPr>
          <a:lstStyle/>
          <a:p>
            <a:r>
              <a:rPr sz="1300"/>
              <a:t>18/47 Myth 3: High budget is essential ❌ მითი #3: სტარტაპის დასაწყებად საჭიროა დიდი საწყისი კაპიტალი და ინვესტიცია დამფუძნებლები ელოდებიან გრანტს ან ინვესტორს იდეის შესამოწმებლად. 🟢 რეალობა: $0-იანი ვალიდაციის ეპოქა AI ხელსაწყოების (Claude, Perplexity, Gamma, Make) უფასო ვერსიებით შეგიძლიათ სრულიად უფასოდ ჩაატაროთ კვლევა, შექმნათ ვიზუალური ბრენდი და მოიზიდოთ პირველი მომხმარებლები.</a:t>
            </a:r>
          </a:p>
        </p:txBody>
      </p:sp>
      <p:sp>
        <p:nvSpPr>
          <p:cNvPr id="17" name="TextBox 16"/>
          <p:cNvSpPr txBox="1"/>
          <p:nvPr/>
        </p:nvSpPr>
        <p:spPr>
          <a:xfrm>
            <a:off x="365760" y="9838944"/>
            <a:ext cx="11460175" cy="365760"/>
          </a:xfrm>
          <a:prstGeom prst="rect">
            <a:avLst/>
          </a:prstGeom>
          <a:noFill/>
        </p:spPr>
        <p:txBody>
          <a:bodyPr wrap="square">
            <a:spAutoFit/>
          </a:bodyPr>
          <a:lstStyle/>
          <a:p>
            <a:r>
              <a:rPr sz="1300"/>
              <a:t>19/47 AI Strategy: 10x Experimentation Speed როგორ აჩქარებს AI ექსპერიმენტების სიჩქარეს? ტრადიციული პროცესი (1 თვე): ბაზრის კვლევა სააგენტოს მიერ; დიზაინერის მიერ ლოგოს შექმნა; კოპირაითერის მიერ ტექსტების წერა; დეველოპერის მიერ კოდის წერა. AI-Driven პროცესი (1 დღე): კვლევა Perplexity-ით (10 წუთი); ლოგო Ideogram-ით (5 წუთი); კოპირაითინგი Claude-ით (10 წუთი); MVP Lovable-ით (45 წუთი).</a:t>
            </a:r>
          </a:p>
        </p:txBody>
      </p:sp>
      <p:sp>
        <p:nvSpPr>
          <p:cNvPr id="18" name="TextBox 17"/>
          <p:cNvSpPr txBox="1"/>
          <p:nvPr/>
        </p:nvSpPr>
        <p:spPr>
          <a:xfrm>
            <a:off x="365760" y="10204704"/>
            <a:ext cx="11460175" cy="365760"/>
          </a:xfrm>
          <a:prstGeom prst="rect">
            <a:avLst/>
          </a:prstGeom>
          <a:noFill/>
        </p:spPr>
        <p:txBody>
          <a:bodyPr wrap="square">
            <a:spAutoFit/>
          </a:bodyPr>
          <a:lstStyle/>
          <a:p>
            <a:r>
              <a:rPr sz="1300"/>
              <a:t>20/47 AI Strategy: Cost Minimization სტარტაპის დაწყების ხარჯების ოპტიმიზაცია AI-ის მეშვეობით: 🎨 Visuals ($0 vs $500) Ideogram-ითა და Flux-ით იქმნება პროფესიონალური ლოგო და ილუსტრაციები უფასოდ. 💻 Dev ($0 vs $3000) Lovable-ის უფასო ვერსიით ეშვება პირველი MVP, Vercel-ის უფასო ჰოსტინგით. 🤖 Ops ($0 vs $400) Make.com-ის 1000 უფასო ოპერაციით ხდება CRM ბაზის ავტომატიზაცია. 💡 დასკვნა: თქვენი მთავარი ხარჯი არის დრო და არა ფული. AI გაძლევთ საშუალებას $0-ით მიაღწიოთ პირველ გაყიდვებამდე.</a:t>
            </a:r>
          </a:p>
        </p:txBody>
      </p:sp>
      <p:sp>
        <p:nvSpPr>
          <p:cNvPr id="19" name="TextBox 18"/>
          <p:cNvSpPr txBox="1"/>
          <p:nvPr/>
        </p:nvSpPr>
        <p:spPr>
          <a:xfrm>
            <a:off x="365760" y="10570464"/>
            <a:ext cx="11460175" cy="365760"/>
          </a:xfrm>
          <a:prstGeom prst="rect">
            <a:avLst/>
          </a:prstGeom>
          <a:noFill/>
        </p:spPr>
        <p:txBody>
          <a:bodyPr wrap="square">
            <a:spAutoFit/>
          </a:bodyPr>
          <a:lstStyle/>
          <a:p>
            <a:r>
              <a:rPr sz="1300"/>
              <a:t>21/47 Divergent Thinking: Ideation Flow როგორ გამოვიყენოთ AI იდეების რაოდენობრივი გაფართოებისთვის? 💡 წესი: რაოდენობა ბადებს ხარისხს ამ ეტაპზე არ ვფილტრავთ იდეებს. ვავალებთ AI-ს გენერირებას სხვადასხვა კუთხით. Divergent Ideation Prompt: იმოქმედე როგორც კრეატიული სტარტაპ მენტორი. ჩემი ბაზისური იდეაა: [იდეა]. შემომთავაზე 20 სრულიად განსხვავებული მიმართულება და ნიშა ამ იდეისთვის. გამოიყენე უჩვეულო კავშირები და მოერიდე სტანდარტულ პასუხებს.</a:t>
            </a:r>
          </a:p>
        </p:txBody>
      </p:sp>
      <p:sp>
        <p:nvSpPr>
          <p:cNvPr id="20" name="TextBox 19"/>
          <p:cNvSpPr txBox="1"/>
          <p:nvPr/>
        </p:nvSpPr>
        <p:spPr>
          <a:xfrm>
            <a:off x="365760" y="10936224"/>
            <a:ext cx="11460175" cy="365760"/>
          </a:xfrm>
          <a:prstGeom prst="rect">
            <a:avLst/>
          </a:prstGeom>
          <a:noFill/>
        </p:spPr>
        <p:txBody>
          <a:bodyPr wrap="square">
            <a:spAutoFit/>
          </a:bodyPr>
          <a:lstStyle/>
          <a:p>
            <a:r>
              <a:rPr sz="1300"/>
              <a:t>22/47 Convergent Thinking: Pruning &amp; Selection როგორ შევამციროთ 20 იდეა 1 ფინალურ პროექტამდე? 🔍 ფილტრაციის კრიტერიუმები: Traction Potential: რამდენად მარტივია პირველი 10 მომხმარებლის მოზიდვა? Feasibility: შესაძლებელია თუ არა MVP-ს აწყობა Lovable-ით 1 დღეში? Market Need: რამდენად მტკივნეულია პრობლემა მომხმარებლისთვის? 🚀 პრაქტიკული ნაბიჯი: AI-ს ვთხოვთ იდეების შეფასებას მატრიცის მიხედვით: შეაფასე ეს 3 იდეა [იდეები] 0-10 შკალაზე: 1) მარტივი MVP, 2) პირველი გაყიდვების სიჩქარე, 3) კონკურენციის სიმცირე. წარმოადგინე ცხრილის სახით.</a:t>
            </a:r>
          </a:p>
        </p:txBody>
      </p:sp>
      <p:sp>
        <p:nvSpPr>
          <p:cNvPr id="21" name="TextBox 20"/>
          <p:cNvSpPr txBox="1"/>
          <p:nvPr/>
        </p:nvSpPr>
        <p:spPr>
          <a:xfrm>
            <a:off x="365760" y="11301984"/>
            <a:ext cx="11460175" cy="365760"/>
          </a:xfrm>
          <a:prstGeom prst="rect">
            <a:avLst/>
          </a:prstGeom>
          <a:noFill/>
        </p:spPr>
        <p:txBody>
          <a:bodyPr wrap="square">
            <a:spAutoFit/>
          </a:bodyPr>
          <a:lstStyle/>
          <a:p>
            <a:r>
              <a:rPr sz="1300"/>
              <a:t>23/47 AI Tools: Safety Ratings Matrix რომელი AI ინსტრუმენტებია უსაფრთხო თქვენი სტარტაპის მონაცემებისთვის? ინსტრუმენტი რეიტინგი მონაცემთა გამოყენება რეკომენდაცია NotebookLM / Lovable 🟢 GO არ გამოიყენება წვრთნისთვის უსაფრთხოა ბიზნეს დოკუმენტებისთვის Claude / Perplexity 🟡 CAUTION შეიძლება გამოიყენოს, თუ არ გათიშავთ გამოიყენეთ კოპირაითინგისთვის, პირადი მონაცემების გარეშე ChatGPT Free / Gemini Free 🔴 STOP ყველა მონაცემს იყენებს წვრთნისთვის არ ჩაწეროთ საიდუმლო ფორმულები ან კოდი</a:t>
            </a:r>
          </a:p>
        </p:txBody>
      </p:sp>
      <p:sp>
        <p:nvSpPr>
          <p:cNvPr id="22" name="TextBox 21"/>
          <p:cNvSpPr txBox="1"/>
          <p:nvPr/>
        </p:nvSpPr>
        <p:spPr>
          <a:xfrm>
            <a:off x="365760" y="11667744"/>
            <a:ext cx="11460175" cy="365760"/>
          </a:xfrm>
          <a:prstGeom prst="rect">
            <a:avLst/>
          </a:prstGeom>
          <a:noFill/>
        </p:spPr>
        <p:txBody>
          <a:bodyPr wrap="square">
            <a:spAutoFit/>
          </a:bodyPr>
          <a:lstStyle/>
          <a:p>
            <a:r>
              <a:rPr sz="1300"/>
              <a:t>24/47 AI Tools: Data Leakage Protection როგორ დავიცვათ თავი მონაცემთა გაჟონვისგან (Data Leakage)? ⚠️ უსაფრთხოების წესები: გათიშეთ Training პარამეტრი: ChatGPT-ისა და Claude-ის პარამეტრებში გათიშეთ „Improve model for everyone“; მონაცემთა ფილტრაცია: AI-ში ჩაწერამდე წაშალეთ მომხმარებლის ელფოსტა, ტელეფონის ნომერი და გვარი; Enterprise ვერსიები: თუ ბიუჯეტი გაქვთ, გამოიყენეთ API ვერსიები, რადგან API-ით გაგზავნილი მონაცემები არასოდეს გამოიყენება მოდელის წვრთნისთვის.</a:t>
            </a:r>
          </a:p>
        </p:txBody>
      </p:sp>
      <p:sp>
        <p:nvSpPr>
          <p:cNvPr id="23" name="TextBox 22"/>
          <p:cNvSpPr txBox="1"/>
          <p:nvPr/>
        </p:nvSpPr>
        <p:spPr>
          <a:xfrm>
            <a:off x="365760" y="12033504"/>
            <a:ext cx="11460175" cy="365760"/>
          </a:xfrm>
          <a:prstGeom prst="rect">
            <a:avLst/>
          </a:prstGeom>
          <a:noFill/>
        </p:spPr>
        <p:txBody>
          <a:bodyPr wrap="square">
            <a:spAutoFit/>
          </a:bodyPr>
          <a:lstStyle/>
          <a:p>
            <a:r>
              <a:rPr sz="1300"/>
              <a:t>25/47 SCAMPER მეთოდოლოგია ინოვაციის მიღების 7 გზა ნებისმიერი ტრადიციული ბიზნესისთვის: S - Substitute რისი შენაცვლება შეგვიძლია? C - Combine რისი გაერთიანება შეიძლება? A - Adapt როგორ მოვარგოთ სხვა სფეროს? M - Modify რისი გადიდება/შეცვლა შეიძლება? SCAMPER გვეხმარება ვიპოვოთ ახალი ბიზნეს მოდელი იქ, სადაც კონკურენცია დიდია.</a:t>
            </a:r>
          </a:p>
        </p:txBody>
      </p:sp>
      <p:sp>
        <p:nvSpPr>
          <p:cNvPr id="24" name="TextBox 23"/>
          <p:cNvSpPr txBox="1"/>
          <p:nvPr/>
        </p:nvSpPr>
        <p:spPr>
          <a:xfrm>
            <a:off x="365760" y="12399264"/>
            <a:ext cx="11460175" cy="365760"/>
          </a:xfrm>
          <a:prstGeom prst="rect">
            <a:avLst/>
          </a:prstGeom>
          <a:noFill/>
        </p:spPr>
        <p:txBody>
          <a:bodyPr wrap="square">
            <a:spAutoFit/>
          </a:bodyPr>
          <a:lstStyle/>
          <a:p>
            <a:r>
              <a:rPr sz="1300"/>
              <a:t>26/47 SCAMPER: S (Substitute) &amp; C (Combine) პირველი ორი ინოვაციური ნაბიჯი: 🔄 S - Substitute (შენაცვლება): ჩაანაცვლეთ ფიზიკური ოფისები სრულიად დისტანციური AI ოპერაციებით. მაგალითად: მომხმარებელთა მხარდაჭერის ოპერატორების ჩანაცვლება 24/7 AI ხმოვანი ასისტენტით. ➕ C - Combine (გაერთიანება): გააერთიანეთ ორი განსხვავებული სფერო ახალი ღირებულებისთვის. მაგალითად: ჭკვიანი სარწყავი სისტემისა და აგრო-დაზღვევის გაერთიანება (თუ ფერმერი იყენებს AI მორწყვას, დაზღვევა უფრო იაფია).</a:t>
            </a:r>
          </a:p>
        </p:txBody>
      </p:sp>
      <p:sp>
        <p:nvSpPr>
          <p:cNvPr id="25" name="TextBox 24"/>
          <p:cNvSpPr txBox="1"/>
          <p:nvPr/>
        </p:nvSpPr>
        <p:spPr>
          <a:xfrm>
            <a:off x="365760" y="12765024"/>
            <a:ext cx="11460175" cy="365760"/>
          </a:xfrm>
          <a:prstGeom prst="rect">
            <a:avLst/>
          </a:prstGeom>
          <a:noFill/>
        </p:spPr>
        <p:txBody>
          <a:bodyPr wrap="square">
            <a:spAutoFit/>
          </a:bodyPr>
          <a:lstStyle/>
          <a:p>
            <a:r>
              <a:rPr sz="1300"/>
              <a:t>27/47 SCAMPER: A (Adapt) &amp; M (Modify) მომდევნო ორი ინოვაციური ნაბიჯი: 🔌 A - Adapt (მორგება): მოარგეთ სხვა ინდუსტრიის წარმატებული მოდელი თქვენს სფეროს. მაგალითად: Tinder-ის „Swipe“ მოდელის მორგება ვაკანსიების ძებნაზე (Swipe მარჯვნივ CV-ის გასაგზავნად). 🔍 M - Modify / Magnify (შეცვლა/გადიდება): შეცვალეთ პროდუქტის თვისებები ექსტრემალურ დონეზე. მაგალითად: სისხლის ანალიზის პასუხის მიღება 24 საათის ნაცვლად 1 წუთში AI ოპტიკური სკანერით.</a:t>
            </a:r>
          </a:p>
        </p:txBody>
      </p:sp>
      <p:sp>
        <p:nvSpPr>
          <p:cNvPr id="26" name="TextBox 25"/>
          <p:cNvSpPr txBox="1"/>
          <p:nvPr/>
        </p:nvSpPr>
        <p:spPr>
          <a:xfrm>
            <a:off x="365760" y="13130784"/>
            <a:ext cx="11460175" cy="365760"/>
          </a:xfrm>
          <a:prstGeom prst="rect">
            <a:avLst/>
          </a:prstGeom>
          <a:noFill/>
        </p:spPr>
        <p:txBody>
          <a:bodyPr wrap="square">
            <a:spAutoFit/>
          </a:bodyPr>
          <a:lstStyle/>
          <a:p>
            <a:r>
              <a:rPr sz="1300"/>
              <a:t>28/47 SCAMPER: P &amp; E &amp; R ბოლო სამი SCAMPER ნაბიჯი: P - Put to other use გამოიყენეთ ნარჩენი მონაცემები ბაზრის ტრენდების პროგნოზირებისთვის. E - Eliminate (გამორიცხვა) წაშალეთ რეგისტრაციის ეტაპი - საიტის გამოყენება პირდაპირ Google-ით 1 წამში. R - Reverse (შებრუნება) ჯერ მიიღე პროდუქტი, მერე გადაიხადე (BNPL) ტრადიციული წინასწარი გადახდის ნაცვლად.</a:t>
            </a:r>
          </a:p>
        </p:txBody>
      </p:sp>
      <p:sp>
        <p:nvSpPr>
          <p:cNvPr id="27" name="TextBox 26"/>
          <p:cNvSpPr txBox="1"/>
          <p:nvPr/>
        </p:nvSpPr>
        <p:spPr>
          <a:xfrm>
            <a:off x="365760" y="13496544"/>
            <a:ext cx="11460175" cy="365760"/>
          </a:xfrm>
          <a:prstGeom prst="rect">
            <a:avLst/>
          </a:prstGeom>
          <a:noFill/>
        </p:spPr>
        <p:txBody>
          <a:bodyPr wrap="square">
            <a:spAutoFit/>
          </a:bodyPr>
          <a:lstStyle/>
          <a:p>
            <a:r>
              <a:rPr sz="1300"/>
              <a:t>29/47 5 Whys: Deep Root-Cause Analysis როგორ მივაგნოთ მომხმარებლის რეალურ ტკივილს? ❓ 5 Whys მაგალითი: რატომ არ რწყავს ფერმერი მიწას დროულად? - წყალი ძვირია; რატომ არის ძვირი? - ბევრს ხარჯავს ზედმეტი მორწყვით; რატომ რწყავს ზედმეტად? - არ იცის ნიადაგის რეალური ტენიანობა; რატომ არ იცის? - არ აქვს საზომი ხელსაწყოები; რატომ არ აქვს? - ბაზარზე არსებული სისტემები რთული და ძვირია. ფესვური პრობლემა: ფერმერს სჭირდება იაფი და მარტივი საზომი, არა დიდი ტექნიკა.</a:t>
            </a:r>
          </a:p>
        </p:txBody>
      </p:sp>
      <p:sp>
        <p:nvSpPr>
          <p:cNvPr id="28" name="TextBox 27"/>
          <p:cNvSpPr txBox="1"/>
          <p:nvPr/>
        </p:nvSpPr>
        <p:spPr>
          <a:xfrm>
            <a:off x="365760" y="13862304"/>
            <a:ext cx="11460175" cy="365760"/>
          </a:xfrm>
          <a:prstGeom prst="rect">
            <a:avLst/>
          </a:prstGeom>
          <a:noFill/>
        </p:spPr>
        <p:txBody>
          <a:bodyPr wrap="square">
            <a:spAutoFit/>
          </a:bodyPr>
          <a:lstStyle/>
          <a:p>
            <a:r>
              <a:rPr sz="1300"/>
              <a:t>30/47 What If: Blue Ocean Opportunity Prompts სტანდარტების დარღვევა და ახალი ბაზრების (Blue Ocean) პოვნა: 💡 What If კითხვების დიზაინი: „რა მოხდება, თუ ჩვენს საიტს არ ექნება ფასები და მომხმარებელი თავად გადაიხდის იმდენს, რამდენსაც საჭიროდ ჩათვლის?“ „რა მოხდება, თუ ჩვენი პროდუქტი იმუშავებს სრულიად ხაზგარეშე (Offline)?“ What If Prompt: ჩემი სტარტაპ იდეაა: [იდეა]. დამისვი 5 პროვოკაციული "What If" კითხვა, რომელიც მთლიანად შეცვლის ამ ბიზნესის ტრადიციულ წესებს და დამეხმარება ახალი ბაზრის პოვნაში.</a:t>
            </a:r>
          </a:p>
        </p:txBody>
      </p:sp>
      <p:sp>
        <p:nvSpPr>
          <p:cNvPr id="29" name="TextBox 28"/>
          <p:cNvSpPr txBox="1"/>
          <p:nvPr/>
        </p:nvSpPr>
        <p:spPr>
          <a:xfrm>
            <a:off x="365760" y="14228064"/>
            <a:ext cx="11460175" cy="365760"/>
          </a:xfrm>
          <a:prstGeom prst="rect">
            <a:avLst/>
          </a:prstGeom>
          <a:noFill/>
        </p:spPr>
        <p:txBody>
          <a:bodyPr wrap="square">
            <a:spAutoFit/>
          </a:bodyPr>
          <a:lstStyle/>
          <a:p>
            <a:r>
              <a:rPr sz="1300"/>
              <a:t>31/47 Six Thinking Hats: White Hat &amp; Red Hat იდეის ფილტრაციის პირველი ეტაპი: ⚪ თეთრი ქუდი (ინფორმაცია და ციფრები): ფოკუსირება მხოლოდ ობიექტურ ფაქტებზე. „საქართველოში არის 40,000 მცირე ფერმერი, აქედან მხოლოდ 15% იყენებს წვეთოვან სისტემებს.“ 🔴 წითელი ქუდი (ინტუიცია და ემოციები): მომხმარებლისა და დამფუძნებლის ემოციური დამოკიდებულება. „მე ვგრძნობ, რომ ფერმერებს ეშინიათ ახალი ტექნოლოგიების, რადგან ჰგონიათ, რომ რთულია.“</a:t>
            </a:r>
          </a:p>
        </p:txBody>
      </p:sp>
      <p:sp>
        <p:nvSpPr>
          <p:cNvPr id="30" name="TextBox 29"/>
          <p:cNvSpPr txBox="1"/>
          <p:nvPr/>
        </p:nvSpPr>
        <p:spPr>
          <a:xfrm>
            <a:off x="365760" y="14593824"/>
            <a:ext cx="11460175" cy="365760"/>
          </a:xfrm>
          <a:prstGeom prst="rect">
            <a:avLst/>
          </a:prstGeom>
          <a:noFill/>
        </p:spPr>
        <p:txBody>
          <a:bodyPr wrap="square">
            <a:spAutoFit/>
          </a:bodyPr>
          <a:lstStyle/>
          <a:p>
            <a:r>
              <a:rPr sz="1300"/>
              <a:t>32/47 Six Thinking Hats: Black Hat &amp; Yellow Hat საფრთხეებისა და შესაძლებლობების შეფასება: ⚫ შავი ქუდი (რისკები და კრიტიკა): რატომ ჩაფლავდება იდეა? (ყველაზე კრიტიკული ნაბიჯი სტარტაპისთვის). „ფერმერები არ იყიდიან აპლიკაციას, რადგან ინტერნეტი რეგიონებში სუსტია და სენსორების ფასი მაღალია.“ 🟡 ყვითელი ქუდი (ოპტიმიზმი და სარგებელი): რა არის საუკეთესო სცენარი და სარგებელი? „ფერმერი ზოგავს 40% წყალს, მოსავალი იზრდება 20%-ით, სისტემა კი ხარჯებს 3 თვეში ანაზღაურებს.“</a:t>
            </a:r>
          </a:p>
        </p:txBody>
      </p:sp>
      <p:sp>
        <p:nvSpPr>
          <p:cNvPr id="31" name="TextBox 30"/>
          <p:cNvSpPr txBox="1"/>
          <p:nvPr/>
        </p:nvSpPr>
        <p:spPr>
          <a:xfrm>
            <a:off x="365760" y="14959584"/>
            <a:ext cx="11460175" cy="365760"/>
          </a:xfrm>
          <a:prstGeom prst="rect">
            <a:avLst/>
          </a:prstGeom>
          <a:noFill/>
        </p:spPr>
        <p:txBody>
          <a:bodyPr wrap="square">
            <a:spAutoFit/>
          </a:bodyPr>
          <a:lstStyle/>
          <a:p>
            <a:r>
              <a:rPr sz="1300"/>
              <a:t>33/47 Six Thinking Hats: Green Hat &amp; Blue Hat კრეატიული გადაწყვეტა და შემდეგი ნაბიჯების დაგეგმვა: 🟢 მწვანე ქუდი (კრეატიულობა): როგორ გადავჭრათ შავი ქუდის რისკები? „მონაცემები გადავცეთ SMS-ით ინტერნეტის ნაცვლად, ხოლო სენსორები გავცეთ იჯარით (Subscription) ყიდვის ნაცვლად.“ 🔵 ლურჯი ქუდი (შეჯამება და მართვა): რა არის ჩვენი საბოლოო სამოქმედო გეგმა? „ჩავატაროთ 1 სწრაფი ინტერვიუ ფერმერთან, რათა შევამოწმოთ იჯარის მოდელი.“</a:t>
            </a:r>
          </a:p>
        </p:txBody>
      </p:sp>
      <p:sp>
        <p:nvSpPr>
          <p:cNvPr id="32" name="TextBox 31"/>
          <p:cNvSpPr txBox="1"/>
          <p:nvPr/>
        </p:nvSpPr>
        <p:spPr>
          <a:xfrm>
            <a:off x="365760" y="15325344"/>
            <a:ext cx="11460175" cy="365760"/>
          </a:xfrm>
          <a:prstGeom prst="rect">
            <a:avLst/>
          </a:prstGeom>
          <a:noFill/>
        </p:spPr>
        <p:txBody>
          <a:bodyPr wrap="square">
            <a:spAutoFit/>
          </a:bodyPr>
          <a:lstStyle/>
          <a:p>
            <a:r>
              <a:rPr sz="1300"/>
              <a:t>34/47 Jobs-to-be-Done (JTBD): Milkshake Story კლეიტონ კრისტენსენის ლეგენდარული ქეისი - რატომ ყიდულობენ ადამიანები მილქშეიკს დილით? ❌ არასწორი ანალიზი (დემოგრაფია): მილქშეიკს ყიდულობენ 25-35 წლის მამაკაცები, რომელთაც უყვართ ტკბილი. 🟢 სწორი ანალიზი (JTBD): მომხმარებელი „ქირაობს“ მილქშეიკს, რათა გრძელი და მოსაწყენი მგზავრობისას მანქანაში ჰქონდეს რაღაც ნოყიერი, რაც დიდხანს არ გათავდება და ხელს დაუკავებს. დასკვნა: თქვენი კონკურენტი შეიძლება იყოს არა სხვა მილქშეიკი, არამედ ბანანი ან ორცხობილა.</a:t>
            </a:r>
          </a:p>
        </p:txBody>
      </p:sp>
      <p:sp>
        <p:nvSpPr>
          <p:cNvPr id="33" name="TextBox 32"/>
          <p:cNvSpPr txBox="1"/>
          <p:nvPr/>
        </p:nvSpPr>
        <p:spPr>
          <a:xfrm>
            <a:off x="365760" y="15691104"/>
            <a:ext cx="11460175" cy="365760"/>
          </a:xfrm>
          <a:prstGeom prst="rect">
            <a:avLst/>
          </a:prstGeom>
          <a:noFill/>
        </p:spPr>
        <p:txBody>
          <a:bodyPr wrap="square">
            <a:spAutoFit/>
          </a:bodyPr>
          <a:lstStyle/>
          <a:p>
            <a:r>
              <a:rPr sz="1300"/>
              <a:t>35/47 JTBD: Formula &amp; Syntax როგორ ჩამოვაყალიბოთ JTBD მომხმარებლისთვის? როდესაც [სიტუაცია/კონტექსტი], მე მინდა [რა ქმედება ან ფუნქცია მჭირდება], რათა შევძლო [რა საბოლოო შედეგს/ემოციას ველოდები]. JTBD Generator Prompt: ჩემი სტარტაპ იდეაა: [იდეა]. სამიზნე მომხმარებელია: [მომხმარებელი]. დამიწერე 3 განსხვავებული JTBD წინადადება ამ ფორმულით.</a:t>
            </a:r>
          </a:p>
        </p:txBody>
      </p:sp>
      <p:sp>
        <p:nvSpPr>
          <p:cNvPr id="34" name="TextBox 33"/>
          <p:cNvSpPr txBox="1"/>
          <p:nvPr/>
        </p:nvSpPr>
        <p:spPr>
          <a:xfrm>
            <a:off x="365760" y="16056864"/>
            <a:ext cx="11460175" cy="365760"/>
          </a:xfrm>
          <a:prstGeom prst="rect">
            <a:avLst/>
          </a:prstGeom>
          <a:noFill/>
        </p:spPr>
        <p:txBody>
          <a:bodyPr wrap="square">
            <a:spAutoFit/>
          </a:bodyPr>
          <a:lstStyle/>
          <a:p>
            <a:r>
              <a:rPr sz="1300"/>
              <a:t>36/47 Analogical Prompting: Airbnb for X არსებული წარმატებული ბიზნეს მოდელების გადმოტანა თქვენს სფეროში: 🔗 პოპულარული ანალოგიები: Uber for X: მოთხოვნადი სერვისები მყისიერად (მაგ. ხელოსნის გამოძახება). Netflix for X: ყოველთვიური ხელმოწერა სერვისებზე (მაგ. ყავის გამოწერა). Airbnb for X: გამოუყენებელი აქტივების გაქირავება (მაგ. ავტოფარეხების გაქირავება). Analogical Prompt: შემომთავაზე 5 სხვადასხვა "Airbnb for X" ან "Uber for X" ანალოგიური ბიზნეს მოდელი [სფერო] ინდუსტრიისთვის საქართველოში.</a:t>
            </a:r>
          </a:p>
        </p:txBody>
      </p:sp>
      <p:sp>
        <p:nvSpPr>
          <p:cNvPr id="35" name="TextBox 34"/>
          <p:cNvSpPr txBox="1"/>
          <p:nvPr/>
        </p:nvSpPr>
        <p:spPr>
          <a:xfrm>
            <a:off x="365760" y="16422624"/>
            <a:ext cx="11460175" cy="365760"/>
          </a:xfrm>
          <a:prstGeom prst="rect">
            <a:avLst/>
          </a:prstGeom>
          <a:noFill/>
        </p:spPr>
        <p:txBody>
          <a:bodyPr wrap="square">
            <a:spAutoFit/>
          </a:bodyPr>
          <a:lstStyle/>
          <a:p>
            <a:r>
              <a:rPr sz="1300"/>
              <a:t>37/47 Contrarian Prompting: Defying Industry Rules როგორ შევქმნათ ინოვაცია საყოველთაოდ მიღებული წესების უარყოფით? ❌ ინდუსტრიის წესი: სასტუმროში შესვლისას ყოველთვის უნდა გაიაროთ რეგისტრაცია მისაღებში (Reception). 🟢 Contrarian მიდგომა: არანაირი მისაღები. კარი იხსნება მობილური აპლიკაციით, რითაც იზოგება პერსონალის ხარჯი და მომხმარებლის დრო. Contrarian Prompt: დაასახელე 3 მიღებული წესი და სტანდარტი [სფერო] ინდუსტრიაში. შემდეგ შემომთავაზე Contrarian იდეა, რომელიც ამ წესებს სრულიად არღვევს და ქმნის ახალ ბიზნეს მოდელს.</a:t>
            </a:r>
          </a:p>
        </p:txBody>
      </p:sp>
      <p:sp>
        <p:nvSpPr>
          <p:cNvPr id="36" name="TextBox 35"/>
          <p:cNvSpPr txBox="1"/>
          <p:nvPr/>
        </p:nvSpPr>
        <p:spPr>
          <a:xfrm>
            <a:off x="365760" y="16788384"/>
            <a:ext cx="11460175" cy="365760"/>
          </a:xfrm>
          <a:prstGeom prst="rect">
            <a:avLst/>
          </a:prstGeom>
          <a:noFill/>
        </p:spPr>
        <p:txBody>
          <a:bodyPr wrap="square">
            <a:spAutoFit/>
          </a:bodyPr>
          <a:lstStyle/>
          <a:p>
            <a:r>
              <a:rPr sz="1300"/>
              <a:t>38/47 Lean Canvas: Blocks 1-3 ბიზნეს მოდელის პირველი და ყველაზე კრიტიკული ნაწილი: 1. Problem (პრობლემა) 1-3 მთავარი პრობლემა, რომელსაც მომხმარებელი აწყდება. ასევე, არსებული ალტერნატივები. 2. Customer Segments ვინ არის სამიზნე მომხმარებელი? ვინ არიან თქვენი პირველი მომხმარებლები (Early Adopters)? 3. UVP (ფასეულობა) მკაფიო მესიჯი, რომელიც ხსნის, რით ხართ განსხვავებული და რატომ უნდა იყიდონ თქვენგან.</a:t>
            </a:r>
          </a:p>
        </p:txBody>
      </p:sp>
      <p:sp>
        <p:nvSpPr>
          <p:cNvPr id="37" name="TextBox 36"/>
          <p:cNvSpPr txBox="1"/>
          <p:nvPr/>
        </p:nvSpPr>
        <p:spPr>
          <a:xfrm>
            <a:off x="365760" y="17154144"/>
            <a:ext cx="11460175" cy="365760"/>
          </a:xfrm>
          <a:prstGeom prst="rect">
            <a:avLst/>
          </a:prstGeom>
          <a:noFill/>
        </p:spPr>
        <p:txBody>
          <a:bodyPr wrap="square">
            <a:spAutoFit/>
          </a:bodyPr>
          <a:lstStyle/>
          <a:p>
            <a:r>
              <a:rPr sz="1300"/>
              <a:t>39/47 Lean Canvas: Blocks 4-6 ბიზნეს მოდელის მეორე ნაწილი - გადაწყვეტა და ფინანსები: 4. Solution (გადაწყვეტა) 3 ძირითადი ფუნქცია, რომლითაც აგვარებთ თითოეულ პრობლემას. 5. Channels (არხები) როგორ მიაღწევთ მომხმარებლამდე? (სოც. მედია, SEO, პარტნიორობები, გაყიდვები). 6. Revenue Streams როგორ გამოიმუშავებთ ფულს? (SaaS გამოწერა, ერთჯერადი გაყიდვა, საკომისიო).</a:t>
            </a:r>
          </a:p>
        </p:txBody>
      </p:sp>
      <p:sp>
        <p:nvSpPr>
          <p:cNvPr id="38" name="TextBox 37"/>
          <p:cNvSpPr txBox="1"/>
          <p:nvPr/>
        </p:nvSpPr>
        <p:spPr>
          <a:xfrm>
            <a:off x="365760" y="17519904"/>
            <a:ext cx="11460175" cy="365760"/>
          </a:xfrm>
          <a:prstGeom prst="rect">
            <a:avLst/>
          </a:prstGeom>
          <a:noFill/>
        </p:spPr>
        <p:txBody>
          <a:bodyPr wrap="square">
            <a:spAutoFit/>
          </a:bodyPr>
          <a:lstStyle/>
          <a:p>
            <a:r>
              <a:rPr sz="1300"/>
              <a:t>40/47 Lean Canvas: Blocks 7-9 ბიზნეს მოდელის ბოლო ნაწილი - ხარჯები, მეტრიკები და უპირატესობა: 7. Cost Structure თქვენი ძირითადი ფიქსირებული და ცვლადი ხარჯები (ჰოსტინგი, მარკეტინგი, დომენი). 8. Key Metrics როგორ გაზომავთ წარმატებას? (რეგისტრაციები, კონვერსია, Churn rate). 9. Unfair Advantage კონკურენტული უპირატესობა, რომლის კოპირებაც რთულია (ექსკლუზიური გუნდი, პატენტი).</a:t>
            </a:r>
          </a:p>
        </p:txBody>
      </p:sp>
      <p:sp>
        <p:nvSpPr>
          <p:cNvPr id="39" name="TextBox 38"/>
          <p:cNvSpPr txBox="1"/>
          <p:nvPr/>
        </p:nvSpPr>
        <p:spPr>
          <a:xfrm>
            <a:off x="365760" y="17885664"/>
            <a:ext cx="11460175" cy="365760"/>
          </a:xfrm>
          <a:prstGeom prst="rect">
            <a:avLst/>
          </a:prstGeom>
          <a:noFill/>
        </p:spPr>
        <p:txBody>
          <a:bodyPr wrap="square">
            <a:spAutoFit/>
          </a:bodyPr>
          <a:lstStyle/>
          <a:p>
            <a:r>
              <a:rPr sz="1300"/>
              <a:t>41/47 Value Proposition Canvas: Customer Profile მომხმარებლის დეტალური შესწავლა: 👤 Customer Jobs (სამუშაოები): რა ტექნიკურ, სოციალურ თუ ემოციურ ამოცანებს ასრულებს მომხმარებელი ყოველდღიურად? ⚠️ Pains (ტკივილები) &amp; Gains (სარგებელი): Pains: რა უშლის ხელს ამ საქმის კეთებაში? რა რისკებია? Gains: რა დადებით შედეგს ელოდება წარმატების შემთხვევაში?</a:t>
            </a:r>
          </a:p>
        </p:txBody>
      </p:sp>
      <p:sp>
        <p:nvSpPr>
          <p:cNvPr id="40" name="TextBox 39"/>
          <p:cNvSpPr txBox="1"/>
          <p:nvPr/>
        </p:nvSpPr>
        <p:spPr>
          <a:xfrm>
            <a:off x="365760" y="18251424"/>
            <a:ext cx="11460175" cy="365760"/>
          </a:xfrm>
          <a:prstGeom prst="rect">
            <a:avLst/>
          </a:prstGeom>
          <a:noFill/>
        </p:spPr>
        <p:txBody>
          <a:bodyPr wrap="square">
            <a:spAutoFit/>
          </a:bodyPr>
          <a:lstStyle/>
          <a:p>
            <a:r>
              <a:rPr sz="1300"/>
              <a:t>42/47 კონკურენტების ანალიზი და Feature Matrix როგორ შევისწავლოთ კონკურენტები Perplexity-ის მეშვეობით და ვაჩვენოთ ჩვენი უპირატესობა? 📊 Feature Matrix: შედარებითი ცხრილი, რომელიც აჩვენებს თქვენი პროდუქტისა და კონკურენტების ფუნქციების, ფასისა და სუსტი მხარეების თანაფარდობას. Competitor Analysis Prompt: როლი: ბაზრის წამყვანი ანალიტიკოსი და სტარტაპ კონსულტანტი. კონტექსტი: ვამზადებ კონკურენტულ ანალიზს ჩემი სტარტაპისთვის. ჩემი პროდუქტი: [აღწერე პროდუქტი]. დავალება: მოიძიე ინტერნეტში ჩემი პროდუქტის 3 ძირითადი კონკურენტი. გამომავალი ფორმატი: 1. შეადგინე Feature Matrix ცხრილის სახით (ჩვენი პროდუქტი vs 3 კონკურენტი), სადაც შეადარებ: ფუნქციებს, საფასო მოდელს, ძლიერ და სუსტ მხარეებს. 2. მოამზადე მოკლე SWOT ანალიზი თითოეულისთვის. 3. ჩამოაყალიბე ჩვენი Unfair Advantage (უნიკალური კონკურენტული უპირატესობა).</a:t>
            </a:r>
          </a:p>
        </p:txBody>
      </p:sp>
      <p:sp>
        <p:nvSpPr>
          <p:cNvPr id="41" name="TextBox 40"/>
          <p:cNvSpPr txBox="1"/>
          <p:nvPr/>
        </p:nvSpPr>
        <p:spPr>
          <a:xfrm>
            <a:off x="365760" y="18617184"/>
            <a:ext cx="11460175" cy="365760"/>
          </a:xfrm>
          <a:prstGeom prst="rect">
            <a:avLst/>
          </a:prstGeom>
          <a:noFill/>
        </p:spPr>
        <p:txBody>
          <a:bodyPr wrap="square">
            <a:spAutoFit/>
          </a:bodyPr>
          <a:lstStyle/>
          <a:p>
            <a:r>
              <a:rPr sz="1300"/>
              <a:t>43/47 მომხმარებლის ინტერვიუს სცენარი (Customer Interview Script) როგორ ვესაუბროთ პოტენციურ მომხმარებელს, რათა მივიღოთ რეალური ინსაითები და არა ცრუ იმედები? ❌ არასწორი კითხვები: „მოგწონთ ჩემი იდეა?“ (ადამიანები მოგატყუებენ, რომ გული არ გატკინონ); „იყიდიდით ასეთ აპლიკაციას?“ (ჰიპოთეტური კითხვები არ მუშაობს). 🟢 სწორი კითხვები (The Mom Test): „როგორ წყვეტთ ამ პრობლემას დღეს?“ „ბოლოს როდის მოხდა ეს პრობლემა და რა გააკეთეთ?“ „რა იყო ყველაზე რთული ამ პროცესში და რატომ?“ ოქროს წესი: ჰკითხეთ მათ წარსულ გამოცდილებაზე და ქცევაზე და არა მომავლის გეგმებზე.</a:t>
            </a:r>
          </a:p>
        </p:txBody>
      </p:sp>
      <p:sp>
        <p:nvSpPr>
          <p:cNvPr id="42" name="TextBox 41"/>
          <p:cNvSpPr txBox="1"/>
          <p:nvPr/>
        </p:nvSpPr>
        <p:spPr>
          <a:xfrm>
            <a:off x="365760" y="18982944"/>
            <a:ext cx="11460175" cy="365760"/>
          </a:xfrm>
          <a:prstGeom prst="rect">
            <a:avLst/>
          </a:prstGeom>
          <a:noFill/>
        </p:spPr>
        <p:txBody>
          <a:bodyPr wrap="square">
            <a:spAutoFit/>
          </a:bodyPr>
          <a:lstStyle/>
          <a:p>
            <a:r>
              <a:rPr sz="1300"/>
              <a:t>44/47 The Mom Test: კითხვების ჩატარების წესები Actionable cheatsheet მომხმარებელთან ინტერვიუს სწორად წარსამართად: 🟢 დასვით ეს კითხვები (Do's) „როგორ ჭრით ამ პრობლემას ამჟამად?“ „ბოლოს როდის მოხდა ეს და კონკრეტულად რა გააკეთეთ?“ „რა იყო ამ პროცესში ყველაზე დამღლელი/ძვირი?“ „რომელი ინსტრუმენტი გამოიყენეთ ბოლოს და რა გადაიხადეთ?“ „კიდევ ვის იცნობთ, ვისაც ეს პრობლემა აწუხებს?“ 🔴 მოერიდეთ ამ კითხვებს (Don'ts) „მოგწონთ თუ არა ჩემი იდეა?“ (ყველა გეტყვით რომ მოსწონს) „იყიდიდით თუ არა ამ აპლიკაციას?“ (ჰიპოთეტური პასუხები) „რამდენს გადაიხდიდით ამ სერვისში?“ (არარეალური ციფრები) „დაგეხმარებოდათ თუ არა ეს ფუნქცია?“ (ყველაფერზე გეტვიან კი-ს) „როგორი უნდა იყოს იდეალური პროდუქტი?“ (ხალხმა არ იცის რა უნდა)</a:t>
            </a:r>
          </a:p>
        </p:txBody>
      </p:sp>
      <p:sp>
        <p:nvSpPr>
          <p:cNvPr id="43" name="TextBox 42"/>
          <p:cNvSpPr txBox="1"/>
          <p:nvPr/>
        </p:nvSpPr>
        <p:spPr>
          <a:xfrm>
            <a:off x="365760" y="19348704"/>
            <a:ext cx="11460175" cy="365760"/>
          </a:xfrm>
          <a:prstGeom prst="rect">
            <a:avLst/>
          </a:prstGeom>
          <a:noFill/>
        </p:spPr>
        <p:txBody>
          <a:bodyPr wrap="square">
            <a:spAutoFit/>
          </a:bodyPr>
          <a:lstStyle/>
          <a:p>
            <a:r>
              <a:rPr sz="1300"/>
              <a:t>45/47 Value Proposition Canvas: Value Map Alignment როგორ ერგება თქვენი პროდუქტი მომხმარებლის პროფილს? 📦 ჩვენი შეთავაზება: Products &amp; Services: ჩვენი კონკრეტული MVP პროდუქტი. Pain Relievers: როგორ ვაყუჩებთ მომხმარებლის ტკივილს? Gain Creators: როგორ ვქმნით დამატებით სარგებელს? 🎯 იდეალური მორგება (Fit): თქვენი Pain Relievers და Gain Creators ზუსტად უნდა პასუხობდნენ მომხმარებლის მიერ დასახელებულ Pains &amp; Gains-ს.</a:t>
            </a:r>
          </a:p>
        </p:txBody>
      </p:sp>
      <p:sp>
        <p:nvSpPr>
          <p:cNvPr id="44" name="TextBox 43"/>
          <p:cNvSpPr txBox="1"/>
          <p:nvPr/>
        </p:nvSpPr>
        <p:spPr>
          <a:xfrm>
            <a:off x="365760" y="19714464"/>
            <a:ext cx="11460175" cy="365760"/>
          </a:xfrm>
          <a:prstGeom prst="rect">
            <a:avLst/>
          </a:prstGeom>
          <a:noFill/>
        </p:spPr>
        <p:txBody>
          <a:bodyPr wrap="square">
            <a:spAutoFit/>
          </a:bodyPr>
          <a:lstStyle/>
          <a:p>
            <a:r>
              <a:rPr sz="1300"/>
              <a:t>46/47 Homework Part A Guidelines Day 1-ის ბოლოს გასაგზავნი დავალება (20 წუთი): 📋 დავალების ნაბიჯები: რეგისტრაცია (5 წთ): დარეგისტრირდით Lovable.dev, Supabase, Make.com, Perplexity-ზე. 1 მომხმარებლის ინტერვიუ (10 წთ): დაუსვით 3 ღია კითხვა პოტენციურ კლიენტს და ჩაწერეთ 3 Insights. Pitch-ის გამარტივება (5 წთ): ჩამოაყალიბეთ თქვენი იდეა 1 წინადადებაში. 📧 გაგზავნის წესი: გამოიყენეთ `day1_homework_template.md` და გამოაგზავნეთ მეილზე შაბათს დილის 10:00 საათამდე.</a:t>
            </a:r>
          </a:p>
        </p:txBody>
      </p:sp>
      <p:sp>
        <p:nvSpPr>
          <p:cNvPr id="45" name="TextBox 44"/>
          <p:cNvSpPr txBox="1"/>
          <p:nvPr/>
        </p:nvSpPr>
        <p:spPr>
          <a:xfrm>
            <a:off x="365760" y="20080224"/>
            <a:ext cx="11460175" cy="365760"/>
          </a:xfrm>
          <a:prstGeom prst="rect">
            <a:avLst/>
          </a:prstGeom>
          <a:noFill/>
        </p:spPr>
        <p:txBody>
          <a:bodyPr wrap="square">
            <a:spAutoFit/>
          </a:bodyPr>
          <a:lstStyle/>
          <a:p>
            <a:r>
              <a:rPr sz="1300"/>
              <a:t>47/47 Day 1 Wrap-up &amp; Checklist გილოცავთ! Day 1-ის ძირითადი ეტაპები დასრულებულია: იდეაცია SCAMPER და 5 Whys ტექნიკით იდეები გაღრმავდა. ვალიდაცია Lean Canvas და VPC-ით ბიზნეს მოდელი მზად არის. 🚀 მზადება ხვალისთვის ხვალ ავაწყობთ რეალურ MVP საიტს Lovable-ში და Make.com-ის ავტომატიზაციას. შევხვდებით ხვალ 10:00 საათზე!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Elevator Pitch Sector Examples</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Elevator Pitch-ის მაგალითები სხვადასხვა სექტორისთვის:</a:t>
            </a:r>
          </a:p>
        </p:txBody>
      </p:sp>
      <p:sp>
        <p:nvSpPr>
          <p:cNvPr id="4" name="Rounded Rectangle 3"/>
          <p:cNvSpPr/>
          <p:nvPr/>
        </p:nvSpPr>
        <p:spPr>
          <a:xfrm>
            <a:off x="365760"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 AgriTech:</a:t>
            </a:r>
          </a:p>
          <a:p>
            <a:r>
              <a:rPr sz="1200">
                <a:solidFill>
                  <a:srgbClr val="333333"/>
                </a:solidFill>
              </a:rPr>
              <a:t>„ჩვენი AI ირიგატორი ეხმარება ფერმერებს, რომელთაც სურთ წყლის ხარჯების შემცირება, რადგან სენსორულ მონაცემებზე დაყრდნობით ავტომატურად რწყავს მიწას.“</a:t>
            </a:r>
          </a:p>
        </p:txBody>
      </p:sp>
      <p:sp>
        <p:nvSpPr>
          <p:cNvPr id="5" name="Rounded Rectangle 4"/>
          <p:cNvSpPr/>
          <p:nvPr/>
        </p:nvSpPr>
        <p:spPr>
          <a:xfrm>
            <a:off x="4231538"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 FinTech:</a:t>
            </a:r>
          </a:p>
          <a:p>
            <a:r>
              <a:rPr sz="1200">
                <a:solidFill>
                  <a:srgbClr val="333333"/>
                </a:solidFill>
              </a:rPr>
              <a:t>„ჩვენი AI ბუღალტერია ეხმარება მცირე მეწარმეებს, რომელთაც ეშინიათ საგადასახადო ჯარიმების, რადგან დეკლარაციებს 1 წამში აგენერირებს.“</a:t>
            </a:r>
          </a:p>
        </p:txBody>
      </p:sp>
      <p:sp>
        <p:nvSpPr>
          <p:cNvPr id="6" name="Rounded Rectangle 5"/>
          <p:cNvSpPr/>
          <p:nvPr/>
        </p:nvSpPr>
        <p:spPr>
          <a:xfrm>
            <a:off x="8097316"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 HealthTech:</a:t>
            </a:r>
          </a:p>
          <a:p>
            <a:r>
              <a:rPr sz="1200">
                <a:solidFill>
                  <a:srgbClr val="333333"/>
                </a:solidFill>
              </a:rPr>
              <a:t>„ჩვენი აპლიკაცია ეხმარება ხანდაზმულ პაციენტებს, რომელთაც წამლების მიღება ავიწყდებათ, რადგან ავტომატურად უგზავნის შეხსენებას და აწვდის წამლებს სახლში.“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LLM-ების მუშაობის პრინციპი: Transformer, Training &amp; Inference</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როგორ ამუშავებს და აგენერირებს ტექსტს თანამედროვე ხელოვნური ინტელექტი?</a:t>
            </a:r>
          </a:p>
        </p:txBody>
      </p:sp>
      <p:sp>
        <p:nvSpPr>
          <p:cNvPr id="4" name="Rounded Rectangle 3"/>
          <p:cNvSpPr/>
          <p:nvPr/>
        </p:nvSpPr>
        <p:spPr>
          <a:xfrm>
            <a:off x="365760" y="1463040"/>
            <a:ext cx="5638647" cy="23774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3A8A"/>
                </a:solidFill>
              </a:rPr>
              <a:t>🧠 Transformer &amp; Attention:</a:t>
            </a:r>
          </a:p>
          <a:p>
            <a:r>
              <a:rPr sz="1200">
                <a:solidFill>
                  <a:srgbClr val="333333"/>
                </a:solidFill>
              </a:rPr>
              <a:t>Transformer არქიტექტურა (Attention Mechanism) საშუალებას აძლევს მოდელს ერთდროულად დაინახოს მთელი წინადადება და განსაზღვროს სიტყვების მნიშვნელობა კონტექსტში.</a:t>
            </a:r>
          </a:p>
        </p:txBody>
      </p:sp>
      <p:sp>
        <p:nvSpPr>
          <p:cNvPr id="5" name="Rounded Rectangle 4"/>
          <p:cNvSpPr/>
          <p:nvPr/>
        </p:nvSpPr>
        <p:spPr>
          <a:xfrm>
            <a:off x="6187287" y="1463040"/>
            <a:ext cx="5638647" cy="2377440"/>
          </a:xfrm>
          <a:prstGeom prst="roundRect">
            <a:avLst>
              <a:gd name="adj" fmla="val 4000"/>
            </a:avLst>
          </a:prstGeom>
          <a:solidFill>
            <a:srgbClr val="F1F8E9"/>
          </a:solidFill>
          <a:ln w="190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4532D"/>
                </a:solidFill>
              </a:rPr>
              <a:t>⚙️ Training Pipeline:</a:t>
            </a:r>
          </a:p>
          <a:p>
            <a:r>
              <a:rPr sz="1200">
                <a:solidFill>
                  <a:srgbClr val="333333"/>
                </a:solidFill>
              </a:rPr>
              <a:t>• Pre-training: მოდელი სწავლობს ენის სტრუქტურას ინტერნეტის მილიარდობით ტექსტზე.</a:t>
            </a:r>
          </a:p>
          <a:p>
            <a:r>
              <a:rPr sz="1200">
                <a:solidFill>
                  <a:srgbClr val="333333"/>
                </a:solidFill>
              </a:rPr>
              <a:t>• Fine-tuning: მოდელის მორგება კონკრეტული ამოცანების შესასრულებლად.</a:t>
            </a:r>
          </a:p>
          <a:p>
            <a:r>
              <a:rPr sz="1200">
                <a:solidFill>
                  <a:srgbClr val="333333"/>
                </a:solidFill>
              </a:rPr>
              <a:t>• RLHF (ადამიანური უკუკავშირი): მოდელის ქცევის კორექტირება ადამიანების შეფასებების მიხედვით.</a:t>
            </a:r>
          </a:p>
        </p:txBody>
      </p:sp>
      <p:sp>
        <p:nvSpPr>
          <p:cNvPr id="6" name="TextBox 5"/>
          <p:cNvSpPr txBox="1"/>
          <p:nvPr/>
        </p:nvSpPr>
        <p:spPr>
          <a:xfrm>
            <a:off x="365760" y="3977640"/>
            <a:ext cx="11460175" cy="457200"/>
          </a:xfrm>
          <a:prstGeom prst="rect">
            <a:avLst/>
          </a:prstGeom>
          <a:noFill/>
        </p:spPr>
        <p:txBody>
          <a:bodyPr wrap="square">
            <a:spAutoFit/>
          </a:bodyPr>
          <a:lstStyle/>
          <a:p>
            <a:r>
              <a:rPr sz="1400">
                <a:solidFill>
                  <a:srgbClr val="475569"/>
                </a:solidFill>
              </a:rPr>
              <a:t>Inference (გენერაცია): AI ყოველ ჯერზე აგენერირებს მხოლოდ მომდევნო სიმბოლოს/სიტყვას (Token) ალბათობის მიხედვით.</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AI ლანდშაფტი 2026: Frontier, Reasoning &amp; Agentic AI</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ხელოვნური ინტელექტის ოთხი ძირითადი კატეგორია და მიმართულება დღეს:</a:t>
            </a:r>
          </a:p>
        </p:txBody>
      </p:sp>
      <p:sp>
        <p:nvSpPr>
          <p:cNvPr id="4" name="Rounded Rectangle 3"/>
          <p:cNvSpPr/>
          <p:nvPr/>
        </p:nvSpPr>
        <p:spPr>
          <a:xfrm>
            <a:off x="365760"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 Frontier Models</a:t>
            </a:r>
          </a:p>
          <a:p>
            <a:r>
              <a:rPr sz="1200">
                <a:solidFill>
                  <a:srgbClr val="333333"/>
                </a:solidFill>
              </a:rPr>
              <a:t>ზოგადი და უნივერსალური მოდელები: GPT-5.6 Sol, Claude Sonnet 5, Gemini 3.5 Pro. გამოიყენება კოპირაითინგისთვის, ანალიზისა და თარგმნისთვის.</a:t>
            </a:r>
          </a:p>
        </p:txBody>
      </p:sp>
      <p:sp>
        <p:nvSpPr>
          <p:cNvPr id="5" name="Rounded Rectangle 4"/>
          <p:cNvSpPr/>
          <p:nvPr/>
        </p:nvSpPr>
        <p:spPr>
          <a:xfrm>
            <a:off x="4231538"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 Reasoning Models</a:t>
            </a:r>
          </a:p>
          <a:p>
            <a:r>
              <a:rPr sz="1200">
                <a:solidFill>
                  <a:srgbClr val="333333"/>
                </a:solidFill>
              </a:rPr>
              <a:t>ლოგიკური აზროვნების მოდელები: o1 / o3, DeepSeek R1, Claude Sonnet with Extended Thinking. იდეალურია რთული მათემატიკისთვის, კოდირებისა და სტრატეგიისთვის.</a:t>
            </a:r>
          </a:p>
        </p:txBody>
      </p:sp>
      <p:sp>
        <p:nvSpPr>
          <p:cNvPr id="6" name="Rounded Rectangle 5"/>
          <p:cNvSpPr/>
          <p:nvPr/>
        </p:nvSpPr>
        <p:spPr>
          <a:xfrm>
            <a:off x="8097316"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 Agentic AI</a:t>
            </a:r>
          </a:p>
          <a:p>
            <a:r>
              <a:rPr sz="1200">
                <a:solidFill>
                  <a:srgbClr val="333333"/>
                </a:solidFill>
              </a:rPr>
              <a:t>ავტონომიური AI აგენტები (Manus, Devin), რომლებსაც შეუძლიათ დამოუკიდებლად გამოიყენონ ბრაუზერი და კომპიუტერი ამოცანების დასასრულებლად.</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LLM-ების რეიტინგი: lmarena.ai &amp; ELO Rating</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როგორ განვსაზღვროთ რომელი მოდელია რეალურად საუკეთესო თქვენი ბიზნესისთვის?</a:t>
            </a:r>
          </a:p>
        </p:txBody>
      </p:sp>
      <p:sp>
        <p:nvSpPr>
          <p:cNvPr id="4" name="Rounded Rectangle 3"/>
          <p:cNvSpPr/>
          <p:nvPr/>
        </p:nvSpPr>
        <p:spPr>
          <a:xfrm>
            <a:off x="365760" y="1463040"/>
            <a:ext cx="5638647" cy="23774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3A8A"/>
                </a:solidFill>
              </a:rPr>
              <a:t>📊 lmarena.ai (Chatbot Arena):</a:t>
            </a:r>
          </a:p>
          <a:p>
            <a:r>
              <a:rPr sz="1200">
                <a:solidFill>
                  <a:srgbClr val="333333"/>
                </a:solidFill>
              </a:rPr>
              <a:t>დამოუკიდებელი პლატფორმა, სადაც მიმდინარეობს მოდელების „ბრმა“ შედარება ადამიანის მიერ (A/B testing). რეიტინგი ითვლება ჭადრაკის ELO სისტემით.</a:t>
            </a:r>
          </a:p>
        </p:txBody>
      </p:sp>
      <p:sp>
        <p:nvSpPr>
          <p:cNvPr id="5" name="Rounded Rectangle 4"/>
          <p:cNvSpPr/>
          <p:nvPr/>
        </p:nvSpPr>
        <p:spPr>
          <a:xfrm>
            <a:off x="6187287" y="1463040"/>
            <a:ext cx="5638647" cy="2377440"/>
          </a:xfrm>
          <a:prstGeom prst="roundRect">
            <a:avLst>
              <a:gd name="adj" fmla="val 4000"/>
            </a:avLst>
          </a:prstGeom>
          <a:solidFill>
            <a:srgbClr val="F1F8E9"/>
          </a:solidFill>
          <a:ln w="190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4532D"/>
                </a:solidFill>
              </a:rPr>
              <a:t>🏆 2026 წლის Top Rankings:</a:t>
            </a:r>
          </a:p>
          <a:p>
            <a:r>
              <a:rPr sz="1200">
                <a:solidFill>
                  <a:srgbClr val="333333"/>
                </a:solidFill>
              </a:rPr>
              <a:t>• GPT-5.6 Sol: ~1420 ELO (ლიდერი ზოგად ლოგიკაში)</a:t>
            </a:r>
          </a:p>
          <a:p>
            <a:r>
              <a:rPr sz="1200">
                <a:solidFill>
                  <a:srgbClr val="333333"/>
                </a:solidFill>
              </a:rPr>
              <a:t>• Claude Sonnet 5: ~1390 ELO (საუკეთესო კოდში/ტექსტში)</a:t>
            </a:r>
          </a:p>
          <a:p>
            <a:r>
              <a:rPr sz="1200">
                <a:solidFill>
                  <a:srgbClr val="333333"/>
                </a:solidFill>
              </a:rPr>
              <a:t>• Gemini 3.5 Pro: ~1350 ELO (საუკეთესო მულტიმედიაში)</a:t>
            </a:r>
          </a:p>
          <a:p>
            <a:r>
              <a:rPr sz="1200">
                <a:solidFill>
                  <a:srgbClr val="333333"/>
                </a:solidFill>
              </a:rPr>
              <a:t>• DeepSeek R1: ~1240 ELO (საუკეთესო ლოგიკა/ფასი)</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ვიზუალური AI-ის რეიტინგი: designarena.ai</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საუკეთესო ხელსაწყოების რეიტინგი გრაფიკისა და ბრენდინგის შესაქმნელად:</a:t>
            </a:r>
          </a:p>
        </p:txBody>
      </p:sp>
      <p:sp>
        <p:nvSpPr>
          <p:cNvPr id="4" name="Rounded Rectangle 3"/>
          <p:cNvSpPr/>
          <p:nvPr/>
        </p:nvSpPr>
        <p:spPr>
          <a:xfrm>
            <a:off x="365760"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 Ideogram v3/v4</a:t>
            </a:r>
          </a:p>
          <a:p>
            <a:r>
              <a:rPr sz="1200">
                <a:solidFill>
                  <a:srgbClr val="333333"/>
                </a:solidFill>
              </a:rPr>
              <a:t>რეიტინგი: #1 ლოგოებისთვის. საუკეთესოდ აინტეგრირებს ტექსტს სურათებში, იდეალურია სტარტაპის ლოგოსა და სლოგანისთვის.</a:t>
            </a:r>
          </a:p>
        </p:txBody>
      </p:sp>
      <p:sp>
        <p:nvSpPr>
          <p:cNvPr id="5" name="Rounded Rectangle 4"/>
          <p:cNvSpPr/>
          <p:nvPr/>
        </p:nvSpPr>
        <p:spPr>
          <a:xfrm>
            <a:off x="4231538"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 Flux.2 / Flux 1.1 Pro</a:t>
            </a:r>
          </a:p>
          <a:p>
            <a:r>
              <a:rPr sz="1200">
                <a:solidFill>
                  <a:srgbClr val="333333"/>
                </a:solidFill>
              </a:rPr>
              <a:t>რეიტინგი: #1 ფოტო-რეალიზმში. საუკეთესოდ გადმოსცემს ადამიანის ანატომიას, ტექსტურებსა და პროფესიონალურ ფოტოგადაღების სტილს.</a:t>
            </a:r>
          </a:p>
        </p:txBody>
      </p:sp>
      <p:sp>
        <p:nvSpPr>
          <p:cNvPr id="6" name="Rounded Rectangle 5"/>
          <p:cNvSpPr/>
          <p:nvPr/>
        </p:nvSpPr>
        <p:spPr>
          <a:xfrm>
            <a:off x="8097316"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 Midjourney V8.1</a:t>
            </a:r>
          </a:p>
          <a:p>
            <a:r>
              <a:rPr sz="1200">
                <a:solidFill>
                  <a:srgbClr val="333333"/>
                </a:solidFill>
              </a:rPr>
              <a:t>რეიტინგი: #1 ილუსტრაციებში. საუკეთესოა კრეატიული კონცეფტ-არტის, 3D რენდერებისა და მხატვრული სურათებისთვის.</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C.R.E.A.T.E. პრომპტინგის ჩარჩო</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უნივერსალური 6-ელემენტიანი მეთოდოლოგია პროფესიონალური პრომპტების დასაწერად:</a:t>
            </a:r>
          </a:p>
        </p:txBody>
      </p:sp>
      <p:graphicFrame>
        <p:nvGraphicFramePr>
          <p:cNvPr id="4" name="Table 3"/>
          <p:cNvGraphicFramePr>
            <a:graphicFrameLocks noGrp="1"/>
          </p:cNvGraphicFramePr>
          <p:nvPr/>
        </p:nvGraphicFramePr>
        <p:xfrm>
          <a:off x="365760" y="1463040"/>
          <a:ext cx="11460175" cy="2688336"/>
        </p:xfrm>
        <a:graphic>
          <a:graphicData uri="http://schemas.openxmlformats.org/drawingml/2006/table">
            <a:tbl>
              <a:tblPr firstRow="1" bandRow="1">
                <a:tableStyleId>{5C22544A-7EE6-4342-B048-85BDC9FD1C3A}</a:tableStyleId>
              </a:tblPr>
              <a:tblGrid>
                <a:gridCol w="3820058"/>
                <a:gridCol w="3820058"/>
                <a:gridCol w="3820059"/>
              </a:tblGrid>
              <a:tr h="384048">
                <a:tc>
                  <a:txBody>
                    <a:bodyPr/>
                    <a:lstStyle/>
                    <a:p>
                      <a:pPr>
                        <a:defRPr sz="1200" b="1"/>
                      </a:pPr>
                      <a:r>
                        <a:t>ელემენტი</a:t>
                      </a:r>
                    </a:p>
                  </a:txBody>
                  <a:tcPr/>
                </a:tc>
                <a:tc>
                  <a:txBody>
                    <a:bodyPr/>
                    <a:lstStyle/>
                    <a:p>
                      <a:pPr>
                        <a:defRPr sz="1200" b="1"/>
                      </a:pPr>
                      <a:r>
                        <a:t>განმარტება</a:t>
                      </a:r>
                    </a:p>
                  </a:txBody>
                  <a:tcPr/>
                </a:tc>
                <a:tc>
                  <a:txBody>
                    <a:bodyPr/>
                    <a:lstStyle/>
                    <a:p>
                      <a:pPr>
                        <a:defRPr sz="1200" b="1"/>
                      </a:pPr>
                      <a:r>
                        <a:t>მაგალითი</a:t>
                      </a:r>
                    </a:p>
                  </a:txBody>
                  <a:tcPr/>
                </a:tc>
              </a:tr>
              <a:tr h="384048">
                <a:tc>
                  <a:txBody>
                    <a:bodyPr/>
                    <a:lstStyle/>
                    <a:p>
                      <a:pPr>
                        <a:defRPr sz="1200"/>
                      </a:pPr>
                      <a:r>
                        <a:t>C - Context</a:t>
                      </a:r>
                    </a:p>
                  </a:txBody>
                  <a:tcPr/>
                </a:tc>
                <a:tc>
                  <a:txBody>
                    <a:bodyPr/>
                    <a:lstStyle/>
                    <a:p>
                      <a:pPr>
                        <a:defRPr sz="1200"/>
                      </a:pPr>
                      <a:r>
                        <a:t>ბექგრაუნდი და როლი</a:t>
                      </a:r>
                    </a:p>
                  </a:txBody>
                  <a:tcPr/>
                </a:tc>
                <a:tc>
                  <a:txBody>
                    <a:bodyPr/>
                    <a:lstStyle/>
                    <a:p>
                      <a:pPr>
                        <a:defRPr sz="1200"/>
                      </a:pPr>
                      <a:r>
                        <a:t>„იმოქმედე, როგორც გამოცდილი ფინანსისტი...“</a:t>
                      </a:r>
                    </a:p>
                  </a:txBody>
                  <a:tcPr/>
                </a:tc>
              </a:tr>
              <a:tr h="384048">
                <a:tc>
                  <a:txBody>
                    <a:bodyPr/>
                    <a:lstStyle/>
                    <a:p>
                      <a:pPr>
                        <a:defRPr sz="1200"/>
                      </a:pPr>
                      <a:r>
                        <a:t>R - Request</a:t>
                      </a:r>
                    </a:p>
                  </a:txBody>
                  <a:tcPr/>
                </a:tc>
                <a:tc>
                  <a:txBody>
                    <a:bodyPr/>
                    <a:lstStyle/>
                    <a:p>
                      <a:pPr>
                        <a:defRPr sz="1200"/>
                      </a:pPr>
                      <a:r>
                        <a:t>ზუსტი დავალება</a:t>
                      </a:r>
                    </a:p>
                  </a:txBody>
                  <a:tcPr/>
                </a:tc>
                <a:tc>
                  <a:txBody>
                    <a:bodyPr/>
                    <a:lstStyle/>
                    <a:p>
                      <a:pPr>
                        <a:defRPr sz="1200"/>
                      </a:pPr>
                      <a:r>
                        <a:t>„დამიწერე საინვესტიციო წინადადება...“</a:t>
                      </a:r>
                    </a:p>
                  </a:txBody>
                  <a:tcPr/>
                </a:tc>
              </a:tr>
              <a:tr h="384048">
                <a:tc>
                  <a:txBody>
                    <a:bodyPr/>
                    <a:lstStyle/>
                    <a:p>
                      <a:pPr>
                        <a:defRPr sz="1200"/>
                      </a:pPr>
                      <a:r>
                        <a:t>E - Explanation</a:t>
                      </a:r>
                    </a:p>
                  </a:txBody>
                  <a:tcPr/>
                </a:tc>
                <a:tc>
                  <a:txBody>
                    <a:bodyPr/>
                    <a:lstStyle/>
                    <a:p>
                      <a:pPr>
                        <a:defRPr sz="1200"/>
                      </a:pPr>
                      <a:r>
                        <a:t>დეტალები და მიზანი</a:t>
                      </a:r>
                    </a:p>
                  </a:txBody>
                  <a:tcPr/>
                </a:tc>
                <a:tc>
                  <a:txBody>
                    <a:bodyPr/>
                    <a:lstStyle/>
                    <a:p>
                      <a:pPr>
                        <a:defRPr sz="1200"/>
                      </a:pPr>
                      <a:r>
                        <a:t>„მიზანია დავარწმუნოთ ანგელოზი ინვესტორი...“</a:t>
                      </a:r>
                    </a:p>
                  </a:txBody>
                  <a:tcPr/>
                </a:tc>
              </a:tr>
              <a:tr h="384048">
                <a:tc>
                  <a:txBody>
                    <a:bodyPr/>
                    <a:lstStyle/>
                    <a:p>
                      <a:pPr>
                        <a:defRPr sz="1200"/>
                      </a:pPr>
                      <a:r>
                        <a:t>A - Action</a:t>
                      </a:r>
                    </a:p>
                  </a:txBody>
                  <a:tcPr/>
                </a:tc>
                <a:tc>
                  <a:txBody>
                    <a:bodyPr/>
                    <a:lstStyle/>
                    <a:p>
                      <a:pPr>
                        <a:defRPr sz="1200"/>
                      </a:pPr>
                      <a:r>
                        <a:t>ნაბიჯები და წესები</a:t>
                      </a:r>
                    </a:p>
                  </a:txBody>
                  <a:tcPr/>
                </a:tc>
                <a:tc>
                  <a:txBody>
                    <a:bodyPr/>
                    <a:lstStyle/>
                    <a:p>
                      <a:pPr>
                        <a:defRPr sz="1200"/>
                      </a:pPr>
                      <a:r>
                        <a:t>„გამოიყენე მარტივი ენა, წერე მოკლედ...“</a:t>
                      </a:r>
                    </a:p>
                  </a:txBody>
                  <a:tcPr/>
                </a:tc>
              </a:tr>
              <a:tr h="384048">
                <a:tc>
                  <a:txBody>
                    <a:bodyPr/>
                    <a:lstStyle/>
                    <a:p>
                      <a:pPr>
                        <a:defRPr sz="1200"/>
                      </a:pPr>
                      <a:r>
                        <a:t>T - Target</a:t>
                      </a:r>
                    </a:p>
                  </a:txBody>
                  <a:tcPr/>
                </a:tc>
                <a:tc>
                  <a:txBody>
                    <a:bodyPr/>
                    <a:lstStyle/>
                    <a:p>
                      <a:pPr>
                        <a:defRPr sz="1200"/>
                      </a:pPr>
                      <a:r>
                        <a:t>ფორმატი და სტრუქტურა</a:t>
                      </a:r>
                    </a:p>
                  </a:txBody>
                  <a:tcPr/>
                </a:tc>
                <a:tc>
                  <a:txBody>
                    <a:bodyPr/>
                    <a:lstStyle/>
                    <a:p>
                      <a:pPr>
                        <a:defRPr sz="1200"/>
                      </a:pPr>
                      <a:r>
                        <a:t>„წარმოადგინე 3 აბზაცის სახით...“</a:t>
                      </a:r>
                    </a:p>
                  </a:txBody>
                  <a:tcPr/>
                </a:tc>
              </a:tr>
              <a:tr h="384048">
                <a:tc>
                  <a:txBody>
                    <a:bodyPr/>
                    <a:lstStyle/>
                    <a:p>
                      <a:pPr>
                        <a:defRPr sz="1200"/>
                      </a:pPr>
                      <a:r>
                        <a:t>E - Extras</a:t>
                      </a:r>
                    </a:p>
                  </a:txBody>
                  <a:tcPr/>
                </a:tc>
                <a:tc>
                  <a:txBody>
                    <a:bodyPr/>
                    <a:lstStyle/>
                    <a:p>
                      <a:pPr>
                        <a:defRPr sz="1200"/>
                      </a:pPr>
                      <a:r>
                        <a:t>მაგალითები/ტონი</a:t>
                      </a:r>
                    </a:p>
                  </a:txBody>
                  <a:tcPr/>
                </a:tc>
                <a:tc>
                  <a:txBody>
                    <a:bodyPr/>
                    <a:lstStyle/>
                    <a:p>
                      <a:pPr>
                        <a:defRPr sz="1200"/>
                      </a:pPr>
                      <a:r>
                        <a:t>„ტონი: თავდაჯერებული. მაგალითი: ...“</a:t>
                      </a:r>
                    </a:p>
                  </a:txBody>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Day 1: Goals &amp; Deliverables</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დღეს ჩვენ შევქმნით შემდეგ ხელშესახებ შედეგებს (Deliverables):</a:t>
            </a:r>
          </a:p>
        </p:txBody>
      </p:sp>
      <p:graphicFrame>
        <p:nvGraphicFramePr>
          <p:cNvPr id="4" name="Table 3"/>
          <p:cNvGraphicFramePr>
            <a:graphicFrameLocks noGrp="1"/>
          </p:cNvGraphicFramePr>
          <p:nvPr/>
        </p:nvGraphicFramePr>
        <p:xfrm>
          <a:off x="365760" y="1463040"/>
          <a:ext cx="11460175" cy="1536192"/>
        </p:xfrm>
        <a:graphic>
          <a:graphicData uri="http://schemas.openxmlformats.org/drawingml/2006/table">
            <a:tbl>
              <a:tblPr firstRow="1" bandRow="1">
                <a:tableStyleId>{5C22544A-7EE6-4342-B048-85BDC9FD1C3A}</a:tableStyleId>
              </a:tblPr>
              <a:tblGrid>
                <a:gridCol w="3820058"/>
                <a:gridCol w="3820058"/>
                <a:gridCol w="3820059"/>
              </a:tblGrid>
              <a:tr h="384048">
                <a:tc>
                  <a:txBody>
                    <a:bodyPr/>
                    <a:lstStyle/>
                    <a:p>
                      <a:pPr>
                        <a:defRPr sz="1200" b="1"/>
                      </a:pPr>
                      <a:r>
                        <a:t>ბლოკი</a:t>
                      </a:r>
                    </a:p>
                  </a:txBody>
                  <a:tcPr/>
                </a:tc>
                <a:tc>
                  <a:txBody>
                    <a:bodyPr/>
                    <a:lstStyle/>
                    <a:p>
                      <a:pPr>
                        <a:defRPr sz="1200" b="1"/>
                      </a:pPr>
                      <a:r>
                        <a:t>აქტივობა</a:t>
                      </a:r>
                    </a:p>
                  </a:txBody>
                  <a:tcPr/>
                </a:tc>
                <a:tc>
                  <a:txBody>
                    <a:bodyPr/>
                    <a:lstStyle/>
                    <a:p>
                      <a:pPr>
                        <a:defRPr sz="1200" b="1"/>
                      </a:pPr>
                      <a:r>
                        <a:t>შედეგი (Output)</a:t>
                      </a:r>
                    </a:p>
                  </a:txBody>
                  <a:tcPr/>
                </a:tc>
              </a:tr>
              <a:tr h="384048">
                <a:tc>
                  <a:txBody>
                    <a:bodyPr/>
                    <a:lstStyle/>
                    <a:p>
                      <a:pPr>
                        <a:defRPr sz="1200"/>
                      </a:pPr>
                      <a:r>
                        <a:t>Block III</a:t>
                      </a:r>
                    </a:p>
                  </a:txBody>
                  <a:tcPr/>
                </a:tc>
                <a:tc>
                  <a:txBody>
                    <a:bodyPr/>
                    <a:lstStyle/>
                    <a:p>
                      <a:pPr>
                        <a:defRPr sz="1200"/>
                      </a:pPr>
                      <a:r>
                        <a:t>Brainstorming &amp; SCAMPER</a:t>
                      </a:r>
                    </a:p>
                  </a:txBody>
                  <a:tcPr/>
                </a:tc>
                <a:tc>
                  <a:txBody>
                    <a:bodyPr/>
                    <a:lstStyle/>
                    <a:p>
                      <a:pPr>
                        <a:defRPr sz="1200"/>
                      </a:pPr>
                      <a:r>
                        <a:t>10+ იდეის მუტაცია და ფილტრაცია</a:t>
                      </a:r>
                    </a:p>
                  </a:txBody>
                  <a:tcPr/>
                </a:tc>
              </a:tr>
              <a:tr h="384048">
                <a:tc>
                  <a:txBody>
                    <a:bodyPr/>
                    <a:lstStyle/>
                    <a:p>
                      <a:pPr>
                        <a:defRPr sz="1200"/>
                      </a:pPr>
                      <a:r>
                        <a:t>Block IV</a:t>
                      </a:r>
                    </a:p>
                  </a:txBody>
                  <a:tcPr/>
                </a:tc>
                <a:tc>
                  <a:txBody>
                    <a:bodyPr/>
                    <a:lstStyle/>
                    <a:p>
                      <a:pPr>
                        <a:defRPr sz="1200"/>
                      </a:pPr>
                      <a:r>
                        <a:t>Lean Canvas &amp; VPC</a:t>
                      </a:r>
                    </a:p>
                  </a:txBody>
                  <a:tcPr/>
                </a:tc>
                <a:tc>
                  <a:txBody>
                    <a:bodyPr/>
                    <a:lstStyle/>
                    <a:p>
                      <a:pPr>
                        <a:defRPr sz="1200"/>
                      </a:pPr>
                      <a:r>
                        <a:t>შევსებული Lean Canvas + JTBD Personas</a:t>
                      </a:r>
                    </a:p>
                  </a:txBody>
                  <a:tcPr/>
                </a:tc>
              </a:tr>
              <a:tr h="384048">
                <a:tc>
                  <a:txBody>
                    <a:bodyPr/>
                    <a:lstStyle/>
                    <a:p>
                      <a:pPr>
                        <a:defRPr sz="1200"/>
                      </a:pPr>
                      <a:r>
                        <a:t>Block V</a:t>
                      </a:r>
                    </a:p>
                  </a:txBody>
                  <a:tcPr/>
                </a:tc>
                <a:tc>
                  <a:txBody>
                    <a:bodyPr/>
                    <a:lstStyle/>
                    <a:p>
                      <a:pPr>
                        <a:defRPr sz="1200"/>
                      </a:pPr>
                      <a:r>
                        <a:t>Interview Design</a:t>
                      </a:r>
                    </a:p>
                  </a:txBody>
                  <a:tcPr/>
                </a:tc>
                <a:tc>
                  <a:txBody>
                    <a:bodyPr/>
                    <a:lstStyle/>
                    <a:p>
                      <a:pPr>
                        <a:defRPr sz="1200"/>
                      </a:pPr>
                      <a:r>
                        <a:t>5-7 ღია კითხვა მომხმარებელთან საუბრისთვის</a:t>
                      </a:r>
                    </a:p>
                  </a:txBody>
                  <a:tcPr/>
                </a:tc>
              </a:tr>
            </a:tbl>
          </a:graphicData>
        </a:graphic>
      </p:graphicFrame>
      <p:sp>
        <p:nvSpPr>
          <p:cNvPr id="5" name="Rounded Rectangle 4"/>
          <p:cNvSpPr/>
          <p:nvPr/>
        </p:nvSpPr>
        <p:spPr>
          <a:xfrm>
            <a:off x="365760" y="3090672"/>
            <a:ext cx="11460175" cy="1463040"/>
          </a:xfrm>
          <a:prstGeom prst="roundRect">
            <a:avLst>
              <a:gd name="adj" fmla="val 4000"/>
            </a:avLst>
          </a:prstGeom>
          <a:solidFill>
            <a:srgbClr val="F1F8E9"/>
          </a:solidFill>
          <a:ln w="190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sz="1300">
                <a:solidFill>
                  <a:srgbClr val="333333"/>
                </a:solidFill>
              </a:rPr>
              <a:t>💡 მიზანი: დღის ბოლოს გქონდეთ მზა ბიზნეს მოდელი და ვალიდაციის გეგმა, რათა ხვალ დაიწყოთ MVP-ს აწყობა.</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Myth 1: Innovation requires uniqueness</a:t>
            </a:r>
          </a:p>
        </p:txBody>
      </p:sp>
      <p:sp>
        <p:nvSpPr>
          <p:cNvPr id="3" name="Rounded Rectangle 2"/>
          <p:cNvSpPr/>
          <p:nvPr/>
        </p:nvSpPr>
        <p:spPr>
          <a:xfrm>
            <a:off x="365760" y="1051560"/>
            <a:ext cx="5638647" cy="2377440"/>
          </a:xfrm>
          <a:prstGeom prst="roundRect">
            <a:avLst>
              <a:gd name="adj" fmla="val 4000"/>
            </a:avLst>
          </a:prstGeom>
          <a:solidFill>
            <a:srgbClr val="FEE2E2"/>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7F1D1D"/>
                </a:solidFill>
              </a:rPr>
              <a:t>❌ მითი #1: იდეა აუცილებლად სრულიად ახალი და უნიკალური უნდა იყოს ბაზარზე</a:t>
            </a:r>
          </a:p>
          <a:p>
            <a:r>
              <a:rPr sz="1200">
                <a:solidFill>
                  <a:srgbClr val="333333"/>
                </a:solidFill>
              </a:rPr>
              <a:t>სტარტაპერები ხშირად უარს ამბობენ იდეაზე, თუ მსგავსი პროდუქტი უკვე არსებობს.</a:t>
            </a:r>
          </a:p>
        </p:txBody>
      </p:sp>
      <p:sp>
        <p:nvSpPr>
          <p:cNvPr id="4" name="Rounded Rectangle 3"/>
          <p:cNvSpPr/>
          <p:nvPr/>
        </p:nvSpPr>
        <p:spPr>
          <a:xfrm>
            <a:off x="6187287" y="1051560"/>
            <a:ext cx="5638647" cy="2377440"/>
          </a:xfrm>
          <a:prstGeom prst="roundRect">
            <a:avLst>
              <a:gd name="adj" fmla="val 4000"/>
            </a:avLst>
          </a:prstGeom>
          <a:solidFill>
            <a:srgbClr val="D1FAE5"/>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064E3B"/>
                </a:solidFill>
              </a:rPr>
              <a:t>🟢 რეალობა: შესრულება (Execution) უფრო მნიშვნელოვანია</a:t>
            </a:r>
          </a:p>
          <a:p>
            <a:r>
              <a:rPr sz="1200">
                <a:solidFill>
                  <a:srgbClr val="333333"/>
                </a:solidFill>
              </a:rPr>
              <a:t>წარმატებული სტარტაპების უმრავლესობა არსებულ ბაზარზე მცირე მუტაციით (SCAMPER) და უკეთესი სერვისით იმარჯვებს. მაგალითად: Google არ ყოფილა პირველი საძიებო სისტემა, ხოლო Facebook - პირველი სოციალური ქსელი.</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Myth 2: MVP requires developers</a:t>
            </a:r>
          </a:p>
        </p:txBody>
      </p:sp>
      <p:sp>
        <p:nvSpPr>
          <p:cNvPr id="3" name="Rounded Rectangle 2"/>
          <p:cNvSpPr/>
          <p:nvPr/>
        </p:nvSpPr>
        <p:spPr>
          <a:xfrm>
            <a:off x="365760" y="1051560"/>
            <a:ext cx="5638647" cy="2377440"/>
          </a:xfrm>
          <a:prstGeom prst="roundRect">
            <a:avLst>
              <a:gd name="adj" fmla="val 4000"/>
            </a:avLst>
          </a:prstGeom>
          <a:solidFill>
            <a:srgbClr val="FEE2E2"/>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7F1D1D"/>
                </a:solidFill>
              </a:rPr>
              <a:t>❌ მითი #2: MVP-ს (პირველი პროდუქტის) შესაქმნელად მჭირდება დეველოპერთა გუნდი და 3 თვე</a:t>
            </a:r>
          </a:p>
          <a:p>
            <a:r>
              <a:rPr sz="1200">
                <a:solidFill>
                  <a:srgbClr val="333333"/>
                </a:solidFill>
              </a:rPr>
              <a:t>დამფუძნებლები ხარჯავენ თვეებს დეველოპერების ძებნაში იდეის ვალიდაციამდე.</a:t>
            </a:r>
          </a:p>
        </p:txBody>
      </p:sp>
      <p:sp>
        <p:nvSpPr>
          <p:cNvPr id="4" name="Rounded Rectangle 3"/>
          <p:cNvSpPr/>
          <p:nvPr/>
        </p:nvSpPr>
        <p:spPr>
          <a:xfrm>
            <a:off x="6187287" y="1051560"/>
            <a:ext cx="5638647" cy="2377440"/>
          </a:xfrm>
          <a:prstGeom prst="roundRect">
            <a:avLst>
              <a:gd name="adj" fmla="val 4000"/>
            </a:avLst>
          </a:prstGeom>
          <a:solidFill>
            <a:srgbClr val="D1FAE5"/>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064E3B"/>
                </a:solidFill>
              </a:rPr>
              <a:t>🟢 რეალობა: No-Code/AI იძლევა სწრაფ ალტერნატივას</a:t>
            </a:r>
          </a:p>
          <a:p>
            <a:r>
              <a:rPr sz="1200">
                <a:solidFill>
                  <a:srgbClr val="333333"/>
                </a:solidFill>
              </a:rPr>
              <a:t>Lovable.dev-ითა და Supabase-ით სტარტაპერს შეუძლია თავად ააწყოს მუშა Landing Page მონაცემთა ბაზით სულ რაღაც 45 წუთში, კოდის წერის გარეშე.</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Myth 3: High budget is essential</a:t>
            </a:r>
          </a:p>
        </p:txBody>
      </p:sp>
      <p:sp>
        <p:nvSpPr>
          <p:cNvPr id="3" name="Rounded Rectangle 2"/>
          <p:cNvSpPr/>
          <p:nvPr/>
        </p:nvSpPr>
        <p:spPr>
          <a:xfrm>
            <a:off x="365760" y="1051560"/>
            <a:ext cx="5638647" cy="2377440"/>
          </a:xfrm>
          <a:prstGeom prst="roundRect">
            <a:avLst>
              <a:gd name="adj" fmla="val 4000"/>
            </a:avLst>
          </a:prstGeom>
          <a:solidFill>
            <a:srgbClr val="FEE2E2"/>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7F1D1D"/>
                </a:solidFill>
              </a:rPr>
              <a:t>❌ მითი #3: სტარტაპის დასაწყებად საჭიროა დიდი საწყისი კაპიტალი და ინვესტიცია</a:t>
            </a:r>
          </a:p>
          <a:p>
            <a:r>
              <a:rPr sz="1200">
                <a:solidFill>
                  <a:srgbClr val="333333"/>
                </a:solidFill>
              </a:rPr>
              <a:t>დამფუძნებლები ელოდებიან გრანტს ან ინვესტორს იდეის შესამოწმებლად.</a:t>
            </a:r>
          </a:p>
        </p:txBody>
      </p:sp>
      <p:sp>
        <p:nvSpPr>
          <p:cNvPr id="4" name="Rounded Rectangle 3"/>
          <p:cNvSpPr/>
          <p:nvPr/>
        </p:nvSpPr>
        <p:spPr>
          <a:xfrm>
            <a:off x="6187287" y="1051560"/>
            <a:ext cx="5638647" cy="2377440"/>
          </a:xfrm>
          <a:prstGeom prst="roundRect">
            <a:avLst>
              <a:gd name="adj" fmla="val 4000"/>
            </a:avLst>
          </a:prstGeom>
          <a:solidFill>
            <a:srgbClr val="D1FAE5"/>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064E3B"/>
                </a:solidFill>
              </a:rPr>
              <a:t>🟢 რეალობა: $0-იანი ვალიდაციის ეპოქა</a:t>
            </a:r>
          </a:p>
          <a:p>
            <a:r>
              <a:rPr sz="1200">
                <a:solidFill>
                  <a:srgbClr val="333333"/>
                </a:solidFill>
              </a:rPr>
              <a:t>AI ხელსაწყოების (Claude, Perplexity, Gamma, Make) უფასო ვერსიებით შეგიძლიათ სრულიად უფასოდ ჩაატაროთ კვლევა, შექმნათ ვიზუალური ბრენდი და მოიზიდოთ პირველი მომხმარებლები.</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AI Strategy: 10x Experimentation Speed</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როგორ აჩქარებს AI ექსპერიმენტების სიჩქარეს?</a:t>
            </a:r>
          </a:p>
        </p:txBody>
      </p:sp>
      <p:sp>
        <p:nvSpPr>
          <p:cNvPr id="4" name="Rounded Rectangle 3"/>
          <p:cNvSpPr/>
          <p:nvPr/>
        </p:nvSpPr>
        <p:spPr>
          <a:xfrm>
            <a:off x="365760" y="1463040"/>
            <a:ext cx="5638647" cy="23774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3A8A"/>
                </a:solidFill>
              </a:rPr>
              <a:t>ტრადიციული პროცესი (1 თვე):</a:t>
            </a:r>
          </a:p>
          <a:p>
            <a:r>
              <a:rPr sz="1200">
                <a:solidFill>
                  <a:srgbClr val="333333"/>
                </a:solidFill>
              </a:rPr>
              <a:t>• ბაზრის კვლევა სააგენტოს მიერ;</a:t>
            </a:r>
          </a:p>
          <a:p>
            <a:r>
              <a:rPr sz="1200">
                <a:solidFill>
                  <a:srgbClr val="333333"/>
                </a:solidFill>
              </a:rPr>
              <a:t>• დიზაინერის მიერ ლოგოს შექმნა;</a:t>
            </a:r>
          </a:p>
          <a:p>
            <a:r>
              <a:rPr sz="1200">
                <a:solidFill>
                  <a:srgbClr val="333333"/>
                </a:solidFill>
              </a:rPr>
              <a:t>• კოპირაითერის მიერ ტექსტების წერა;</a:t>
            </a:r>
          </a:p>
          <a:p>
            <a:r>
              <a:rPr sz="1200">
                <a:solidFill>
                  <a:srgbClr val="333333"/>
                </a:solidFill>
              </a:rPr>
              <a:t>• დეველოპერის მიერ კოდის წერა.</a:t>
            </a:r>
          </a:p>
        </p:txBody>
      </p:sp>
      <p:sp>
        <p:nvSpPr>
          <p:cNvPr id="5" name="Rounded Rectangle 4"/>
          <p:cNvSpPr/>
          <p:nvPr/>
        </p:nvSpPr>
        <p:spPr>
          <a:xfrm>
            <a:off x="6187287" y="1463040"/>
            <a:ext cx="5638647" cy="2377440"/>
          </a:xfrm>
          <a:prstGeom prst="roundRect">
            <a:avLst>
              <a:gd name="adj" fmla="val 4000"/>
            </a:avLst>
          </a:prstGeom>
          <a:solidFill>
            <a:srgbClr val="F1F8E9"/>
          </a:solidFill>
          <a:ln w="190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4532D"/>
                </a:solidFill>
              </a:rPr>
              <a:t>AI-Driven პროცესი (1 დღე):</a:t>
            </a:r>
          </a:p>
          <a:p>
            <a:r>
              <a:rPr sz="1200">
                <a:solidFill>
                  <a:srgbClr val="333333"/>
                </a:solidFill>
              </a:rPr>
              <a:t>• კვლევა Perplexity-ით (10 წუთი);</a:t>
            </a:r>
          </a:p>
          <a:p>
            <a:r>
              <a:rPr sz="1200">
                <a:solidFill>
                  <a:srgbClr val="333333"/>
                </a:solidFill>
              </a:rPr>
              <a:t>• ლოგო Ideogram-ით (5 წუთი);</a:t>
            </a:r>
          </a:p>
          <a:p>
            <a:r>
              <a:rPr sz="1200">
                <a:solidFill>
                  <a:srgbClr val="333333"/>
                </a:solidFill>
              </a:rPr>
              <a:t>• კოპირაითინგი Claude-ით (10 წუთი);</a:t>
            </a:r>
          </a:p>
          <a:p>
            <a:r>
              <a:rPr sz="1200">
                <a:solidFill>
                  <a:srgbClr val="333333"/>
                </a:solidFill>
              </a:rPr>
              <a:t>• MVP Lovable-ით (45 წუთი).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AI Strategy: Cost Minimization</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სტარტაპის დაწყების ხარჯების ოპტიმიზაცია AI-ის მეშვეობით:</a:t>
            </a:r>
          </a:p>
        </p:txBody>
      </p:sp>
      <p:sp>
        <p:nvSpPr>
          <p:cNvPr id="4" name="Rounded Rectangle 3"/>
          <p:cNvSpPr/>
          <p:nvPr/>
        </p:nvSpPr>
        <p:spPr>
          <a:xfrm>
            <a:off x="365760"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 Visuals ($0 vs $500)</a:t>
            </a:r>
          </a:p>
          <a:p>
            <a:r>
              <a:rPr sz="1200">
                <a:solidFill>
                  <a:srgbClr val="333333"/>
                </a:solidFill>
              </a:rPr>
              <a:t>Ideogram-ითა და Flux-ით იქმნება პროფესიონალური ლოგო და ილუსტრაციები უფასოდ.</a:t>
            </a:r>
          </a:p>
        </p:txBody>
      </p:sp>
      <p:sp>
        <p:nvSpPr>
          <p:cNvPr id="5" name="Rounded Rectangle 4"/>
          <p:cNvSpPr/>
          <p:nvPr/>
        </p:nvSpPr>
        <p:spPr>
          <a:xfrm>
            <a:off x="4231538"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 Dev ($0 vs $3000)</a:t>
            </a:r>
          </a:p>
          <a:p>
            <a:r>
              <a:rPr sz="1200">
                <a:solidFill>
                  <a:srgbClr val="333333"/>
                </a:solidFill>
              </a:rPr>
              <a:t>Lovable-ის უფასო ვერსიით ეშვება პირველი MVP, Vercel-ის უფასო ჰოსტინგით.</a:t>
            </a:r>
          </a:p>
        </p:txBody>
      </p:sp>
      <p:sp>
        <p:nvSpPr>
          <p:cNvPr id="6" name="Rounded Rectangle 5"/>
          <p:cNvSpPr/>
          <p:nvPr/>
        </p:nvSpPr>
        <p:spPr>
          <a:xfrm>
            <a:off x="8097316"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 Ops ($0 vs $400)</a:t>
            </a:r>
          </a:p>
          <a:p>
            <a:r>
              <a:rPr sz="1200">
                <a:solidFill>
                  <a:srgbClr val="333333"/>
                </a:solidFill>
              </a:rPr>
              <a:t>Make.com-ის 1000 უფასო ოპერაციით ხდება CRM ბაზის ავტომატიზაცია.</a:t>
            </a:r>
          </a:p>
        </p:txBody>
      </p:sp>
      <p:sp>
        <p:nvSpPr>
          <p:cNvPr id="7" name="Rounded Rectangle 6"/>
          <p:cNvSpPr/>
          <p:nvPr/>
        </p:nvSpPr>
        <p:spPr>
          <a:xfrm>
            <a:off x="365760" y="3767328"/>
            <a:ext cx="11460175" cy="1463040"/>
          </a:xfrm>
          <a:prstGeom prst="roundRect">
            <a:avLst>
              <a:gd name="adj" fmla="val 4000"/>
            </a:avLst>
          </a:prstGeom>
          <a:solidFill>
            <a:srgbClr val="F1F8E9"/>
          </a:solidFill>
          <a:ln w="190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sz="1300">
                <a:solidFill>
                  <a:srgbClr val="333333"/>
                </a:solidFill>
              </a:rPr>
              <a:t>💡 დასკვნა: თქვენი მთავარი ხარჯი არის დრო და არა ფული. AI გაძლევთ საშუალებას $0-ით მიაღწიოთ პირველ გაყიდვებამდე.</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Divergent Thinking: Ideation Flow</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როგორ გამოვიყენოთ AI იდეების რაოდენობრივი გაფართოებისთვის?</a:t>
            </a:r>
          </a:p>
        </p:txBody>
      </p:sp>
      <p:sp>
        <p:nvSpPr>
          <p:cNvPr id="4" name="Rounded Rectangle 3"/>
          <p:cNvSpPr/>
          <p:nvPr/>
        </p:nvSpPr>
        <p:spPr>
          <a:xfrm>
            <a:off x="365760" y="1463040"/>
            <a:ext cx="11460175" cy="14630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500">
                <a:solidFill>
                  <a:srgbClr val="1E3A8A"/>
                </a:solidFill>
              </a:rPr>
              <a:t>💡 წესი: რაოდენობა ბადებს ხარისხს</a:t>
            </a:r>
          </a:p>
          <a:p>
            <a:r>
              <a:rPr sz="1300">
                <a:solidFill>
                  <a:srgbClr val="333333"/>
                </a:solidFill>
              </a:rPr>
              <a:t>ამ ეტაპზე არ ვფილტრავთ იდეებს. ვავალებთ AI-ს გენერირებას სხვადასხვა კუთხით.</a:t>
            </a:r>
          </a:p>
        </p:txBody>
      </p:sp>
      <p:sp>
        <p:nvSpPr>
          <p:cNvPr id="5" name="Rounded Rectangle 4"/>
          <p:cNvSpPr/>
          <p:nvPr/>
        </p:nvSpPr>
        <p:spPr>
          <a:xfrm>
            <a:off x="365760" y="3035808"/>
            <a:ext cx="11460175" cy="1188720"/>
          </a:xfrm>
          <a:prstGeom prst="roundRect">
            <a:avLst>
              <a:gd name="adj" fmla="val 3000"/>
            </a:avLst>
          </a:prstGeom>
          <a:solidFill>
            <a:srgbClr val="1E293B"/>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b="1" sz="1200">
                <a:solidFill>
                  <a:srgbClr val="F59E0B"/>
                </a:solidFill>
              </a:rPr>
              <a:t>Divergent Ideation Prompt:</a:t>
            </a:r>
          </a:p>
          <a:p>
            <a:r>
              <a:rPr sz="1200">
                <a:solidFill>
                  <a:srgbClr val="E2E8F0"/>
                </a:solidFill>
                <a:latin typeface="Consolas"/>
              </a:rPr>
              <a:t>იმოქმედე როგორც კრეატიული სტარტაპ მენტორი. ჩემი ბაზისური იდეაა: [იდეა]. შემომთავაზე 20 სრულიად განსხვავებული მიმართულება და ნიშა ამ იდეისთვის. გამოიყენე უჩვეულო კავშირები და მოერიდე სტანდარტულ პასუხებს.</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Convergent Thinking: Pruning &amp; Selection</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როგორ შევამციროთ 20 იდეა 1 ფინალურ პროექტამდე?</a:t>
            </a:r>
          </a:p>
        </p:txBody>
      </p:sp>
      <p:sp>
        <p:nvSpPr>
          <p:cNvPr id="4" name="Rounded Rectangle 3"/>
          <p:cNvSpPr/>
          <p:nvPr/>
        </p:nvSpPr>
        <p:spPr>
          <a:xfrm>
            <a:off x="365760" y="1463040"/>
            <a:ext cx="5638647" cy="2377440"/>
          </a:xfrm>
          <a:prstGeom prst="roundRect">
            <a:avLst>
              <a:gd name="adj" fmla="val 4000"/>
            </a:avLst>
          </a:prstGeom>
          <a:solidFill>
            <a:srgbClr val="FFF3E0"/>
          </a:solidFill>
          <a:ln w="19050">
            <a:solidFill>
              <a:srgbClr val="FF98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7C2D12"/>
                </a:solidFill>
              </a:rPr>
              <a:t>🔍 ფილტრაციის კრიტერიუმები:</a:t>
            </a:r>
          </a:p>
          <a:p>
            <a:r>
              <a:rPr sz="1200">
                <a:solidFill>
                  <a:srgbClr val="333333"/>
                </a:solidFill>
              </a:rPr>
              <a:t>• Traction Potential: რამდენად მარტივია პირველი 10 მომხმარებლის მოზიდვა?</a:t>
            </a:r>
          </a:p>
          <a:p>
            <a:r>
              <a:rPr sz="1200">
                <a:solidFill>
                  <a:srgbClr val="333333"/>
                </a:solidFill>
              </a:rPr>
              <a:t>• Feasibility: შესაძლებელია თუ არა MVP-ს აწყობა Lovable-ით 1 დღეში?</a:t>
            </a:r>
          </a:p>
          <a:p>
            <a:r>
              <a:rPr sz="1200">
                <a:solidFill>
                  <a:srgbClr val="333333"/>
                </a:solidFill>
              </a:rPr>
              <a:t>• Market Need: რამდენად მტკივნეულია პრობლემა მომხმარებლისთვის?</a:t>
            </a:r>
          </a:p>
        </p:txBody>
      </p:sp>
      <p:sp>
        <p:nvSpPr>
          <p:cNvPr id="5" name="Rounded Rectangle 4"/>
          <p:cNvSpPr/>
          <p:nvPr/>
        </p:nvSpPr>
        <p:spPr>
          <a:xfrm>
            <a:off x="6187287" y="1463040"/>
            <a:ext cx="5638647" cy="2377440"/>
          </a:xfrm>
          <a:prstGeom prst="roundRect">
            <a:avLst>
              <a:gd name="adj" fmla="val 4000"/>
            </a:avLst>
          </a:prstGeom>
          <a:solidFill>
            <a:srgbClr val="F1F8E9"/>
          </a:solidFill>
          <a:ln w="190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4532D"/>
                </a:solidFill>
              </a:rPr>
              <a:t>🚀 პრაქტიკული ნაბიჯი:</a:t>
            </a:r>
          </a:p>
          <a:p>
            <a:r>
              <a:rPr sz="1200">
                <a:solidFill>
                  <a:srgbClr val="333333"/>
                </a:solidFill>
              </a:rPr>
              <a:t>AI-ს ვთხოვთ იდეების შეფასებას მატრიცის მიხედვით:</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AI Tools: Safety Ratings Matrix</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რომელი AI ინსტრუმენტებია უსაფრთხო თქვენი სტარტაპის მონაცემებისთვის?</a:t>
            </a:r>
          </a:p>
        </p:txBody>
      </p:sp>
      <p:graphicFrame>
        <p:nvGraphicFramePr>
          <p:cNvPr id="4" name="Table 3"/>
          <p:cNvGraphicFramePr>
            <a:graphicFrameLocks noGrp="1"/>
          </p:cNvGraphicFramePr>
          <p:nvPr/>
        </p:nvGraphicFramePr>
        <p:xfrm>
          <a:off x="365760" y="1463040"/>
          <a:ext cx="11460175" cy="1536192"/>
        </p:xfrm>
        <a:graphic>
          <a:graphicData uri="http://schemas.openxmlformats.org/drawingml/2006/table">
            <a:tbl>
              <a:tblPr firstRow="1" bandRow="1">
                <a:tableStyleId>{5C22544A-7EE6-4342-B048-85BDC9FD1C3A}</a:tableStyleId>
              </a:tblPr>
              <a:tblGrid>
                <a:gridCol w="2865043"/>
                <a:gridCol w="2865043"/>
                <a:gridCol w="2865043"/>
                <a:gridCol w="2865046"/>
              </a:tblGrid>
              <a:tr h="384048">
                <a:tc>
                  <a:txBody>
                    <a:bodyPr/>
                    <a:lstStyle/>
                    <a:p>
                      <a:pPr>
                        <a:defRPr sz="1200" b="1"/>
                      </a:pPr>
                      <a:r>
                        <a:t>ინსტრუმენტი</a:t>
                      </a:r>
                    </a:p>
                  </a:txBody>
                  <a:tcPr/>
                </a:tc>
                <a:tc>
                  <a:txBody>
                    <a:bodyPr/>
                    <a:lstStyle/>
                    <a:p>
                      <a:pPr>
                        <a:defRPr sz="1200" b="1"/>
                      </a:pPr>
                      <a:r>
                        <a:t>რეიტინგი</a:t>
                      </a:r>
                    </a:p>
                  </a:txBody>
                  <a:tcPr/>
                </a:tc>
                <a:tc>
                  <a:txBody>
                    <a:bodyPr/>
                    <a:lstStyle/>
                    <a:p>
                      <a:pPr>
                        <a:defRPr sz="1200" b="1"/>
                      </a:pPr>
                      <a:r>
                        <a:t>მონაცემთა გამოყენება</a:t>
                      </a:r>
                    </a:p>
                  </a:txBody>
                  <a:tcPr/>
                </a:tc>
                <a:tc>
                  <a:txBody>
                    <a:bodyPr/>
                    <a:lstStyle/>
                    <a:p>
                      <a:pPr>
                        <a:defRPr sz="1200" b="1"/>
                      </a:pPr>
                      <a:r>
                        <a:t>რეკომენდაცია</a:t>
                      </a:r>
                    </a:p>
                  </a:txBody>
                  <a:tcPr/>
                </a:tc>
              </a:tr>
              <a:tr h="384048">
                <a:tc>
                  <a:txBody>
                    <a:bodyPr/>
                    <a:lstStyle/>
                    <a:p>
                      <a:pPr>
                        <a:defRPr sz="1200"/>
                      </a:pPr>
                      <a:r>
                        <a:t>NotebookLM / Lovable</a:t>
                      </a:r>
                    </a:p>
                  </a:txBody>
                  <a:tcPr/>
                </a:tc>
                <a:tc>
                  <a:txBody>
                    <a:bodyPr/>
                    <a:lstStyle/>
                    <a:p>
                      <a:pPr>
                        <a:defRPr sz="1200"/>
                      </a:pPr>
                      <a:r>
                        <a:t>🟢 GO</a:t>
                      </a:r>
                    </a:p>
                  </a:txBody>
                  <a:tcPr/>
                </a:tc>
                <a:tc>
                  <a:txBody>
                    <a:bodyPr/>
                    <a:lstStyle/>
                    <a:p>
                      <a:pPr>
                        <a:defRPr sz="1200"/>
                      </a:pPr>
                      <a:r>
                        <a:t>არ გამოიყენება წვრთნისთვის</a:t>
                      </a:r>
                    </a:p>
                  </a:txBody>
                  <a:tcPr/>
                </a:tc>
                <a:tc>
                  <a:txBody>
                    <a:bodyPr/>
                    <a:lstStyle/>
                    <a:p>
                      <a:pPr>
                        <a:defRPr sz="1200"/>
                      </a:pPr>
                      <a:r>
                        <a:t>უსაფრთხოა ბიზნეს დოკუმენტებისთვის</a:t>
                      </a:r>
                    </a:p>
                  </a:txBody>
                  <a:tcPr/>
                </a:tc>
              </a:tr>
              <a:tr h="384048">
                <a:tc>
                  <a:txBody>
                    <a:bodyPr/>
                    <a:lstStyle/>
                    <a:p>
                      <a:pPr>
                        <a:defRPr sz="1200"/>
                      </a:pPr>
                      <a:r>
                        <a:t>Claude / Perplexity</a:t>
                      </a:r>
                    </a:p>
                  </a:txBody>
                  <a:tcPr/>
                </a:tc>
                <a:tc>
                  <a:txBody>
                    <a:bodyPr/>
                    <a:lstStyle/>
                    <a:p>
                      <a:pPr>
                        <a:defRPr sz="1200"/>
                      </a:pPr>
                      <a:r>
                        <a:t>🟡 CAUTION</a:t>
                      </a:r>
                    </a:p>
                  </a:txBody>
                  <a:tcPr/>
                </a:tc>
                <a:tc>
                  <a:txBody>
                    <a:bodyPr/>
                    <a:lstStyle/>
                    <a:p>
                      <a:pPr>
                        <a:defRPr sz="1200"/>
                      </a:pPr>
                      <a:r>
                        <a:t>შეიძლება გამოიყენოს, თუ არ გათიშავთ</a:t>
                      </a:r>
                    </a:p>
                  </a:txBody>
                  <a:tcPr/>
                </a:tc>
                <a:tc>
                  <a:txBody>
                    <a:bodyPr/>
                    <a:lstStyle/>
                    <a:p>
                      <a:pPr>
                        <a:defRPr sz="1200"/>
                      </a:pPr>
                      <a:r>
                        <a:t>გამოიყენეთ კოპირაითინგისთვის, პირადი მონაცემების გარეშე</a:t>
                      </a:r>
                    </a:p>
                  </a:txBody>
                  <a:tcPr/>
                </a:tc>
              </a:tr>
              <a:tr h="384048">
                <a:tc>
                  <a:txBody>
                    <a:bodyPr/>
                    <a:lstStyle/>
                    <a:p>
                      <a:pPr>
                        <a:defRPr sz="1200"/>
                      </a:pPr>
                      <a:r>
                        <a:t>ChatGPT Free / Gemini Free</a:t>
                      </a:r>
                    </a:p>
                  </a:txBody>
                  <a:tcPr/>
                </a:tc>
                <a:tc>
                  <a:txBody>
                    <a:bodyPr/>
                    <a:lstStyle/>
                    <a:p>
                      <a:pPr>
                        <a:defRPr sz="1200"/>
                      </a:pPr>
                      <a:r>
                        <a:t>🔴 STOP</a:t>
                      </a:r>
                    </a:p>
                  </a:txBody>
                  <a:tcPr/>
                </a:tc>
                <a:tc>
                  <a:txBody>
                    <a:bodyPr/>
                    <a:lstStyle/>
                    <a:p>
                      <a:pPr>
                        <a:defRPr sz="1200"/>
                      </a:pPr>
                      <a:r>
                        <a:t>ყველა მონაცემს იყენებს წვრთნისთვის</a:t>
                      </a:r>
                    </a:p>
                  </a:txBody>
                  <a:tcPr/>
                </a:tc>
                <a:tc>
                  <a:txBody>
                    <a:bodyPr/>
                    <a:lstStyle/>
                    <a:p>
                      <a:pPr>
                        <a:defRPr sz="1200"/>
                      </a:pPr>
                      <a:r>
                        <a:t>არ ჩაწეროთ საიდუმლო ფორმულები ან კოდი</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AI Tools: Data Leakage Protection</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როგორ დავიცვათ თავი მონაცემთა გაჟონვისგან (Data Leakage)?</a:t>
            </a:r>
          </a:p>
        </p:txBody>
      </p:sp>
      <p:sp>
        <p:nvSpPr>
          <p:cNvPr id="4" name="Rounded Rectangle 3"/>
          <p:cNvSpPr/>
          <p:nvPr/>
        </p:nvSpPr>
        <p:spPr>
          <a:xfrm>
            <a:off x="365760" y="1463040"/>
            <a:ext cx="11460175" cy="1463040"/>
          </a:xfrm>
          <a:prstGeom prst="roundRect">
            <a:avLst>
              <a:gd name="adj" fmla="val 4000"/>
            </a:avLst>
          </a:prstGeom>
          <a:solidFill>
            <a:srgbClr val="FFF3E0"/>
          </a:solidFill>
          <a:ln w="19050">
            <a:solidFill>
              <a:srgbClr val="FF98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500">
                <a:solidFill>
                  <a:srgbClr val="7C2D12"/>
                </a:solidFill>
              </a:rPr>
              <a:t>⚠️ უსაფრთხოების წესები:</a:t>
            </a:r>
          </a:p>
          <a:p>
            <a:r>
              <a:rPr sz="1300">
                <a:solidFill>
                  <a:srgbClr val="333333"/>
                </a:solidFill>
              </a:rPr>
              <a:t>• გათიშეთ Training პარამეტრი: ChatGPT-ისა და Claude-ის პარამეტრებში გათიშეთ „Improve model for everyone“;</a:t>
            </a:r>
          </a:p>
          <a:p>
            <a:r>
              <a:rPr sz="1300">
                <a:solidFill>
                  <a:srgbClr val="333333"/>
                </a:solidFill>
              </a:rPr>
              <a:t>• მონაცემთა ფილტრაცია: AI-ში ჩაწერამდე წაშალეთ მომხმარებლის ელფოსტა, ტელეფონის ნომერი და გვარი;</a:t>
            </a:r>
          </a:p>
          <a:p>
            <a:r>
              <a:rPr sz="1300">
                <a:solidFill>
                  <a:srgbClr val="333333"/>
                </a:solidFill>
              </a:rPr>
              <a:t>• Enterprise ვერსიები: თუ ბიუჯეტი გაქვთ, გამოიყენეთ API ვერსიები, რადგან API-ით გაგზავნილი მონაცემები არასოდეს გამოიყენება მოდელის წვრთნისთვის.</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SCAMPER მეთოდოლოგია</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ინოვაციის მიღების 7 გზა ნებისმიერი ტრადიციული ბიზნესისთვის:</a:t>
            </a:r>
          </a:p>
        </p:txBody>
      </p:sp>
      <p:sp>
        <p:nvSpPr>
          <p:cNvPr id="4" name="Rounded Rectangle 3"/>
          <p:cNvSpPr/>
          <p:nvPr/>
        </p:nvSpPr>
        <p:spPr>
          <a:xfrm>
            <a:off x="365760" y="1463040"/>
            <a:ext cx="3728618" cy="123444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S - Substitute</a:t>
            </a:r>
          </a:p>
          <a:p>
            <a:r>
              <a:rPr sz="1200">
                <a:solidFill>
                  <a:srgbClr val="333333"/>
                </a:solidFill>
              </a:rPr>
              <a:t>რისი შენაცვლება შეგვიძლია?</a:t>
            </a:r>
          </a:p>
        </p:txBody>
      </p:sp>
      <p:sp>
        <p:nvSpPr>
          <p:cNvPr id="5" name="Rounded Rectangle 4"/>
          <p:cNvSpPr/>
          <p:nvPr/>
        </p:nvSpPr>
        <p:spPr>
          <a:xfrm>
            <a:off x="4231538" y="1463040"/>
            <a:ext cx="3728618" cy="123444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C - Combine</a:t>
            </a:r>
          </a:p>
          <a:p>
            <a:r>
              <a:rPr sz="1200">
                <a:solidFill>
                  <a:srgbClr val="333333"/>
                </a:solidFill>
              </a:rPr>
              <a:t>რისი გაერთიანება შეიძლება?</a:t>
            </a:r>
          </a:p>
        </p:txBody>
      </p:sp>
      <p:sp>
        <p:nvSpPr>
          <p:cNvPr id="6" name="Rounded Rectangle 5"/>
          <p:cNvSpPr/>
          <p:nvPr/>
        </p:nvSpPr>
        <p:spPr>
          <a:xfrm>
            <a:off x="8097316" y="1463040"/>
            <a:ext cx="3728618" cy="123444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A - Adapt</a:t>
            </a:r>
          </a:p>
          <a:p>
            <a:r>
              <a:rPr sz="1200">
                <a:solidFill>
                  <a:srgbClr val="333333"/>
                </a:solidFill>
              </a:rPr>
              <a:t>როგორ მოვარგოთ სხვა სფეროს?</a:t>
            </a:r>
          </a:p>
        </p:txBody>
      </p:sp>
      <p:sp>
        <p:nvSpPr>
          <p:cNvPr id="7" name="Rounded Rectangle 6"/>
          <p:cNvSpPr/>
          <p:nvPr/>
        </p:nvSpPr>
        <p:spPr>
          <a:xfrm>
            <a:off x="365760" y="2807208"/>
            <a:ext cx="3728618" cy="123444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M - Modify</a:t>
            </a:r>
          </a:p>
          <a:p>
            <a:r>
              <a:rPr sz="1200">
                <a:solidFill>
                  <a:srgbClr val="333333"/>
                </a:solidFill>
              </a:rPr>
              <a:t>რისი გადიდება/შეცვლა შეიძლება?</a:t>
            </a:r>
          </a:p>
        </p:txBody>
      </p:sp>
      <p:sp>
        <p:nvSpPr>
          <p:cNvPr id="8" name="TextBox 7"/>
          <p:cNvSpPr txBox="1"/>
          <p:nvPr/>
        </p:nvSpPr>
        <p:spPr>
          <a:xfrm>
            <a:off x="365760" y="4151376"/>
            <a:ext cx="11460175" cy="457200"/>
          </a:xfrm>
          <a:prstGeom prst="rect">
            <a:avLst/>
          </a:prstGeom>
          <a:noFill/>
        </p:spPr>
        <p:txBody>
          <a:bodyPr wrap="square">
            <a:spAutoFit/>
          </a:bodyPr>
          <a:lstStyle/>
          <a:p>
            <a:r>
              <a:rPr sz="1400">
                <a:solidFill>
                  <a:srgbClr val="475569"/>
                </a:solidFill>
              </a:rPr>
              <a:t>SCAMPER გვეხმარება ვიპოვოთ ახალი ბიზნეს მოდელი იქ, სადაც კონკურენცია დიდია.</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SCAMPER: S (Substitute) &amp; C (Combine)</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პირველი ორი ინოვაციური ნაბიჯი:</a:t>
            </a:r>
          </a:p>
        </p:txBody>
      </p:sp>
      <p:sp>
        <p:nvSpPr>
          <p:cNvPr id="4" name="Rounded Rectangle 3"/>
          <p:cNvSpPr/>
          <p:nvPr/>
        </p:nvSpPr>
        <p:spPr>
          <a:xfrm>
            <a:off x="365760" y="1463040"/>
            <a:ext cx="5638647" cy="23774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3A8A"/>
                </a:solidFill>
              </a:rPr>
              <a:t>🔄 S - Substitute (შენაცვლება):</a:t>
            </a:r>
          </a:p>
          <a:p>
            <a:r>
              <a:rPr sz="1200">
                <a:solidFill>
                  <a:srgbClr val="333333"/>
                </a:solidFill>
              </a:rPr>
              <a:t>ჩაანაცვლეთ ფიზიკური ოფისები სრულიად დისტანციური AI ოპერაციებით.</a:t>
            </a:r>
          </a:p>
          <a:p>
            <a:r>
              <a:rPr sz="1200">
                <a:solidFill>
                  <a:srgbClr val="333333"/>
                </a:solidFill>
              </a:rPr>
              <a:t>მაგალითად: მომხმარებელთა მხარდაჭერის ოპერატორების ჩანაცვლება 24/7 AI ხმოვანი ასისტენტით.</a:t>
            </a:r>
          </a:p>
        </p:txBody>
      </p:sp>
      <p:sp>
        <p:nvSpPr>
          <p:cNvPr id="5" name="Rounded Rectangle 4"/>
          <p:cNvSpPr/>
          <p:nvPr/>
        </p:nvSpPr>
        <p:spPr>
          <a:xfrm>
            <a:off x="6187287" y="1463040"/>
            <a:ext cx="5638647" cy="2377440"/>
          </a:xfrm>
          <a:prstGeom prst="roundRect">
            <a:avLst>
              <a:gd name="adj" fmla="val 4000"/>
            </a:avLst>
          </a:prstGeom>
          <a:solidFill>
            <a:srgbClr val="F1F8E9"/>
          </a:solidFill>
          <a:ln w="190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4532D"/>
                </a:solidFill>
              </a:rPr>
              <a:t>➕ C - Combine (გაერთიანება):</a:t>
            </a:r>
          </a:p>
          <a:p>
            <a:r>
              <a:rPr sz="1200">
                <a:solidFill>
                  <a:srgbClr val="333333"/>
                </a:solidFill>
              </a:rPr>
              <a:t>გააერთიანეთ ორი განსხვავებული სფერო ახალი ღირებულებისთვის.</a:t>
            </a:r>
          </a:p>
          <a:p>
            <a:r>
              <a:rPr sz="1200">
                <a:solidFill>
                  <a:srgbClr val="333333"/>
                </a:solidFill>
              </a:rPr>
              <a:t>მაგალითად: ჭკვიანი სარწყავი სისტემისა და აგრო-დაზღვევის გაერთიანება (თუ ფერმერი იყენებს AI მორწყვას, დაზღვევა უფრო იაფია).</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SCAMPER: A (Adapt) &amp; M (Modify)</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მომდევნო ორი ინოვაციური ნაბიჯი:</a:t>
            </a:r>
          </a:p>
        </p:txBody>
      </p:sp>
      <p:sp>
        <p:nvSpPr>
          <p:cNvPr id="4" name="Rounded Rectangle 3"/>
          <p:cNvSpPr/>
          <p:nvPr/>
        </p:nvSpPr>
        <p:spPr>
          <a:xfrm>
            <a:off x="365760" y="1463040"/>
            <a:ext cx="5638647" cy="23774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3A8A"/>
                </a:solidFill>
              </a:rPr>
              <a:t>🔌 A - Adapt (მორგება):</a:t>
            </a:r>
          </a:p>
          <a:p>
            <a:r>
              <a:rPr sz="1200">
                <a:solidFill>
                  <a:srgbClr val="333333"/>
                </a:solidFill>
              </a:rPr>
              <a:t>მოარგეთ სხვა ინდუსტრიის წარმატებული მოდელი თქვენს სფეროს.</a:t>
            </a:r>
          </a:p>
          <a:p>
            <a:r>
              <a:rPr sz="1200">
                <a:solidFill>
                  <a:srgbClr val="333333"/>
                </a:solidFill>
              </a:rPr>
              <a:t>მაგალითად: Tinder-ის „Swipe“ მოდელის მორგება ვაკანსიების ძებნაზე (Swipe მარჯვნივ CV-ის გასაგზავნად).</a:t>
            </a:r>
          </a:p>
        </p:txBody>
      </p:sp>
      <p:sp>
        <p:nvSpPr>
          <p:cNvPr id="5" name="Rounded Rectangle 4"/>
          <p:cNvSpPr/>
          <p:nvPr/>
        </p:nvSpPr>
        <p:spPr>
          <a:xfrm>
            <a:off x="6187287" y="1463040"/>
            <a:ext cx="5638647" cy="2377440"/>
          </a:xfrm>
          <a:prstGeom prst="roundRect">
            <a:avLst>
              <a:gd name="adj" fmla="val 4000"/>
            </a:avLst>
          </a:prstGeom>
          <a:solidFill>
            <a:srgbClr val="F1F8E9"/>
          </a:solidFill>
          <a:ln w="190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4532D"/>
                </a:solidFill>
              </a:rPr>
              <a:t>🔍 M - Modify / Magnify (შეცვლა/გადიდება):</a:t>
            </a:r>
          </a:p>
          <a:p>
            <a:r>
              <a:rPr sz="1200">
                <a:solidFill>
                  <a:srgbClr val="333333"/>
                </a:solidFill>
              </a:rPr>
              <a:t>შეცვალეთ პროდუქტის თვისებები ექსტრემალურ დონეზე.</a:t>
            </a:r>
          </a:p>
          <a:p>
            <a:r>
              <a:rPr sz="1200">
                <a:solidFill>
                  <a:srgbClr val="333333"/>
                </a:solidFill>
              </a:rPr>
              <a:t>მაგალითად: სისხლის ანალიზის პასუხის მიღება 24 საათის ნაცვლად 1 წუთში AI ოპტიკური სკანერით.</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SCAMPER: P &amp; E &amp; R</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ბოლო სამი SCAMPER ნაბიჯი:</a:t>
            </a:r>
          </a:p>
        </p:txBody>
      </p:sp>
      <p:sp>
        <p:nvSpPr>
          <p:cNvPr id="4" name="Rounded Rectangle 3"/>
          <p:cNvSpPr/>
          <p:nvPr/>
        </p:nvSpPr>
        <p:spPr>
          <a:xfrm>
            <a:off x="365760"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P - Put to other use</a:t>
            </a:r>
          </a:p>
          <a:p>
            <a:r>
              <a:rPr sz="1200">
                <a:solidFill>
                  <a:srgbClr val="333333"/>
                </a:solidFill>
              </a:rPr>
              <a:t>გამოიყენეთ ნარჩენი მონაცემები ბაზრის ტრენდების პროგნოზირებისთვის.</a:t>
            </a:r>
          </a:p>
        </p:txBody>
      </p:sp>
      <p:sp>
        <p:nvSpPr>
          <p:cNvPr id="5" name="Rounded Rectangle 4"/>
          <p:cNvSpPr/>
          <p:nvPr/>
        </p:nvSpPr>
        <p:spPr>
          <a:xfrm>
            <a:off x="4231538"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E - Eliminate (გამორიცხვა)</a:t>
            </a:r>
          </a:p>
          <a:p>
            <a:r>
              <a:rPr sz="1200">
                <a:solidFill>
                  <a:srgbClr val="333333"/>
                </a:solidFill>
              </a:rPr>
              <a:t>წაშალეთ რეგისტრაციის ეტაპი - საიტის გამოყენება პირდაპირ Google-ით 1 წამში.</a:t>
            </a:r>
          </a:p>
        </p:txBody>
      </p:sp>
      <p:sp>
        <p:nvSpPr>
          <p:cNvPr id="6" name="Rounded Rectangle 5"/>
          <p:cNvSpPr/>
          <p:nvPr/>
        </p:nvSpPr>
        <p:spPr>
          <a:xfrm>
            <a:off x="8097316"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R - Reverse (შებრუნება)</a:t>
            </a:r>
          </a:p>
          <a:p>
            <a:r>
              <a:rPr sz="1200">
                <a:solidFill>
                  <a:srgbClr val="333333"/>
                </a:solidFill>
              </a:rPr>
              <a:t>ჯერ მიიღე პროდუქტი, მერე გადაიხადე (BNPL) ტრადიციული წინასწარი გადახდის ნაცვლად.</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5 Whys: Deep Root-Cause Analysis</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როგორ მივაგნოთ მომხმარებლის რეალურ ტკივილს?</a:t>
            </a:r>
          </a:p>
        </p:txBody>
      </p:sp>
      <p:sp>
        <p:nvSpPr>
          <p:cNvPr id="4" name="Rounded Rectangle 3"/>
          <p:cNvSpPr/>
          <p:nvPr/>
        </p:nvSpPr>
        <p:spPr>
          <a:xfrm>
            <a:off x="365760" y="1463040"/>
            <a:ext cx="11460175" cy="1463040"/>
          </a:xfrm>
          <a:prstGeom prst="roundRect">
            <a:avLst>
              <a:gd name="adj" fmla="val 4000"/>
            </a:avLst>
          </a:prstGeom>
          <a:solidFill>
            <a:srgbClr val="FFF3E0"/>
          </a:solidFill>
          <a:ln w="19050">
            <a:solidFill>
              <a:srgbClr val="FF98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500">
                <a:solidFill>
                  <a:srgbClr val="7C2D12"/>
                </a:solidFill>
              </a:rPr>
              <a:t>❓ 5 Whys მაგალითი:</a:t>
            </a:r>
          </a:p>
          <a:p>
            <a:r>
              <a:rPr sz="1300">
                <a:solidFill>
                  <a:srgbClr val="333333"/>
                </a:solidFill>
              </a:rPr>
              <a:t>• რატომ არ რწყავს ფერმერი მიწას დროულად? - წყალი ძვირია;</a:t>
            </a:r>
          </a:p>
          <a:p>
            <a:r>
              <a:rPr sz="1300">
                <a:solidFill>
                  <a:srgbClr val="333333"/>
                </a:solidFill>
              </a:rPr>
              <a:t>• რატომ არის ძვირი? - ბევრს ხარჯავს ზედმეტი მორწყვით;</a:t>
            </a:r>
          </a:p>
          <a:p>
            <a:r>
              <a:rPr sz="1300">
                <a:solidFill>
                  <a:srgbClr val="333333"/>
                </a:solidFill>
              </a:rPr>
              <a:t>• რატომ რწყავს ზედმეტად? - არ იცის ნიადაგის რეალური ტენიანობა;</a:t>
            </a:r>
          </a:p>
          <a:p>
            <a:r>
              <a:rPr sz="1300">
                <a:solidFill>
                  <a:srgbClr val="333333"/>
                </a:solidFill>
              </a:rPr>
              <a:t>• რატომ არ იცის? - არ აქვს საზომი ხელსაწყოები;</a:t>
            </a:r>
          </a:p>
          <a:p>
            <a:r>
              <a:rPr sz="1300">
                <a:solidFill>
                  <a:srgbClr val="333333"/>
                </a:solidFill>
              </a:rPr>
              <a:t>• რატომ არ აქვს? - ბაზარზე არსებული სისტემები რთული და ძვირია.</a:t>
            </a:r>
          </a:p>
          <a:p>
            <a:r>
              <a:rPr sz="1300">
                <a:solidFill>
                  <a:srgbClr val="333333"/>
                </a:solidFill>
              </a:rPr>
              <a:t>ფესვური პრობლემა: ფერმერს სჭირდება იაფი და მარტივი საზომი, არა დიდი ტექნიკა.</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What If: Blue Ocean Opportunity Prompts</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სტანდარტების დარღვევა და ახალი ბაზრების (Blue Ocean) პოვნა:</a:t>
            </a:r>
          </a:p>
        </p:txBody>
      </p:sp>
      <p:sp>
        <p:nvSpPr>
          <p:cNvPr id="4" name="Rounded Rectangle 3"/>
          <p:cNvSpPr/>
          <p:nvPr/>
        </p:nvSpPr>
        <p:spPr>
          <a:xfrm>
            <a:off x="365760" y="1463040"/>
            <a:ext cx="11460175" cy="14630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500">
                <a:solidFill>
                  <a:srgbClr val="1E3A8A"/>
                </a:solidFill>
              </a:rPr>
              <a:t>💡 What If კითხვების დიზაინი:</a:t>
            </a:r>
          </a:p>
          <a:p>
            <a:r>
              <a:rPr sz="1300">
                <a:solidFill>
                  <a:srgbClr val="333333"/>
                </a:solidFill>
              </a:rPr>
              <a:t>• „რა მოხდება, თუ ჩვენს საიტს არ ექნება ფასები და მომხმარებელი თავად გადაიხდის იმდენს, რამდენსაც საჭიროდ ჩათვლის?“</a:t>
            </a:r>
          </a:p>
          <a:p>
            <a:r>
              <a:rPr sz="1300">
                <a:solidFill>
                  <a:srgbClr val="333333"/>
                </a:solidFill>
              </a:rPr>
              <a:t>• „რა მოხდება, თუ ჩვენი პროდუქტი იმუშავებს სრულიად ხაზგარეშე (Offline)?“</a:t>
            </a:r>
          </a:p>
        </p:txBody>
      </p:sp>
      <p:sp>
        <p:nvSpPr>
          <p:cNvPr id="5" name="Rounded Rectangle 4"/>
          <p:cNvSpPr/>
          <p:nvPr/>
        </p:nvSpPr>
        <p:spPr>
          <a:xfrm>
            <a:off x="365760" y="3035808"/>
            <a:ext cx="11460175" cy="1188720"/>
          </a:xfrm>
          <a:prstGeom prst="roundRect">
            <a:avLst>
              <a:gd name="adj" fmla="val 3000"/>
            </a:avLst>
          </a:prstGeom>
          <a:solidFill>
            <a:srgbClr val="1E293B"/>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b="1" sz="1200">
                <a:solidFill>
                  <a:srgbClr val="F59E0B"/>
                </a:solidFill>
              </a:rPr>
              <a:t>What If Prompt:</a:t>
            </a:r>
          </a:p>
          <a:p>
            <a:r>
              <a:rPr sz="1200">
                <a:solidFill>
                  <a:srgbClr val="E2E8F0"/>
                </a:solidFill>
                <a:latin typeface="Consolas"/>
              </a:rPr>
              <a:t>ჩემი სტარტაპ იდეაა: [იდეა]. დამისვი 5 პროვოკაციული "What If" კითხვა, რომელიც მთლიანად შეცვლის ამ ბიზნესის ტრადიციულ წესებს და დამეხმარება ახალი ბაზრის პოვნაში.</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Six Thinking Hats: White Hat &amp; Red Hat</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იდეის ფილტრაციის პირველი ეტაპი:</a:t>
            </a:r>
          </a:p>
        </p:txBody>
      </p:sp>
      <p:sp>
        <p:nvSpPr>
          <p:cNvPr id="4" name="Rounded Rectangle 3"/>
          <p:cNvSpPr/>
          <p:nvPr/>
        </p:nvSpPr>
        <p:spPr>
          <a:xfrm>
            <a:off x="365760" y="1463040"/>
            <a:ext cx="5638647" cy="237744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 თეთრი ქუდი (ინფორმაცია და ციფრები):</a:t>
            </a:r>
          </a:p>
          <a:p>
            <a:r>
              <a:rPr sz="1200">
                <a:solidFill>
                  <a:srgbClr val="333333"/>
                </a:solidFill>
              </a:rPr>
              <a:t>ფოკუსირება მხოლოდ ობიექტურ ფაქტებზე.</a:t>
            </a:r>
          </a:p>
          <a:p>
            <a:r>
              <a:rPr sz="1200">
                <a:solidFill>
                  <a:srgbClr val="333333"/>
                </a:solidFill>
              </a:rPr>
              <a:t>„საქართველოში არის 40,000 მცირე ფერმერი, აქედან მხოლოდ 15% იყენებს წვეთოვან სისტემებს.“</a:t>
            </a:r>
          </a:p>
        </p:txBody>
      </p:sp>
      <p:sp>
        <p:nvSpPr>
          <p:cNvPr id="5" name="Rounded Rectangle 4"/>
          <p:cNvSpPr/>
          <p:nvPr/>
        </p:nvSpPr>
        <p:spPr>
          <a:xfrm>
            <a:off x="6187287" y="1463040"/>
            <a:ext cx="5638647" cy="237744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 წითელი ქუდი (ინტუიცია და ემოციები):</a:t>
            </a:r>
          </a:p>
          <a:p>
            <a:r>
              <a:rPr sz="1200">
                <a:solidFill>
                  <a:srgbClr val="333333"/>
                </a:solidFill>
              </a:rPr>
              <a:t>მომხმარებლისა და დამფუძნებლის ემოციური დამოკიდებულება.</a:t>
            </a:r>
          </a:p>
          <a:p>
            <a:r>
              <a:rPr sz="1200">
                <a:solidFill>
                  <a:srgbClr val="333333"/>
                </a:solidFill>
              </a:rPr>
              <a:t>„მე ვგრძნობ, რომ ფერმერებს ეშინიათ ახალი ტექნოლოგიების, რადგან ჰგონიათ, რომ რთულია.“</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Six Thinking Hats: Black Hat &amp; Yellow Hat</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საფრთხეებისა და შესაძლებლობების შეფასება:</a:t>
            </a:r>
          </a:p>
        </p:txBody>
      </p:sp>
      <p:sp>
        <p:nvSpPr>
          <p:cNvPr id="4" name="Rounded Rectangle 3"/>
          <p:cNvSpPr/>
          <p:nvPr/>
        </p:nvSpPr>
        <p:spPr>
          <a:xfrm>
            <a:off x="365760" y="1463040"/>
            <a:ext cx="5638647" cy="2377440"/>
          </a:xfrm>
          <a:prstGeom prst="roundRect">
            <a:avLst>
              <a:gd name="adj" fmla="val 4000"/>
            </a:avLst>
          </a:prstGeom>
          <a:solidFill>
            <a:srgbClr val="FFF3E0"/>
          </a:solidFill>
          <a:ln w="19050">
            <a:solidFill>
              <a:srgbClr val="FF98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7C2D12"/>
                </a:solidFill>
              </a:rPr>
              <a:t>⚫ შავი ქუდი (რისკები და კრიტიკა):</a:t>
            </a:r>
          </a:p>
          <a:p>
            <a:r>
              <a:rPr sz="1200">
                <a:solidFill>
                  <a:srgbClr val="333333"/>
                </a:solidFill>
              </a:rPr>
              <a:t>რატომ ჩაფლავდება იდეა? (ყველაზე კრიტიკული ნაბიჯი სტარტაპისთვის).</a:t>
            </a:r>
          </a:p>
          <a:p>
            <a:r>
              <a:rPr sz="1200">
                <a:solidFill>
                  <a:srgbClr val="333333"/>
                </a:solidFill>
              </a:rPr>
              <a:t>„ფერმერები არ იყიდიან აპლიკაციას, რადგან ინტერნეტი რეგიონებში სუსტია და სენსორების ფასი მაღალია.“</a:t>
            </a:r>
          </a:p>
        </p:txBody>
      </p:sp>
      <p:sp>
        <p:nvSpPr>
          <p:cNvPr id="5" name="Rounded Rectangle 4"/>
          <p:cNvSpPr/>
          <p:nvPr/>
        </p:nvSpPr>
        <p:spPr>
          <a:xfrm>
            <a:off x="6187287" y="1463040"/>
            <a:ext cx="5638647" cy="2377440"/>
          </a:xfrm>
          <a:prstGeom prst="roundRect">
            <a:avLst>
              <a:gd name="adj" fmla="val 4000"/>
            </a:avLst>
          </a:prstGeom>
          <a:solidFill>
            <a:srgbClr val="F1F8E9"/>
          </a:solidFill>
          <a:ln w="190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4532D"/>
                </a:solidFill>
              </a:rPr>
              <a:t>🟡 ყვითელი ქუდი (ოპტიმიზმი და სარგებელი):</a:t>
            </a:r>
          </a:p>
          <a:p>
            <a:r>
              <a:rPr sz="1200">
                <a:solidFill>
                  <a:srgbClr val="333333"/>
                </a:solidFill>
              </a:rPr>
              <a:t>რა არის საუკეთესო სცენარი და სარგებელი?</a:t>
            </a:r>
          </a:p>
          <a:p>
            <a:r>
              <a:rPr sz="1200">
                <a:solidFill>
                  <a:srgbClr val="333333"/>
                </a:solidFill>
              </a:rPr>
              <a:t>„ფერმერი ზოგავს 40% წყალს, მოსავალი იზრდება 20%-ით, სისტემა კი ხარჯებს 3 თვეში ანაზღაურებს.“</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Six Thinking Hats: Green Hat &amp; Blue Hat</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კრეატიული გადაწყვეტა და შემდეგი ნაბიჯების დაგეგმვა:</a:t>
            </a:r>
          </a:p>
        </p:txBody>
      </p:sp>
      <p:sp>
        <p:nvSpPr>
          <p:cNvPr id="4" name="Rounded Rectangle 3"/>
          <p:cNvSpPr/>
          <p:nvPr/>
        </p:nvSpPr>
        <p:spPr>
          <a:xfrm>
            <a:off x="365760" y="1463040"/>
            <a:ext cx="5638647" cy="23774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3A8A"/>
                </a:solidFill>
              </a:rPr>
              <a:t>🟢 მწვანე ქუდი (კრეატიულობა):</a:t>
            </a:r>
          </a:p>
          <a:p>
            <a:r>
              <a:rPr sz="1200">
                <a:solidFill>
                  <a:srgbClr val="333333"/>
                </a:solidFill>
              </a:rPr>
              <a:t>როგორ გადავჭრათ შავი ქუდის რისკები?</a:t>
            </a:r>
          </a:p>
          <a:p>
            <a:r>
              <a:rPr sz="1200">
                <a:solidFill>
                  <a:srgbClr val="333333"/>
                </a:solidFill>
              </a:rPr>
              <a:t>„მონაცემები გადავცეთ SMS-ით ინტერნეტის ნაცვლად, ხოლო სენსორები გავცეთ იჯარით (Subscription) ყიდვის ნაცვლად.“</a:t>
            </a:r>
          </a:p>
        </p:txBody>
      </p:sp>
      <p:sp>
        <p:nvSpPr>
          <p:cNvPr id="5" name="Rounded Rectangle 4"/>
          <p:cNvSpPr/>
          <p:nvPr/>
        </p:nvSpPr>
        <p:spPr>
          <a:xfrm>
            <a:off x="6187287" y="1463040"/>
            <a:ext cx="5638647" cy="23774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3A8A"/>
                </a:solidFill>
              </a:rPr>
              <a:t>🔵 ლურჯი ქუდი (შეჯამება და მართვა):</a:t>
            </a:r>
          </a:p>
          <a:p>
            <a:r>
              <a:rPr sz="1200">
                <a:solidFill>
                  <a:srgbClr val="333333"/>
                </a:solidFill>
              </a:rPr>
              <a:t>რა არის ჩვენი საბოლოო სამოქმედო გეგმა?</a:t>
            </a:r>
          </a:p>
          <a:p>
            <a:r>
              <a:rPr sz="1200">
                <a:solidFill>
                  <a:srgbClr val="333333"/>
                </a:solidFill>
              </a:rPr>
              <a:t>„ჩავატაროთ 1 სწრაფი ინტერვიუ ფერმერთან, რათა შევამოწმოთ იჯარის მოდელი.“</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Jobs-to-be-Done (JTBD): Milkshake Story</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კლეიტონ კრისტენსენის ლეგენდარული ქეისი - რატომ ყიდულობენ ადამიანები მილქშეიკს დილით?</a:t>
            </a:r>
          </a:p>
        </p:txBody>
      </p:sp>
      <p:sp>
        <p:nvSpPr>
          <p:cNvPr id="4" name="Rounded Rectangle 3"/>
          <p:cNvSpPr/>
          <p:nvPr/>
        </p:nvSpPr>
        <p:spPr>
          <a:xfrm>
            <a:off x="365760" y="1463040"/>
            <a:ext cx="5638647" cy="2377440"/>
          </a:xfrm>
          <a:prstGeom prst="roundRect">
            <a:avLst>
              <a:gd name="adj" fmla="val 4000"/>
            </a:avLst>
          </a:prstGeom>
          <a:solidFill>
            <a:srgbClr val="FFF3E0"/>
          </a:solidFill>
          <a:ln w="19050">
            <a:solidFill>
              <a:srgbClr val="FF98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7C2D12"/>
                </a:solidFill>
              </a:rPr>
              <a:t>❌ არასწორი ანალიზი (დემოგრაფია):</a:t>
            </a:r>
          </a:p>
          <a:p>
            <a:r>
              <a:rPr sz="1200">
                <a:solidFill>
                  <a:srgbClr val="333333"/>
                </a:solidFill>
              </a:rPr>
              <a:t>მილქშეიკს ყიდულობენ 25-35 წლის მამაკაცები, რომელთაც უყვართ ტკბილი.</a:t>
            </a:r>
          </a:p>
        </p:txBody>
      </p:sp>
      <p:sp>
        <p:nvSpPr>
          <p:cNvPr id="5" name="Rounded Rectangle 4"/>
          <p:cNvSpPr/>
          <p:nvPr/>
        </p:nvSpPr>
        <p:spPr>
          <a:xfrm>
            <a:off x="6187287" y="1463040"/>
            <a:ext cx="5638647" cy="2377440"/>
          </a:xfrm>
          <a:prstGeom prst="roundRect">
            <a:avLst>
              <a:gd name="adj" fmla="val 4000"/>
            </a:avLst>
          </a:prstGeom>
          <a:solidFill>
            <a:srgbClr val="F1F8E9"/>
          </a:solidFill>
          <a:ln w="190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4532D"/>
                </a:solidFill>
              </a:rPr>
              <a:t>🟢 სწორი ანალიზი (JTBD):</a:t>
            </a:r>
          </a:p>
          <a:p>
            <a:r>
              <a:rPr sz="1200">
                <a:solidFill>
                  <a:srgbClr val="333333"/>
                </a:solidFill>
              </a:rPr>
              <a:t>მომხმარებელი „ქირაობს“ მილქშეიკს, რათა გრძელი და მოსაწყენი მგზავრობისას მანქანაში ჰქონდეს რაღაც ნოყიერი, რაც დიდხანს არ გათავდება და ხელს დაუკავებს.</a:t>
            </a:r>
          </a:p>
        </p:txBody>
      </p:sp>
      <p:sp>
        <p:nvSpPr>
          <p:cNvPr id="6" name="TextBox 5"/>
          <p:cNvSpPr txBox="1"/>
          <p:nvPr/>
        </p:nvSpPr>
        <p:spPr>
          <a:xfrm>
            <a:off x="365760" y="3977640"/>
            <a:ext cx="11460175" cy="457200"/>
          </a:xfrm>
          <a:prstGeom prst="rect">
            <a:avLst/>
          </a:prstGeom>
          <a:noFill/>
        </p:spPr>
        <p:txBody>
          <a:bodyPr wrap="square">
            <a:spAutoFit/>
          </a:bodyPr>
          <a:lstStyle/>
          <a:p>
            <a:r>
              <a:rPr sz="1400">
                <a:solidFill>
                  <a:srgbClr val="475569"/>
                </a:solidFill>
              </a:rPr>
              <a:t>დასკვნა: თქვენი კონკურენტი შეიძლება იყოს არა სხვა მილქშეიკი, არამედ ბანანი ან ორცხობილა.</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JTBD: Formula &amp; Syntax</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როგორ ჩამოვაყალიბოთ JTBD მომხმარებლისთვის?</a:t>
            </a:r>
          </a:p>
        </p:txBody>
      </p:sp>
      <p:sp>
        <p:nvSpPr>
          <p:cNvPr id="4" name="Rounded Rectangle 3"/>
          <p:cNvSpPr/>
          <p:nvPr/>
        </p:nvSpPr>
        <p:spPr>
          <a:xfrm>
            <a:off x="365760" y="1463040"/>
            <a:ext cx="11460175" cy="14630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sz="1300">
                <a:solidFill>
                  <a:srgbClr val="333333"/>
                </a:solidFill>
              </a:rPr>
              <a:t>როდესაც [სიტუაცია/კონტექსტი], მე მინდა [რა ქმედება ან ფუნქცია მჭირდება], რათა შევძლო [რა საბოლოო შედეგს/ემოციას ველოდები].</a:t>
            </a:r>
          </a:p>
        </p:txBody>
      </p:sp>
      <p:sp>
        <p:nvSpPr>
          <p:cNvPr id="5" name="Rounded Rectangle 4"/>
          <p:cNvSpPr/>
          <p:nvPr/>
        </p:nvSpPr>
        <p:spPr>
          <a:xfrm>
            <a:off x="365760" y="3035808"/>
            <a:ext cx="11460175" cy="1188720"/>
          </a:xfrm>
          <a:prstGeom prst="roundRect">
            <a:avLst>
              <a:gd name="adj" fmla="val 3000"/>
            </a:avLst>
          </a:prstGeom>
          <a:solidFill>
            <a:srgbClr val="1E293B"/>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b="1" sz="1200">
                <a:solidFill>
                  <a:srgbClr val="F59E0B"/>
                </a:solidFill>
              </a:rPr>
              <a:t>JTBD Generator Prompt:</a:t>
            </a:r>
          </a:p>
          <a:p>
            <a:r>
              <a:rPr sz="1200">
                <a:solidFill>
                  <a:srgbClr val="E2E8F0"/>
                </a:solidFill>
                <a:latin typeface="Consolas"/>
              </a:rPr>
              <a:t>ჩემი სტარტაპ იდეაა: [იდეა]. სამიზნე მომხმარებელია: [მომხმარებელი]. დამიწერე 3 განსხვავებული JTBD წინადადება ამ ფორმულით.</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Analogical Prompting: Airbnb for X</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არსებული წარმატებული ბიზნეს მოდელების გადმოტანა თქვენს სფეროში:</a:t>
            </a:r>
          </a:p>
        </p:txBody>
      </p:sp>
      <p:sp>
        <p:nvSpPr>
          <p:cNvPr id="4" name="Rounded Rectangle 3"/>
          <p:cNvSpPr/>
          <p:nvPr/>
        </p:nvSpPr>
        <p:spPr>
          <a:xfrm>
            <a:off x="365760" y="1463040"/>
            <a:ext cx="5638647" cy="23774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3A8A"/>
                </a:solidFill>
              </a:rPr>
              <a:t>🔗 პოპულარული ანალოგიები:</a:t>
            </a:r>
          </a:p>
          <a:p>
            <a:r>
              <a:rPr sz="1200">
                <a:solidFill>
                  <a:srgbClr val="333333"/>
                </a:solidFill>
              </a:rPr>
              <a:t>• Uber for X: მოთხოვნადი სერვისები მყისიერად (მაგ. ხელოსნის გამოძახება).</a:t>
            </a:r>
          </a:p>
          <a:p>
            <a:r>
              <a:rPr sz="1200">
                <a:solidFill>
                  <a:srgbClr val="333333"/>
                </a:solidFill>
              </a:rPr>
              <a:t>• Netflix for X: ყოველთვიური ხელმოწერა სერვისებზე (მაგ. ყავის გამოწერა).</a:t>
            </a:r>
          </a:p>
          <a:p>
            <a:r>
              <a:rPr sz="1200">
                <a:solidFill>
                  <a:srgbClr val="333333"/>
                </a:solidFill>
              </a:rPr>
              <a:t>• Airbnb for X: გამოუყენებელი აქტივების გაქირავება (მაგ. ავტოფარეხების გაქირავება).</a:t>
            </a:r>
          </a:p>
        </p:txBody>
      </p:sp>
      <p:sp>
        <p:nvSpPr>
          <p:cNvPr id="5" name="Rounded Rectangle 4"/>
          <p:cNvSpPr/>
          <p:nvPr/>
        </p:nvSpPr>
        <p:spPr>
          <a:xfrm>
            <a:off x="6187287" y="1463040"/>
            <a:ext cx="5638647" cy="237744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sz="1200">
                <a:solidFill>
                  <a:srgbClr val="333333"/>
                </a:solidFill>
              </a:rPr>
              <a:t>Analogical Prompt: შემომთავაზე 5 სხვადასხვა "Airbnb for X" ან "Uber for X" ანალოგიური ბიზნეს მოდელი [სფერო] ინდუსტრიისთვის საქართველოში.</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Contrarian Prompting: Defying Industry Rules</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როგორ შევქმნათ ინოვაცია საყოველთაოდ მიღებული წესების უარყოფით?</a:t>
            </a:r>
          </a:p>
        </p:txBody>
      </p:sp>
      <p:sp>
        <p:nvSpPr>
          <p:cNvPr id="4" name="Rounded Rectangle 3"/>
          <p:cNvSpPr/>
          <p:nvPr/>
        </p:nvSpPr>
        <p:spPr>
          <a:xfrm>
            <a:off x="365760" y="1463040"/>
            <a:ext cx="5638647" cy="2377440"/>
          </a:xfrm>
          <a:prstGeom prst="roundRect">
            <a:avLst>
              <a:gd name="adj" fmla="val 4000"/>
            </a:avLst>
          </a:prstGeom>
          <a:solidFill>
            <a:srgbClr val="FFF3E0"/>
          </a:solidFill>
          <a:ln w="19050">
            <a:solidFill>
              <a:srgbClr val="FF98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7C2D12"/>
                </a:solidFill>
              </a:rPr>
              <a:t>❌ ინდუსტრიის წესი:</a:t>
            </a:r>
          </a:p>
          <a:p>
            <a:r>
              <a:rPr sz="1200">
                <a:solidFill>
                  <a:srgbClr val="333333"/>
                </a:solidFill>
              </a:rPr>
              <a:t>სასტუმროში შესვლისას ყოველთვის უნდა გაიაროთ რეგისტრაცია მისაღებში (Reception).</a:t>
            </a:r>
          </a:p>
        </p:txBody>
      </p:sp>
      <p:sp>
        <p:nvSpPr>
          <p:cNvPr id="5" name="Rounded Rectangle 4"/>
          <p:cNvSpPr/>
          <p:nvPr/>
        </p:nvSpPr>
        <p:spPr>
          <a:xfrm>
            <a:off x="6187287" y="1463040"/>
            <a:ext cx="5638647" cy="2377440"/>
          </a:xfrm>
          <a:prstGeom prst="roundRect">
            <a:avLst>
              <a:gd name="adj" fmla="val 4000"/>
            </a:avLst>
          </a:prstGeom>
          <a:solidFill>
            <a:srgbClr val="F1F8E9"/>
          </a:solidFill>
          <a:ln w="190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4532D"/>
                </a:solidFill>
              </a:rPr>
              <a:t>🟢 Contrarian მიდგომა:</a:t>
            </a:r>
          </a:p>
          <a:p>
            <a:r>
              <a:rPr sz="1200">
                <a:solidFill>
                  <a:srgbClr val="333333"/>
                </a:solidFill>
              </a:rPr>
              <a:t>არანაირი მისაღები. კარი იხსნება მობილური აპლიკაციით, რითაც იზოგება პერსონალის ხარჯი და მომხმარებლის დრო.</a:t>
            </a:r>
          </a:p>
        </p:txBody>
      </p:sp>
      <p:sp>
        <p:nvSpPr>
          <p:cNvPr id="6" name="Rounded Rectangle 5"/>
          <p:cNvSpPr/>
          <p:nvPr/>
        </p:nvSpPr>
        <p:spPr>
          <a:xfrm>
            <a:off x="365760" y="3977640"/>
            <a:ext cx="11460175" cy="1188720"/>
          </a:xfrm>
          <a:prstGeom prst="roundRect">
            <a:avLst>
              <a:gd name="adj" fmla="val 3000"/>
            </a:avLst>
          </a:prstGeom>
          <a:solidFill>
            <a:srgbClr val="1E293B"/>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b="1" sz="1200">
                <a:solidFill>
                  <a:srgbClr val="F59E0B"/>
                </a:solidFill>
              </a:rPr>
              <a:t>Contrarian Prompt:</a:t>
            </a:r>
          </a:p>
          <a:p>
            <a:r>
              <a:rPr sz="1200">
                <a:solidFill>
                  <a:srgbClr val="E2E8F0"/>
                </a:solidFill>
                <a:latin typeface="Consolas"/>
              </a:rPr>
              <a:t>დაასახელე 3 მიღებული წესი და სტანდარტი [სფერო] ინდუსტრიაში. შემდეგ შემომთავაზე Contrarian იდეა, რომელიც ამ წესებს სრულიად არღვევს და ქმნის ახალ ბიზნეს მოდელს.</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Lean Canvas: Blocks 1-3</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ბიზნეს მოდელის პირველი და ყველაზე კრიტიკული ნაწილი:</a:t>
            </a:r>
          </a:p>
        </p:txBody>
      </p:sp>
      <p:sp>
        <p:nvSpPr>
          <p:cNvPr id="4" name="Rounded Rectangle 3"/>
          <p:cNvSpPr/>
          <p:nvPr/>
        </p:nvSpPr>
        <p:spPr>
          <a:xfrm>
            <a:off x="365760"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1. Problem (პრობლემა)</a:t>
            </a:r>
          </a:p>
          <a:p>
            <a:r>
              <a:rPr sz="1200">
                <a:solidFill>
                  <a:srgbClr val="333333"/>
                </a:solidFill>
              </a:rPr>
              <a:t>1-3 მთავარი პრობლემა, რომელსაც მომხმარებელი აწყდება. ასევე, არსებული ალტერნატივები.</a:t>
            </a:r>
          </a:p>
        </p:txBody>
      </p:sp>
      <p:sp>
        <p:nvSpPr>
          <p:cNvPr id="5" name="Rounded Rectangle 4"/>
          <p:cNvSpPr/>
          <p:nvPr/>
        </p:nvSpPr>
        <p:spPr>
          <a:xfrm>
            <a:off x="4231538"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2. Customer Segments</a:t>
            </a:r>
          </a:p>
          <a:p>
            <a:r>
              <a:rPr sz="1200">
                <a:solidFill>
                  <a:srgbClr val="333333"/>
                </a:solidFill>
              </a:rPr>
              <a:t>ვინ არის სამიზნე მომხმარებელი? ვინ არიან თქვენი პირველი მომხმარებლები (Early Adopters)?</a:t>
            </a:r>
          </a:p>
        </p:txBody>
      </p:sp>
      <p:sp>
        <p:nvSpPr>
          <p:cNvPr id="6" name="Rounded Rectangle 5"/>
          <p:cNvSpPr/>
          <p:nvPr/>
        </p:nvSpPr>
        <p:spPr>
          <a:xfrm>
            <a:off x="8097316"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3. UVP (ფასეულობა)</a:t>
            </a:r>
          </a:p>
          <a:p>
            <a:r>
              <a:rPr sz="1200">
                <a:solidFill>
                  <a:srgbClr val="333333"/>
                </a:solidFill>
              </a:rPr>
              <a:t>მკაფიო მესიჯი, რომელიც ხსნის, რით ხართ განსხვავებული და რატომ უნდა იყიდონ თქვენგან.</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Lean Canvas: Blocks 4-6</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ბიზნეს მოდელის მეორე ნაწილი - გადაწყვეტა და ფინანსები:</a:t>
            </a:r>
          </a:p>
        </p:txBody>
      </p:sp>
      <p:sp>
        <p:nvSpPr>
          <p:cNvPr id="4" name="Rounded Rectangle 3"/>
          <p:cNvSpPr/>
          <p:nvPr/>
        </p:nvSpPr>
        <p:spPr>
          <a:xfrm>
            <a:off x="365760"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4. Solution (გადაწყვეტა)</a:t>
            </a:r>
          </a:p>
          <a:p>
            <a:r>
              <a:rPr sz="1200">
                <a:solidFill>
                  <a:srgbClr val="333333"/>
                </a:solidFill>
              </a:rPr>
              <a:t>3 ძირითადი ფუნქცია, რომლითაც აგვარებთ თითოეულ პრობლემას.</a:t>
            </a:r>
          </a:p>
        </p:txBody>
      </p:sp>
      <p:sp>
        <p:nvSpPr>
          <p:cNvPr id="5" name="Rounded Rectangle 4"/>
          <p:cNvSpPr/>
          <p:nvPr/>
        </p:nvSpPr>
        <p:spPr>
          <a:xfrm>
            <a:off x="4231538"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5. Channels (არხები)</a:t>
            </a:r>
          </a:p>
          <a:p>
            <a:r>
              <a:rPr sz="1200">
                <a:solidFill>
                  <a:srgbClr val="333333"/>
                </a:solidFill>
              </a:rPr>
              <a:t>როგორ მიაღწევთ მომხმარებლამდე? (სოც. მედია, SEO, პარტნიორობები, გაყიდვები).</a:t>
            </a:r>
          </a:p>
        </p:txBody>
      </p:sp>
      <p:sp>
        <p:nvSpPr>
          <p:cNvPr id="6" name="Rounded Rectangle 5"/>
          <p:cNvSpPr/>
          <p:nvPr/>
        </p:nvSpPr>
        <p:spPr>
          <a:xfrm>
            <a:off x="8097316"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6. Revenue Streams</a:t>
            </a:r>
          </a:p>
          <a:p>
            <a:r>
              <a:rPr sz="1200">
                <a:solidFill>
                  <a:srgbClr val="333333"/>
                </a:solidFill>
              </a:rPr>
              <a:t>როგორ გამოიმუშავებთ ფულს? (SaaS გამოწერა, ერთჯერადი გაყიდვა, საკომისიო).</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Lean Canvas: Blocks 7-9</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ბიზნეს მოდელის ბოლო ნაწილი - ხარჯები, მეტრიკები და უპირატესობა:</a:t>
            </a:r>
          </a:p>
        </p:txBody>
      </p:sp>
      <p:sp>
        <p:nvSpPr>
          <p:cNvPr id="4" name="Rounded Rectangle 3"/>
          <p:cNvSpPr/>
          <p:nvPr/>
        </p:nvSpPr>
        <p:spPr>
          <a:xfrm>
            <a:off x="365760"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7. Cost Structure</a:t>
            </a:r>
          </a:p>
          <a:p>
            <a:r>
              <a:rPr sz="1200">
                <a:solidFill>
                  <a:srgbClr val="333333"/>
                </a:solidFill>
              </a:rPr>
              <a:t>თქვენი ძირითადი ფიქსირებული და ცვლადი ხარჯები (ჰოსტინგი, მარკეტინგი, დომენი).</a:t>
            </a:r>
          </a:p>
        </p:txBody>
      </p:sp>
      <p:sp>
        <p:nvSpPr>
          <p:cNvPr id="5" name="Rounded Rectangle 4"/>
          <p:cNvSpPr/>
          <p:nvPr/>
        </p:nvSpPr>
        <p:spPr>
          <a:xfrm>
            <a:off x="4231538"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8. Key Metrics</a:t>
            </a:r>
          </a:p>
          <a:p>
            <a:r>
              <a:rPr sz="1200">
                <a:solidFill>
                  <a:srgbClr val="333333"/>
                </a:solidFill>
              </a:rPr>
              <a:t>როგორ გაზომავთ წარმატებას? (რეგისტრაციები, კონვერსია, Churn rate).</a:t>
            </a:r>
          </a:p>
        </p:txBody>
      </p:sp>
      <p:sp>
        <p:nvSpPr>
          <p:cNvPr id="6" name="Rounded Rectangle 5"/>
          <p:cNvSpPr/>
          <p:nvPr/>
        </p:nvSpPr>
        <p:spPr>
          <a:xfrm>
            <a:off x="8097316"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9. Unfair Advantage</a:t>
            </a:r>
          </a:p>
          <a:p>
            <a:r>
              <a:rPr sz="1200">
                <a:solidFill>
                  <a:srgbClr val="333333"/>
                </a:solidFill>
              </a:rPr>
              <a:t>კონკურენტული უპირატესობა, რომლის კოპირებაც რთულია (ექსკლუზიური გუნდი, პატენტი).</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Value Proposition Canvas: Customer Profile</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მომხმარებლის დეტალური შესწავლა:</a:t>
            </a:r>
          </a:p>
        </p:txBody>
      </p:sp>
      <p:sp>
        <p:nvSpPr>
          <p:cNvPr id="4" name="Rounded Rectangle 3"/>
          <p:cNvSpPr/>
          <p:nvPr/>
        </p:nvSpPr>
        <p:spPr>
          <a:xfrm>
            <a:off x="365760" y="1463040"/>
            <a:ext cx="5638647" cy="2377440"/>
          </a:xfrm>
          <a:prstGeom prst="roundRect">
            <a:avLst>
              <a:gd name="adj" fmla="val 4000"/>
            </a:avLst>
          </a:prstGeom>
          <a:solidFill>
            <a:srgbClr val="FFF3E0"/>
          </a:solidFill>
          <a:ln w="19050">
            <a:solidFill>
              <a:srgbClr val="FF98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7C2D12"/>
                </a:solidFill>
              </a:rPr>
              <a:t>👤 Customer Jobs (სამუშაოები):</a:t>
            </a:r>
          </a:p>
          <a:p>
            <a:r>
              <a:rPr sz="1200">
                <a:solidFill>
                  <a:srgbClr val="333333"/>
                </a:solidFill>
              </a:rPr>
              <a:t>რა ტექნიკურ, სოციალურ თუ ემოციურ ამოცანებს ასრულებს მომხმარებელი ყოველდღიურად?</a:t>
            </a:r>
          </a:p>
        </p:txBody>
      </p:sp>
      <p:sp>
        <p:nvSpPr>
          <p:cNvPr id="5" name="Rounded Rectangle 4"/>
          <p:cNvSpPr/>
          <p:nvPr/>
        </p:nvSpPr>
        <p:spPr>
          <a:xfrm>
            <a:off x="6187287" y="1463040"/>
            <a:ext cx="5638647" cy="23774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3A8A"/>
                </a:solidFill>
              </a:rPr>
              <a:t>⚠️ Pains (ტკივილები) &amp; Gains (სარგებელი):</a:t>
            </a:r>
          </a:p>
          <a:p>
            <a:r>
              <a:rPr sz="1200">
                <a:solidFill>
                  <a:srgbClr val="333333"/>
                </a:solidFill>
              </a:rPr>
              <a:t>• Pains: რა უშლის ხელს ამ საქმის კეთებაში? რა რისკებია?</a:t>
            </a:r>
          </a:p>
          <a:p>
            <a:r>
              <a:rPr sz="1200">
                <a:solidFill>
                  <a:srgbClr val="333333"/>
                </a:solidFill>
              </a:rPr>
              <a:t>• Gains: რა დადებით შედეგს ელოდება წარმატების შემთხვევაში?</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კონკურენტების ანალიზი და Feature Matrix</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როგორ შევისწავლოთ კონკურენტები Perplexity-ის მეშვეობით და ვაჩვენოთ ჩვენი უპირატესობა?</a:t>
            </a:r>
          </a:p>
        </p:txBody>
      </p:sp>
      <p:sp>
        <p:nvSpPr>
          <p:cNvPr id="4" name="Rounded Rectangle 3"/>
          <p:cNvSpPr/>
          <p:nvPr/>
        </p:nvSpPr>
        <p:spPr>
          <a:xfrm>
            <a:off x="365760" y="1463040"/>
            <a:ext cx="11460175" cy="14630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500">
                <a:solidFill>
                  <a:srgbClr val="1E3A8A"/>
                </a:solidFill>
              </a:rPr>
              <a:t>📊 Feature Matrix:</a:t>
            </a:r>
          </a:p>
          <a:p>
            <a:r>
              <a:rPr sz="1300">
                <a:solidFill>
                  <a:srgbClr val="333333"/>
                </a:solidFill>
              </a:rPr>
              <a:t>შედარებითი ცხრილი, რომელიც აჩვენებს თქვენი პროდუქტისა და კონკურენტების ფუნქციების, ფასისა და სუსტი მხარეების თანაფარდობას.</a:t>
            </a:r>
          </a:p>
        </p:txBody>
      </p:sp>
      <p:sp>
        <p:nvSpPr>
          <p:cNvPr id="5" name="Rounded Rectangle 4"/>
          <p:cNvSpPr/>
          <p:nvPr/>
        </p:nvSpPr>
        <p:spPr>
          <a:xfrm>
            <a:off x="365760" y="3035808"/>
            <a:ext cx="11460175" cy="1188720"/>
          </a:xfrm>
          <a:prstGeom prst="roundRect">
            <a:avLst>
              <a:gd name="adj" fmla="val 3000"/>
            </a:avLst>
          </a:prstGeom>
          <a:solidFill>
            <a:srgbClr val="1E293B"/>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b="1" sz="1200">
                <a:solidFill>
                  <a:srgbClr val="F59E0B"/>
                </a:solidFill>
              </a:rPr>
              <a:t>Competitor Analysis Prompt:</a:t>
            </a:r>
          </a:p>
          <a:p>
            <a:r>
              <a:rPr sz="1200">
                <a:solidFill>
                  <a:srgbClr val="E2E8F0"/>
                </a:solidFill>
                <a:latin typeface="Consolas"/>
              </a:rPr>
              <a:t>როლი: ბაზრის წამყვანი ანალიტიკოსი და სტარტაპ კონსულტანტი. კონტექსტი: ვამზადებ კონკურენტულ ანალიზს ჩემი სტარტაპისთვის. ჩემი პროდუქტი: [აღწერე პროდუქტი]. დავალება: მოიძიე ინტერნეტში ჩემი პროდუქტის 3 ძირითადი კონკურენტი. გამომავალი ფორმატი: 1. შეადგინე Feature Matrix ცხრილის სახით (ჩვენი პროდუქტი vs 3 კონკურენტი), სადაც შეადარებ: ფუნქციებს, საფასო მოდელს, ძლიერ და სუსტ მხარეებს. 2. მოამზადე მოკლე SWOT ანალიზი თითოეულისთვის. 3. ჩამოაყალიბე ჩვენი Unfair Advantage (უნიკალური კონკურენტული უპირატესობა).</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მომხმარებლის ინტერვიუს სცენარი (Customer Interview Script)</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როგორ ვესაუბროთ პოტენციურ მომხმარებელს, რათა მივიღოთ რეალური ინსაითები და არა ცრუ იმედები?</a:t>
            </a:r>
          </a:p>
        </p:txBody>
      </p:sp>
      <p:sp>
        <p:nvSpPr>
          <p:cNvPr id="4" name="Rounded Rectangle 3"/>
          <p:cNvSpPr/>
          <p:nvPr/>
        </p:nvSpPr>
        <p:spPr>
          <a:xfrm>
            <a:off x="365760" y="1463040"/>
            <a:ext cx="5638647" cy="2377440"/>
          </a:xfrm>
          <a:prstGeom prst="roundRect">
            <a:avLst>
              <a:gd name="adj" fmla="val 4000"/>
            </a:avLst>
          </a:prstGeom>
          <a:solidFill>
            <a:srgbClr val="FFF3E0"/>
          </a:solidFill>
          <a:ln w="19050">
            <a:solidFill>
              <a:srgbClr val="FF98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7C2D12"/>
                </a:solidFill>
              </a:rPr>
              <a:t>❌ არასწორი კითხვები:</a:t>
            </a:r>
          </a:p>
          <a:p>
            <a:r>
              <a:rPr sz="1200">
                <a:solidFill>
                  <a:srgbClr val="333333"/>
                </a:solidFill>
              </a:rPr>
              <a:t>• „მოგწონთ ჩემი იდეა?“ (ადამიანები მოგატყუებენ, რომ გული არ გატკინონ);</a:t>
            </a:r>
          </a:p>
          <a:p>
            <a:r>
              <a:rPr sz="1200">
                <a:solidFill>
                  <a:srgbClr val="333333"/>
                </a:solidFill>
              </a:rPr>
              <a:t>• „იყიდიდით ასეთ აპლიკაციას?“ (ჰიპოთეტური კითხვები არ მუშაობს).</a:t>
            </a:r>
          </a:p>
        </p:txBody>
      </p:sp>
      <p:sp>
        <p:nvSpPr>
          <p:cNvPr id="5" name="Rounded Rectangle 4"/>
          <p:cNvSpPr/>
          <p:nvPr/>
        </p:nvSpPr>
        <p:spPr>
          <a:xfrm>
            <a:off x="6187287" y="1463040"/>
            <a:ext cx="5638647" cy="2377440"/>
          </a:xfrm>
          <a:prstGeom prst="roundRect">
            <a:avLst>
              <a:gd name="adj" fmla="val 4000"/>
            </a:avLst>
          </a:prstGeom>
          <a:solidFill>
            <a:srgbClr val="F1F8E9"/>
          </a:solidFill>
          <a:ln w="190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4532D"/>
                </a:solidFill>
              </a:rPr>
              <a:t>🟢 სწორი კითხვები (The Mom Test):</a:t>
            </a:r>
          </a:p>
          <a:p>
            <a:r>
              <a:rPr sz="1200">
                <a:solidFill>
                  <a:srgbClr val="333333"/>
                </a:solidFill>
              </a:rPr>
              <a:t>• „როგორ წყვეტთ ამ პრობლემას დღეს?“</a:t>
            </a:r>
          </a:p>
          <a:p>
            <a:r>
              <a:rPr sz="1200">
                <a:solidFill>
                  <a:srgbClr val="333333"/>
                </a:solidFill>
              </a:rPr>
              <a:t>• „ბოლოს როდის მოხდა ეს პრობლემა და რა გააკეთეთ?“</a:t>
            </a:r>
          </a:p>
          <a:p>
            <a:r>
              <a:rPr sz="1200">
                <a:solidFill>
                  <a:srgbClr val="333333"/>
                </a:solidFill>
              </a:rPr>
              <a:t>• „რა იყო ყველაზე რთული ამ პროცესში და რატომ?“</a:t>
            </a:r>
          </a:p>
        </p:txBody>
      </p:sp>
      <p:sp>
        <p:nvSpPr>
          <p:cNvPr id="6" name="TextBox 5"/>
          <p:cNvSpPr txBox="1"/>
          <p:nvPr/>
        </p:nvSpPr>
        <p:spPr>
          <a:xfrm>
            <a:off x="365760" y="3977640"/>
            <a:ext cx="11460175" cy="457200"/>
          </a:xfrm>
          <a:prstGeom prst="rect">
            <a:avLst/>
          </a:prstGeom>
          <a:noFill/>
        </p:spPr>
        <p:txBody>
          <a:bodyPr wrap="square">
            <a:spAutoFit/>
          </a:bodyPr>
          <a:lstStyle/>
          <a:p>
            <a:r>
              <a:rPr sz="1400">
                <a:solidFill>
                  <a:srgbClr val="475569"/>
                </a:solidFill>
              </a:rPr>
              <a:t>ოქროს წესი: ჰკითხეთ მათ წარსულ გამოცდილებაზე და ქცევაზე და არა მომავლის გეგმებზე.</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The Mom Test: კითხვების ჩატარების წესები</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Actionable cheatsheet მომხმარებელთან ინტერვიუს სწორად წარსამართად:</a:t>
            </a:r>
          </a:p>
        </p:txBody>
      </p:sp>
      <p:sp>
        <p:nvSpPr>
          <p:cNvPr id="4" name="Rounded Rectangle 3"/>
          <p:cNvSpPr/>
          <p:nvPr/>
        </p:nvSpPr>
        <p:spPr>
          <a:xfrm>
            <a:off x="365760" y="1463040"/>
            <a:ext cx="5638647" cy="23774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3A8A"/>
                </a:solidFill>
              </a:rPr>
              <a:t>🟢 დასვით ეს კითხვები (Do's)</a:t>
            </a:r>
          </a:p>
          <a:p>
            <a:r>
              <a:rPr sz="1200">
                <a:solidFill>
                  <a:srgbClr val="333333"/>
                </a:solidFill>
              </a:rPr>
              <a:t>• „როგორ ჭრით ამ პრობლემას ამჟამად?“</a:t>
            </a:r>
          </a:p>
          <a:p>
            <a:r>
              <a:rPr sz="1200">
                <a:solidFill>
                  <a:srgbClr val="333333"/>
                </a:solidFill>
              </a:rPr>
              <a:t>• „ბოლოს როდის მოხდა ეს და კონკრეტულად რა გააკეთეთ?“</a:t>
            </a:r>
          </a:p>
          <a:p>
            <a:r>
              <a:rPr sz="1200">
                <a:solidFill>
                  <a:srgbClr val="333333"/>
                </a:solidFill>
              </a:rPr>
              <a:t>• „რა იყო ამ პროცესში ყველაზე დამღლელი/ძვირი?“</a:t>
            </a:r>
          </a:p>
          <a:p>
            <a:r>
              <a:rPr sz="1200">
                <a:solidFill>
                  <a:srgbClr val="333333"/>
                </a:solidFill>
              </a:rPr>
              <a:t>• „რომელი ინსტრუმენტი გამოიყენეთ ბოლოს და რა გადაიხადეთ?“</a:t>
            </a:r>
          </a:p>
          <a:p>
            <a:r>
              <a:rPr sz="1200">
                <a:solidFill>
                  <a:srgbClr val="333333"/>
                </a:solidFill>
              </a:rPr>
              <a:t>• „კიდევ ვის იცნობთ, ვისაც ეს პრობლემა აწუხებს?“</a:t>
            </a:r>
          </a:p>
        </p:txBody>
      </p:sp>
      <p:sp>
        <p:nvSpPr>
          <p:cNvPr id="5" name="Rounded Rectangle 4"/>
          <p:cNvSpPr/>
          <p:nvPr/>
        </p:nvSpPr>
        <p:spPr>
          <a:xfrm>
            <a:off x="6187287" y="1463040"/>
            <a:ext cx="5638647" cy="2377440"/>
          </a:xfrm>
          <a:prstGeom prst="roundRect">
            <a:avLst>
              <a:gd name="adj" fmla="val 4000"/>
            </a:avLst>
          </a:prstGeom>
          <a:solidFill>
            <a:srgbClr val="FFF3E0"/>
          </a:solidFill>
          <a:ln w="19050">
            <a:solidFill>
              <a:srgbClr val="FF98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7C2D12"/>
                </a:solidFill>
              </a:rPr>
              <a:t>🔴 მოერიდეთ ამ კითხვებს (Don'ts)</a:t>
            </a:r>
          </a:p>
          <a:p>
            <a:r>
              <a:rPr sz="1200">
                <a:solidFill>
                  <a:srgbClr val="333333"/>
                </a:solidFill>
              </a:rPr>
              <a:t>• „მოგწონთ თუ არა ჩემი იდეა?“ (ყველა გეტყვით რომ მოსწონს)</a:t>
            </a:r>
          </a:p>
          <a:p>
            <a:r>
              <a:rPr sz="1200">
                <a:solidFill>
                  <a:srgbClr val="333333"/>
                </a:solidFill>
              </a:rPr>
              <a:t>• „იყიდიდით თუ არა ამ აპლიკაციას?“ (ჰიპოთეტური პასუხები)</a:t>
            </a:r>
          </a:p>
          <a:p>
            <a:r>
              <a:rPr sz="1200">
                <a:solidFill>
                  <a:srgbClr val="333333"/>
                </a:solidFill>
              </a:rPr>
              <a:t>• „რამდენს გადაიხდიდით ამ სერვისში?“ (არარეალური ციფრები)</a:t>
            </a:r>
          </a:p>
          <a:p>
            <a:r>
              <a:rPr sz="1200">
                <a:solidFill>
                  <a:srgbClr val="333333"/>
                </a:solidFill>
              </a:rPr>
              <a:t>• „დაგეხმარებოდათ თუ არა ეს ფუნქცია?“ (ყველაფერზე გეტვიან კი-ს)</a:t>
            </a:r>
          </a:p>
          <a:p>
            <a:r>
              <a:rPr sz="1200">
                <a:solidFill>
                  <a:srgbClr val="333333"/>
                </a:solidFill>
              </a:rPr>
              <a:t>• „როგორი უნდა იყოს იდეალური პროდუქტი?“ (ხალხმა არ იცის რა უნდა)</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Value Proposition Canvas: Value Map Alignment</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როგორ ერგება თქვენი პროდუქტი მომხმარებლის პროფილს?</a:t>
            </a:r>
          </a:p>
        </p:txBody>
      </p:sp>
      <p:sp>
        <p:nvSpPr>
          <p:cNvPr id="4" name="Rounded Rectangle 3"/>
          <p:cNvSpPr/>
          <p:nvPr/>
        </p:nvSpPr>
        <p:spPr>
          <a:xfrm>
            <a:off x="365760" y="1463040"/>
            <a:ext cx="5638647" cy="2377440"/>
          </a:xfrm>
          <a:prstGeom prst="roundRect">
            <a:avLst>
              <a:gd name="adj" fmla="val 4000"/>
            </a:avLst>
          </a:prstGeom>
          <a:solidFill>
            <a:srgbClr val="F1F8E9"/>
          </a:solidFill>
          <a:ln w="190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4532D"/>
                </a:solidFill>
              </a:rPr>
              <a:t>📦 ჩვენი შეთავაზება:</a:t>
            </a:r>
          </a:p>
          <a:p>
            <a:r>
              <a:rPr sz="1200">
                <a:solidFill>
                  <a:srgbClr val="333333"/>
                </a:solidFill>
              </a:rPr>
              <a:t>• Products &amp; Services: ჩვენი კონკრეტული MVP პროდუქტი.</a:t>
            </a:r>
          </a:p>
          <a:p>
            <a:r>
              <a:rPr sz="1200">
                <a:solidFill>
                  <a:srgbClr val="333333"/>
                </a:solidFill>
              </a:rPr>
              <a:t>• Pain Relievers: როგორ ვაყუჩებთ მომხმარებლის ტკივილს?</a:t>
            </a:r>
          </a:p>
          <a:p>
            <a:r>
              <a:rPr sz="1200">
                <a:solidFill>
                  <a:srgbClr val="333333"/>
                </a:solidFill>
              </a:rPr>
              <a:t>• Gain Creators: როგორ ვქმნით დამატებით სარგებელს?</a:t>
            </a:r>
          </a:p>
        </p:txBody>
      </p:sp>
      <p:sp>
        <p:nvSpPr>
          <p:cNvPr id="5" name="Rounded Rectangle 4"/>
          <p:cNvSpPr/>
          <p:nvPr/>
        </p:nvSpPr>
        <p:spPr>
          <a:xfrm>
            <a:off x="6187287" y="1463040"/>
            <a:ext cx="5638647" cy="2377440"/>
          </a:xfrm>
          <a:prstGeom prst="roundRect">
            <a:avLst>
              <a:gd name="adj" fmla="val 4000"/>
            </a:avLst>
          </a:prstGeom>
          <a:solidFill>
            <a:srgbClr val="E3F2FD"/>
          </a:solidFill>
          <a:ln w="19050">
            <a:solidFill>
              <a:srgbClr val="2196F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3A8A"/>
                </a:solidFill>
              </a:rPr>
              <a:t>🎯 იდეალური მორგება (Fit):</a:t>
            </a:r>
          </a:p>
          <a:p>
            <a:r>
              <a:rPr sz="1200">
                <a:solidFill>
                  <a:srgbClr val="333333"/>
                </a:solidFill>
              </a:rPr>
              <a:t>თქვენი Pain Relievers და Gain Creators ზუსტად უნდა პასუხობდნენ მომხმარებლის მიერ დასახელებულ Pains &amp; Gains-ს.</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Homework Part A Guidelines</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Day 1-ის ბოლოს გასაგზავნი დავალება (20 წუთი):</a:t>
            </a:r>
          </a:p>
        </p:txBody>
      </p:sp>
      <p:sp>
        <p:nvSpPr>
          <p:cNvPr id="4" name="Rounded Rectangle 3"/>
          <p:cNvSpPr/>
          <p:nvPr/>
        </p:nvSpPr>
        <p:spPr>
          <a:xfrm>
            <a:off x="365760" y="1463040"/>
            <a:ext cx="11460175" cy="1463040"/>
          </a:xfrm>
          <a:prstGeom prst="roundRect">
            <a:avLst>
              <a:gd name="adj" fmla="val 4000"/>
            </a:avLst>
          </a:prstGeom>
          <a:solidFill>
            <a:srgbClr val="F1F8E9"/>
          </a:solidFill>
          <a:ln w="190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500">
                <a:solidFill>
                  <a:srgbClr val="14532D"/>
                </a:solidFill>
              </a:rPr>
              <a:t>📋 დავალების ნაბიჯები:</a:t>
            </a:r>
          </a:p>
          <a:p>
            <a:r>
              <a:rPr sz="1300">
                <a:solidFill>
                  <a:srgbClr val="333333"/>
                </a:solidFill>
              </a:rPr>
              <a:t>• რეგისტრაცია (5 წთ): დარეგისტრირდით Lovable.dev, Supabase, Make.com, Perplexity-ზე.</a:t>
            </a:r>
          </a:p>
          <a:p>
            <a:r>
              <a:rPr sz="1300">
                <a:solidFill>
                  <a:srgbClr val="333333"/>
                </a:solidFill>
              </a:rPr>
              <a:t>• 1 მომხმარებლის ინტერვიუ (10 წთ): დაუსვით 3 ღია კითხვა პოტენციურ კლიენტს და ჩაწერეთ 3 Insights.</a:t>
            </a:r>
          </a:p>
          <a:p>
            <a:r>
              <a:rPr sz="1300">
                <a:solidFill>
                  <a:srgbClr val="333333"/>
                </a:solidFill>
              </a:rPr>
              <a:t>• Pitch-ის გამარტივება (5 წთ): ჩამოაყალიბეთ თქვენი იდეა 1 წინადადებაში.</a:t>
            </a:r>
          </a:p>
        </p:txBody>
      </p:sp>
      <p:sp>
        <p:nvSpPr>
          <p:cNvPr id="5" name="Rounded Rectangle 4"/>
          <p:cNvSpPr/>
          <p:nvPr/>
        </p:nvSpPr>
        <p:spPr>
          <a:xfrm>
            <a:off x="365760" y="3035808"/>
            <a:ext cx="11460175" cy="1463040"/>
          </a:xfrm>
          <a:prstGeom prst="roundRect">
            <a:avLst>
              <a:gd name="adj" fmla="val 4000"/>
            </a:avLst>
          </a:prstGeom>
          <a:solidFill>
            <a:srgbClr val="FFF3E0"/>
          </a:solidFill>
          <a:ln w="19050">
            <a:solidFill>
              <a:srgbClr val="FF98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sz="1300">
                <a:solidFill>
                  <a:srgbClr val="333333"/>
                </a:solidFill>
              </a:rPr>
              <a:t>📧 გაგზავნის წესი: გამოიყენეთ `day1_homework_template.md` და გამოაგზავნეთ მეილზე შაბათს დილის 10:00 საათამდე.</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175" cy="822960"/>
          </a:xfrm>
          <a:prstGeom prst="rect">
            <a:avLst/>
          </a:prstGeom>
          <a:noFill/>
        </p:spPr>
        <p:txBody>
          <a:bodyPr wrap="square">
            <a:spAutoFit/>
          </a:bodyPr>
          <a:lstStyle/>
          <a:p>
            <a:r>
              <a:rPr sz="2600" b="1">
                <a:solidFill>
                  <a:srgbClr val="D97706"/>
                </a:solidFill>
              </a:rPr>
              <a:t>Day 1 Wrap-up &amp; Checklist</a:t>
            </a:r>
          </a:p>
        </p:txBody>
      </p:sp>
      <p:sp>
        <p:nvSpPr>
          <p:cNvPr id="3" name="TextBox 2"/>
          <p:cNvSpPr txBox="1"/>
          <p:nvPr/>
        </p:nvSpPr>
        <p:spPr>
          <a:xfrm>
            <a:off x="365760" y="1051560"/>
            <a:ext cx="11460175" cy="457200"/>
          </a:xfrm>
          <a:prstGeom prst="rect">
            <a:avLst/>
          </a:prstGeom>
          <a:noFill/>
        </p:spPr>
        <p:txBody>
          <a:bodyPr wrap="square">
            <a:spAutoFit/>
          </a:bodyPr>
          <a:lstStyle/>
          <a:p>
            <a:r>
              <a:rPr sz="1400">
                <a:solidFill>
                  <a:srgbClr val="475569"/>
                </a:solidFill>
              </a:rPr>
              <a:t>გილოცავთ! Day 1-ის ძირითადი ეტაპები დასრულებულია:</a:t>
            </a:r>
          </a:p>
        </p:txBody>
      </p:sp>
      <p:sp>
        <p:nvSpPr>
          <p:cNvPr id="4" name="Rounded Rectangle 3"/>
          <p:cNvSpPr/>
          <p:nvPr/>
        </p:nvSpPr>
        <p:spPr>
          <a:xfrm>
            <a:off x="365760"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იდეაცია</a:t>
            </a:r>
          </a:p>
          <a:p>
            <a:r>
              <a:rPr sz="1200">
                <a:solidFill>
                  <a:srgbClr val="333333"/>
                </a:solidFill>
              </a:rPr>
              <a:t>SCAMPER და 5 Whys ტექნიკით იდეები გაღრმავდა.</a:t>
            </a:r>
          </a:p>
        </p:txBody>
      </p:sp>
      <p:sp>
        <p:nvSpPr>
          <p:cNvPr id="5" name="Rounded Rectangle 4"/>
          <p:cNvSpPr/>
          <p:nvPr/>
        </p:nvSpPr>
        <p:spPr>
          <a:xfrm>
            <a:off x="4231538"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ვალიდაცია</a:t>
            </a:r>
          </a:p>
          <a:p>
            <a:r>
              <a:rPr sz="1200">
                <a:solidFill>
                  <a:srgbClr val="333333"/>
                </a:solidFill>
              </a:rPr>
              <a:t>Lean Canvas და VPC-ით ბიზნეს მოდელი მზად არის.</a:t>
            </a:r>
          </a:p>
        </p:txBody>
      </p:sp>
      <p:sp>
        <p:nvSpPr>
          <p:cNvPr id="6" name="Rounded Rectangle 5"/>
          <p:cNvSpPr/>
          <p:nvPr/>
        </p:nvSpPr>
        <p:spPr>
          <a:xfrm>
            <a:off x="8097316" y="1463040"/>
            <a:ext cx="3728618" cy="2194560"/>
          </a:xfrm>
          <a:prstGeom prst="roundRect">
            <a:avLst>
              <a:gd name="adj" fmla="val 4000"/>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b="1" sz="1400">
                <a:solidFill>
                  <a:srgbClr val="1E293B"/>
                </a:solidFill>
              </a:rPr>
              <a:t>🚀 მზადება ხვალისთვის</a:t>
            </a:r>
          </a:p>
          <a:p>
            <a:r>
              <a:rPr sz="1200">
                <a:solidFill>
                  <a:srgbClr val="333333"/>
                </a:solidFill>
              </a:rPr>
              <a:t>ხვალ ავაწყობთ რეალურ MVP საიტს Lovable-ში და Make.com-ის ავტომატიზაციას.</a:t>
            </a:r>
          </a:p>
        </p:txBody>
      </p:sp>
      <p:sp>
        <p:nvSpPr>
          <p:cNvPr id="7" name="TextBox 6"/>
          <p:cNvSpPr txBox="1"/>
          <p:nvPr/>
        </p:nvSpPr>
        <p:spPr>
          <a:xfrm>
            <a:off x="365760" y="3767328"/>
            <a:ext cx="11460175" cy="457200"/>
          </a:xfrm>
          <a:prstGeom prst="rect">
            <a:avLst/>
          </a:prstGeom>
          <a:noFill/>
        </p:spPr>
        <p:txBody>
          <a:bodyPr wrap="square">
            <a:spAutoFit/>
          </a:bodyPr>
          <a:lstStyle/>
          <a:p>
            <a:r>
              <a:rPr sz="1400">
                <a:solidFill>
                  <a:srgbClr val="475569"/>
                </a:solidFill>
              </a:rPr>
              <a:t>შევხვდებით ხვალ 10:00 საათზე!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