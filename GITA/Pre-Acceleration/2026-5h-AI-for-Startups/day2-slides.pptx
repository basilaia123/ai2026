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7863840" cy="128016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3600" b="1" i="0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🚀 Day 2: Product &amp; Launch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606040"/>
            <a:ext cx="7863840" cy="5486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600" b="0" i="0">
                <a:solidFill>
                  <a:srgbClr val="475569"/>
                </a:solidFill>
                <a:ea typeface="Sylfaen"/>
                <a:cs typeface="Sylfaen"/>
                <a:latin typeface="Sylfaen"/>
              </a:rPr>
              <a:t>იდეიდან მუშა პროტოტიპამდე და პირველ გაშვებამდე (Launch)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246120"/>
            <a:ext cx="786384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1" i="0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📅 Day 2: Product &amp; Launch (5 საათი / 300 წუთი)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57015"/>
            <a:ext cx="786384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2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ფოკუსი: Visual identity, Copywriting, live Landing Page, Supabase ბაზა, Make.com ავტომატიზაცია, Demo Day და VC Grill.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640580"/>
            <a:ext cx="7863840" cy="274320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 · გიორგი ბასილაია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Day 2 Agenda &amp; Objectives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 / 51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დღის განრიგი და მუშაობის ფორმატი: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📅 Day 2 განრიგი: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2574035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0:00 - 0:10: Day 2 Intro &amp; Objectives (10 წთ)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0:10 - 1:00: Block VI: Copywriting &amp; Tone (50 წთ)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1:00 - 1:05: ☕ შესვენება (5 წთ)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1:05 - 1:45: Block VII: Visual Identity &amp; Launch (40 წთ)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1:45 - 2:15: 🥪 მთავარი შესვენება (30 წთ)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2:15 - 3:15: Block VIII: Lovable MVP &amp; Tech Spec (60 წთ)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3:15 - 3:20: ☕ შესვენება (5 წთ)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3:20 - 4:25: Block IX: Database &amp; Make Automation (65 წთ)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4:25 - 4:30: ☕ შესვენება (5 წთ)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4:30 - 5:00: Block X: Demo Day &amp; VC Mock Grill (30 წთ)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🎯 დღის მიზანი: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203704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დღის ბოლოს თითოეულ მონაწილეს ექნება ცოცხალი MVP საიტი საკუთარ დომენზე Supabase მონაცემთა ბაზით, Make ავტომატიზაციითა და მზა Pitch Deck-ით.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Voice of Customer: რეალური ინსაითების ინტეგრაცია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 / 51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მომხმარებელთა რეალური ციტატებისა და უკუკავშირის გამოყენება პროდუქტის დიზაინში: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🎤 რატომ არის მნიშვნელოვანი?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95097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სტარტაპები ხშირად იგონებენ პრობლემებს. მომხმარებელთან უშუალო საუბარი (ინტერვიუები, გამოკითხვები) გვაძლევს რეალურ ლექსიკონს - როგორ აღწერენ ისინი თავიანთ ტკივილს.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📝 ინტეგრაციის პროცესი: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203704"/>
            <a:ext cx="3771900" cy="22677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შეაგროვეთ მინიმუმ 3 რეალური მომხმარებლის ციტატა (Testimonials).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გამოიყენეთ მათი სიტყვები სადესანტო გვერდის სათაურებში.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დააფუძნეთ ბრენდის Tone of Voice მათ ემოციურ მდგომარეობაზე.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Copywriting Frameworks: AIDA Model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4 / 51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სადესანტო გვერდის (Landing Page) ტექსტების სტრუქტურა AIDA-ს მიხედვით: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🅰️ AIDA ნაბიჯები: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2574035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Attention (ყურადღება): ყურადღების მიპყრობა სათაურით.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Interest (ინტერესი): პრობლემის გაცნობიერება.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Desire (სურვილი): პროდუქტის სარგებლის ჩვენება.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Action (მოქმედება): ნათელი CTA (რეგისტრაციის ფორმა).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805172" y="1810512"/>
            <a:ext cx="54864" cy="29260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860036" y="1810512"/>
            <a:ext cx="3717036" cy="2926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914900" y="1865376"/>
            <a:ext cx="3552444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69764" y="1892807"/>
            <a:ext cx="3442716" cy="1463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2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AIDA Copywriting Prompt: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805172" y="2176272"/>
            <a:ext cx="3771900" cy="13716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860036" y="2221991"/>
            <a:ext cx="3662172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14900" y="2240279"/>
            <a:ext cx="3552444" cy="124358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შექმენი Landing Page-ის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ტექსტები ჩემი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სტარტაპისთვის [იდეა] AIDA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მოდელის მიხედვით. დაწერე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ქართულად, მოკლედ და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დამარწმუნებლად.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Copywriting Frameworks: PAS Model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5 / 51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სარეკლამო კამპანიებისა და სოციალური პოსტების ყველაზე ეფექტური ჩარჩო: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FF7ED"/>
          </a:solidFill>
          <a:ln w="635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🅿️ PAS ნაბიჯები: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22677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Problem (პრობლემა): მომხმარებლის ტკივილის დასახელება.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Agitate (ემოციის გამძაფრება): პრობლემის ნეგატიური ეფექტის ჩვენება.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Solution (გადაწყვეტა): თქვენი პროდუქტის, როგორც ერთადერთი ხსნის წარდგენა.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805172" y="1810512"/>
            <a:ext cx="54864" cy="29260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860036" y="1810512"/>
            <a:ext cx="3717036" cy="2926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914900" y="1865376"/>
            <a:ext cx="3552444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69764" y="1892807"/>
            <a:ext cx="3442716" cy="1463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2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PAS Copywriting Prompt: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805172" y="2176272"/>
            <a:ext cx="3771900" cy="148132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860036" y="2221991"/>
            <a:ext cx="3662172" cy="138988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14900" y="2240279"/>
            <a:ext cx="3552444" cy="1353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დაწერე 3 სარეკლამო პოსტი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Facebook/LinkedIn-ისთვის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ჩემი სტარტაპისთვის [იდეა]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PAS მოდელით. თითოეულში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გამოიყენე შესაბამისი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ემოჯიები და CTA.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🛠️ პრაქტიკული სავარჯიშო: PAS ქოპირაიტინგი (10 წუთი)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6 / 51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შექმენით სარეკლამო პოსტი თქვენი სტარტაპისთვის PAS ჩარჩოს მიხედვით: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📋 ინსტრუქცია: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22677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გახსენით Claude ან ChatGPT 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სთხოვეთ AI-ს, დაგიწეროთ სარეკლამო პოსტი PAS (Problem, Agitate, Solve) სტრუქტურის მიხედვით;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შეცვალეთ ფრჩხილებში მოცემული ინფორმაცია თქვენი სტარტაპის მიხედვით.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805172" y="1810512"/>
            <a:ext cx="54864" cy="29260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860036" y="1810512"/>
            <a:ext cx="3717036" cy="2926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914900" y="1865376"/>
            <a:ext cx="3552444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69764" y="1892807"/>
            <a:ext cx="3442716" cy="1463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2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PAS სავარჯიშო შაბლონი: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805172" y="2176272"/>
            <a:ext cx="3771900" cy="260146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860036" y="2221991"/>
            <a:ext cx="3662172" cy="2510027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14900" y="2240279"/>
            <a:ext cx="3552444" cy="247345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მოირგე პროფესიონალი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ქოპირაიტერის როლი. ჩემი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სტარტაპია: [მაგ: ონლაინ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პლატფორმა მეორადი წიგნების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გაცვლისთვის].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შექმენი სარეკლამო პოსტი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Facebook/LinkedIn-ისთვის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PAS (Problem, Agitate,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Solve) ჩარჩოს მიხედვით.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წესები: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1. Problem: მკაფიოდ აღწერე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მომხმარებლის 1 მთავარი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პრობლემა.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2. Agitate: გაამძაფრე ეს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პრობლემა ემოციურად.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3. Solve: წარმოადგინე ჩემი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სტარტაპი, როგორც ერთადერთი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მარტივი გამოსავალი.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სტილი შეინარჩუნე მოკლე და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დამაჯერებელი.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Tone of Voice: Brand Persona Prompting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7 / 51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შევინარჩუნოთ ბრენდის ერთიანი ტონი ყველა ტექსტში?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203911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8174736" cy="203911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🎭 ბრენდის ხმის ტიპები: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7955279" cy="144475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Professional / Authoritative: ფინანსები და ჯანდაცვა (ნდობის აღძვრა);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Friendly / Playful: განათლება და გართობა (მეგობრული ტონი);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Bold / Disrupter: ინოვაციური No-Code პლატფორმები.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849623"/>
            <a:ext cx="54864" cy="777240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12064" y="3849623"/>
            <a:ext cx="8174736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3886199"/>
            <a:ext cx="8010144" cy="219456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900" b="1" i="0">
                <a:solidFill>
                  <a:srgbClr val="3730A3"/>
                </a:solidFill>
                <a:ea typeface="Consolas"/>
                <a:cs typeface="Consolas"/>
                <a:latin typeface="Consolas"/>
              </a:rPr>
              <a:t>Brand Voice Prompt: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4123943"/>
            <a:ext cx="8010144" cy="46634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1792" y="4151375"/>
            <a:ext cx="7900416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ჩამოაყალიბე ბრენდის Tone of Voice ჩემი სტარტაპისთვის [იდეა].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მიეცი 5 კონკრეტული წესი AI-ს, თუ როგორ უნდა დაწეროს ტექსტები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(მაგალითად: "წერე მოკლედ, გამოიყენე 'შენ' და მოერიდე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პათეტიკურ სიტყვებს").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ბრენდის არქიტექტურა: Mission, Voice, Visual, Tone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8 / 51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ბრენდის 4 ძირითადი ფენა, რომელიც ქმნის მომხმარებლის ნდობას: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45720" cy="1444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737360"/>
            <a:ext cx="4000500" cy="1444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1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1. Mission (მისია)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" y="2185416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რატომ არსებობს თქვენი სტარტაპი და რა გრძელვადიან ცვლილებას ახდენს იგი ინდუსტრიაში?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45720" cy="1444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86300" y="1737360"/>
            <a:ext cx="4000500" cy="1444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6859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2. Voice (ბრენდის ხმა)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68596" y="2185416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როგორია ბრენდის პიროვნება? (მაგ. ავტორიტეტული ფინანსებში, მეგობრული განათლებაში).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319272"/>
            <a:ext cx="45720" cy="1444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2920" y="3319272"/>
            <a:ext cx="4000500" cy="1444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3374136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3. Visual (ვიზუალი)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5216" y="3767328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ფერები, ფონტები და გრაფიკული ენა, რომელიც მომენტალურად ასოცირდება თქვენს ბრენდთან.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640580" y="3319272"/>
            <a:ext cx="45720" cy="1444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686300" y="3319272"/>
            <a:ext cx="4000500" cy="1444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68596" y="3374136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4. Tone (ბრენდის ტონი)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68596" y="3767328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იცვლება ბრენდის ხმა კონტექსტის მიხედვით (მაგ. შეცდომის შეტყობინებისას vs გაყიდვებისას).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ვიზუალური სტილის სახელმძღვანელო (Visual Style Guide)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9 / 51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ბრენდის ვიზუალური იდენტობის სტანდარტების განსაზღვრა Lovable MVP-სთვის: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🎨 ფერების შერჩევა (Color Palette):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22677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Primary: ძირითადი ფერი (ბრენდის ემოცია, მაგ. ლურჯი - ნდობა);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Secondary: დამხმარე ფერი (ინტერფეისის ბალანსისთვის);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Accent: აქცენტის ფერი (მხოლოდ CTA ღილაკებისთვის).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✍️ Typography &amp; Imagery: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203704"/>
            <a:ext cx="3771900" cy="18470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აირჩიეთ მაქსიმუმ 2 შრიფტი (მაგ. FiraGO სათაურებისთვის და Segoe UI ტექსტისთვის).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განსაზღვრეთ ლოგოს სტილი (Flat vector, minimalist, geometric).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Visual Identity: Logo with Ideogram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10 / 51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შევქმნათ ლოგო ტექსტთან ერთად Ideogram-ის მეშვეობით: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130759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8174736" cy="1307592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9525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🎨 Ideogram-ის უპირატესობა: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7955279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იგი საუკეთესოდ აინტეგრირებს ნაწერს სურათში. იდეალურია სტარტაპის ლოგოსა და სლოგანისთვის.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118104"/>
            <a:ext cx="54864" cy="777240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12064" y="3118104"/>
            <a:ext cx="8174736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3154680"/>
            <a:ext cx="8010144" cy="219456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900" b="1" i="0">
                <a:solidFill>
                  <a:srgbClr val="3730A3"/>
                </a:solidFill>
                <a:ea typeface="Consolas"/>
                <a:cs typeface="Consolas"/>
                <a:latin typeface="Consolas"/>
              </a:rPr>
              <a:t>Ideogram Logo Prompt: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3392424"/>
            <a:ext cx="8010144" cy="46634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1792" y="3419856"/>
            <a:ext cx="7900416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A minimalist flat vector logo for a startup named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"[სტარტაპის სახელი]". A clean geometric icon representing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[სფერო], bold typography, corporate color palette, white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background, high resolution.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🛠️ პრაქტიკული სავარჯიშო: ლოგოს პრომპტი Ideogram-ისთვის (10 წუთი)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11 / 51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შეადგინეთ ლოგოს პრომპტები Ideogram-ში გამოსაყენებლად: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286207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286207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📋 ინსტრუქცია: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19933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გახსენით Claude ან ChatGPT 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სთხოვეთ AI-ს, დაგიწეროთ ლოგოს პრომპტების 3 ვერსია Ideogram-ისთვის;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შეიყვანეთ მიღებული პრომპტები Ideogram-ში და შეაფასეთ შედეგი.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286207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286207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805172" y="1810512"/>
            <a:ext cx="54864" cy="29260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860036" y="1810512"/>
            <a:ext cx="3717036" cy="2926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914900" y="1865376"/>
            <a:ext cx="3552444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69764" y="1892807"/>
            <a:ext cx="3442716" cy="1463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2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ლოგოს პრომპტის შაბლონი: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805172" y="2176272"/>
            <a:ext cx="3771900" cy="23500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860036" y="2221991"/>
            <a:ext cx="3662172" cy="22585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14900" y="2240279"/>
            <a:ext cx="3552444" cy="222199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ჩემი სტარტაპის სახელია: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[მაგ: BookLoop]. იგი არის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[მაგ: მეორადი წიგნების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გაცვლის პლატფორმა].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დამიწერე 3 განსხვავებული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დეტალური ინგლისურენოვანი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პრომპტი Ideogram-ისთვის,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რათა დავაგენერირო სუფთა,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მინიმალისტური ვექტორული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ლოგო.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პრომპტებში გამოიყენე: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- სტილი (flat vector,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minimalist logo, line art,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modern typography)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- ფერები (indigo,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slate-gray, emerald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accent)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- კომპოზიცია (centered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design, solid white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background)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Visual Identity: Hero Image with Flux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12 / 51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საიტის მთავარი სურათის (Hero image) შექმნა Flux.1.1 Pro-თი: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2587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2587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🌟 Flux-ის მახასიათებლები: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171907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ულტრა-ფოტო-რეალიზმი;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ანატომიურად ზუსტი დეტალები (ხელები, სახე);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რთული პრომპტების ზუსტი გაგება.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2587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2587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805172" y="1810512"/>
            <a:ext cx="54864" cy="29260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860036" y="1810512"/>
            <a:ext cx="3717036" cy="2926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914900" y="1865376"/>
            <a:ext cx="3552444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69764" y="1892807"/>
            <a:ext cx="3442716" cy="1463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2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Flux Hero Prompt: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805172" y="2176272"/>
            <a:ext cx="3771900" cy="1975104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860036" y="2221991"/>
            <a:ext cx="3662172" cy="188366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14900" y="2240279"/>
            <a:ext cx="3552444" cy="18470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A professional studio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product photograph of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[პროდუქტი], floating in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space with soft lighting,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premium glassmorphism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background, cinematic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composition, depth of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field, 8k resolution,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photorealistic.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გაშვების სტრატეგია (Launch Strategy) &amp; Product Hunt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13 / 51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გავაცნოთ ჩვენი MVP პირველ მომხმარებლებს და მოვიზიდოთ გლობალური ყურადღება?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🚀 Product Hunt გაშვება: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პლატფორმა, სადაც ყოველდღიურად ათასობით ტექნოლოგიური ენთუზიასტი ეძებს ახალ სტარტაპებს. გაშვება უფასოა და იძლევა უზარმაზარ ორგანულ ტრაფიკს.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სოციალური მედიის სპრინტი: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203704"/>
            <a:ext cx="3771900" cy="22677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დაწერეთ 3 გამორჩეული პოსტი Launch-ისთვის;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გამოიყენეთ მოკლე ვიდეო-დემო (GIF ან Screen record);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პირველ 1 საათში ჩართეთ თქვენი მეგობრები და მხარდამჭერები აქტივობისთვის.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Visual Prompting: Camera &amp; Lighting Rules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14 / 51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დავწეროთ სურათის პრომპტი პროფესიონალური შედეგისთვის?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106984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8174736" cy="1069848"/>
          </a:xfrm>
          <a:prstGeom prst="roundRect">
            <a:avLst>
              <a:gd name="adj" fmla="val 4000"/>
            </a:avLst>
          </a:prstGeom>
          <a:solidFill>
            <a:srgbClr val="FFF7ED"/>
          </a:solidFill>
          <a:ln w="9525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📷 Visual Prompt Formula: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7955279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სუბიექტი + მოქმედება + გარემო + განათება + კამერის ხედი + სტილი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880360"/>
            <a:ext cx="45720" cy="916686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02920" y="2880360"/>
            <a:ext cx="4000500" cy="916686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85216" y="2935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💡 განათება: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5216" y="3328416"/>
            <a:ext cx="3845052" cy="413765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Studio light, volumetric lighting, neon glow, soft shadows.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640580" y="2880360"/>
            <a:ext cx="45720" cy="916686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686300" y="2880360"/>
            <a:ext cx="4000500" cy="916686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768596" y="2935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კამერის ხედი: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68596" y="3328416"/>
            <a:ext cx="3845052" cy="413765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Macro shot, eye-level, top-down view, cinematic depth of field.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3934206"/>
            <a:ext cx="45720" cy="916686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02920" y="3934206"/>
            <a:ext cx="4000500" cy="916686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85216" y="3989070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სტილი: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5216" y="4382262"/>
            <a:ext cx="3845052" cy="413765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Minimalist flat design, photorealistic, 3D render, vector illustration.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Gamma.app: Presentation Outline Generation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15 / 51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Gamma AI-ით პრეზენტაციის სტრუქტურის შექმნა: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130759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8174736" cy="1307592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9525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⚡ პროცესი: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7955279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ტექსტური აღწერიდან Gamma ავტომატურად ქმნის 10-სლაიდიან საპრეზენტაციო outline-სა და დიზაინს.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118104"/>
            <a:ext cx="54864" cy="777240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12064" y="3118104"/>
            <a:ext cx="8174736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3154680"/>
            <a:ext cx="8010144" cy="219456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900" b="1" i="0">
                <a:solidFill>
                  <a:srgbClr val="3730A3"/>
                </a:solidFill>
                <a:ea typeface="Consolas"/>
                <a:cs typeface="Consolas"/>
                <a:latin typeface="Consolas"/>
              </a:rPr>
              <a:t>Gamma Outline Prompt: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3392424"/>
            <a:ext cx="8010144" cy="46634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1792" y="3419856"/>
            <a:ext cx="7900416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შექმენი 10-სლაიდიანი Pitch Deck-ის სტრუქტურა ჩემი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სტარტაპისთვის [იდეა].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გამოიყენე შემდეგი სექციები: პრობლემა, გადაწყვეტა, ბაზრის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ზომა, ბიზნეს მოდელი, კონკურენცია.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დაწერე ქართულად, გამოიყენე მოკლე და მკაფიო პუნქტები.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Gamma.app: Exporters &amp; Design Adjustments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16 / 51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დავარედაქტიროთ და გავაზიაროთ Gamma პრეზენტაცია?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🛠️ დიზაინის მორგება: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171907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ბრენდის ფერებისა და ფონტების იმპორტი;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სურათების ჩანაცვლება Flux-ით გენერირებული ვიზუალებით;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სლაიდების განლაგების შეცვლა 1 კლიკით.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📤 ექსპორტის ოფციები: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203704"/>
            <a:ext cx="3771900" cy="19933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PDF ექსპორტი ჟიურისთვის გასაგზავნად;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PowerPoint (.pptx) ფორმატში ჩამოტვირთვა;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საჯარო ვებ-ბმულის (Link sharing) გაზიარება.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🛠️ პრაქტიკული დავალება #5: Pitch Deck-ის გენერაცია Gamma-ში (25 წუთი)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17 / 51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შექმენით თქვენი სტარტაპის Pitch Deck Gamma-ში: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📋 ინსტრუქცია: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2542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შედით Gamma.app -ზე და აირჩიეთ "Create new with AI";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შეიყვანეთ ქვემოთ მოცემული პრომპტი (შეავსეთ Pitch Statement და Lean Canvas);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აირჩიეთ თემა, მოახდინეთ სლაიდების კორექტირება და გააკეთეთ ექსპორტი PDF-ში.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805172" y="1810512"/>
            <a:ext cx="54864" cy="29260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860036" y="1810512"/>
            <a:ext cx="3717036" cy="2926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914900" y="1865376"/>
            <a:ext cx="3552444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69764" y="1892807"/>
            <a:ext cx="3442716" cy="1463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Gamma.app Pitch Deck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პრომპტი: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805172" y="2176272"/>
            <a:ext cx="3771900" cy="260146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860036" y="2221991"/>
            <a:ext cx="3662172" cy="2510027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14900" y="2240279"/>
            <a:ext cx="3552444" cy="247345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აი ჩემი Pitch Statement: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[1-წინადადებიანი აღწერა]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აი ჩემი Lean Canvas: [9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ბლოკი]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შემომთავაზე 5-სლაიდიანი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Pitch Deck-ის outline.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თითოეულ სლაიდზე დაწერე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სათაური, 3-4 ბულეტი და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ვიზუალის იდეა (Hero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Image).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Sไลდები: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1. Hook + Problem, 2.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Solution + MVP, 3. Market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+ Customer Segment, 4.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Team + Why Us, 5. Ask +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Next Steps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10-Slide GITA Pitch Deck Outline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18 / 51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GITA-ს გრანტების სტანდარტული საპრეზენტაციო დეკის სტრუქტურა: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737360"/>
          <a:ext cx="8229600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388620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სლაიდი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დასახელება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რა უნდა ეწეროს?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</a:tr>
              <a:tr h="388620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Title Slide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სტარტაპის სახელი, ლოგო და 1-წინადადებიანი Pitch.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Problem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3 მთავარი პრობლემა მომხმარებლის ციტატებით.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88620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Solution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თქვენი MVP-ს 3 ძირითადი სარგებელი.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4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Market Size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TAM, SAM, SOM (ბაზრის მოცულობა ციფრებში).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88620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Business Model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როგორ გამოიმუშავებთ ფულს (Pricing).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Technical Specification: 6 ძირითადი კომპონენტი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19 / 51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რა კომპონენტებისგან შედგება პროფესიონალური Tech Spec დოკუმენტი სტარტაპისთვის?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737360"/>
          <a:ext cx="8229600" cy="265175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378822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კომპონენტი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აღწერა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მიზანი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</a:tr>
              <a:tr h="378822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1. Product Overview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პროდუქტის არსი და მიზანი 2-3 წინადადებაში.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გუნდის სინქრონიზაცია.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8822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2. User Stories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მომხმარებლის გზა: „როგორც [როლი], მინდა [აქტივობა]...“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UX-ის დაგეგმვა.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78822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3. Core Features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ძირითადი ფუნქციების ჩამონათვალი.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MVP-ის ფარგლების განსაზღვრა.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8822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4. Technical Stack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ტექნოლოგიები (React, Tailwind, Supabase, Make).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არქიტექტურის დაგეგმვა.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78822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5. Lovable Prompt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1 დიდი დეტალური პრომპტი საიტის ასაწყობად.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ავტომატური კოდირება.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8822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6. Acceptance Criteria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როდის ითვლება ფუნქცია მზადყოფნაში (measurable).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ხარისხის კონტროლი.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🛠️ პრაქტიკული სავარჯიშო: ტექნიკური სპეციფიკაციის მომზადება (10 წუთი)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20 / 51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მოამზადეთ ტექნიკური სპეციფიკაციის პირველი ვერსია თქვენი იდეისთვის: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286207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286207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📋 ინსტრუქცია: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19933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გახსენით Claude ან ChatGPT 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სთხოვეთ AI-ს, დაგიგენერიროთ სტრუქტურირებული ტექნიკური დავალება;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გამოიყენეთ მიღებული შედეგი Lovable-ში პროექტის დაწყებისას.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286207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286207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805172" y="1810512"/>
            <a:ext cx="54864" cy="29260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860036" y="1810512"/>
            <a:ext cx="3717036" cy="2926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914900" y="1865376"/>
            <a:ext cx="3552444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69764" y="1892807"/>
            <a:ext cx="3442716" cy="1463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ტექნიკური დავალების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შაბლონი: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805172" y="2176272"/>
            <a:ext cx="3771900" cy="23500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860036" y="2221991"/>
            <a:ext cx="3662172" cy="22585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14900" y="2240279"/>
            <a:ext cx="3552444" cy="222199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მე ვავითარებ სტარტაპის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MVP-ს: [მაგ: მეორადი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წიგნების გაცვლის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პლატფორმა].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მინდა შევადგინო ტექნიკური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დავალება Lovable-ისთვის.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დამიწერე დეტალური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ტექნიკური სპეციფიკაცია,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რომელიც მოიცავს: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1. Database Schema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(ცხრილები და კავშირები -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მაგ: users, books,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trades).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2. User Flows (მთავარი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ნაბიჯები MVP-ში).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3. Integrations (მაგ: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Supabase, Stripe).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ფორმატი შეინარჩუნე სუფთა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(markdown-ით).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Engineering-Ready სტატუსი Pitch-ში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21 / 51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დავარწმუნოთ ინვესტორები და GITA-ს ჟიური, რომ ჩვენი პროექტი მზადაა დეველოპმენტისთვის?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975104"/>
            <a:ext cx="54864" cy="287578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975104"/>
            <a:ext cx="3991356" cy="2875788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2048256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🛠️ „Engineering Ready“ მარკერი: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441448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ჟიურის წევრებს უყვართ, როდესაც დამფუძნებელს ესმის ტექნიკური მხარე. ეს აჩვენებს, რომ გრანტის თანხა არ დაიხარჯება არასწორ დიზაინსა და კოდში.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975104"/>
            <a:ext cx="54864" cy="287578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975104"/>
            <a:ext cx="3991356" cy="287578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2048256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საპრეზენტაციო თეზისები (Slide 9):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441448"/>
            <a:ext cx="3771900" cy="233629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„MVP არქიტექტურა აწყობილია React-ზე და Supabase-ზე;“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„Technical Specification დოკუმენტი სრულად მზადაა;“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„კოდის ექსპორტირება მოხდა GitHub-ზე და მზადაა React დეველოპერებისთვის გადასაცემად.“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პრომპტის მომზადება Lovable-ისთვის: მოდელების Pipeline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22 / 51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88720"/>
            <a:ext cx="45720" cy="1682496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02920" y="1188720"/>
            <a:ext cx="4000500" cy="1682496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85216" y="124358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🔍 ნაბიჯი 1: Perplexity (UI/UX კვლევა)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1636776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როლი: მოიძიეთ საუკეთესო ვებსაიტების UI სტრუქტურა და საჭირო ველები. მიზანი: მონაცემთა ბაზისა და ინტერფეისის სქემის წინასწარ განსაზღვრა.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640580" y="1188720"/>
            <a:ext cx="45720" cy="1682496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686300" y="1188720"/>
            <a:ext cx="4000500" cy="1682496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68596" y="124358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🧱 ნაბიჯი 2: Claude (Tech Spec &amp; Prompt Spec)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68596" y="1636776"/>
            <a:ext cx="3845052" cy="95097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როლი: Claude-ს შეადგენინეთ Lovable-ის პირველი დეტალური პრომპტი (კომპონენტები, ფერები, გვერდები). მიზანი: Lovable-ისთვის ნაბიჯ-ნაბიჯ შესასრულებელი ინსტრუქციის შექმნა.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008376"/>
            <a:ext cx="45720" cy="1682496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02920" y="3008376"/>
            <a:ext cx="4000500" cy="1682496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85216" y="3063240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🎨 ნაბიჯი 3: ChatGPT Canvas (რეალური კონტენტი)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5216" y="3456432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როლი: Canvas-ში მოამზადეთ რეალური სათაურები, ტექსტები, FAQ და ფასების გეგმები. მიზანი: Lovable-ში ყალბი placeholder-ების რეალური ტექსტებით ჩანაცვლება.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640580" y="3008376"/>
            <a:ext cx="45720" cy="1682496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4686300" y="3008376"/>
            <a:ext cx="4000500" cy="1682496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768596" y="3063240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🔮 ნაბიჯი 4: Gemini (ლოგიკური სტრეს-ტესტი)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68596" y="3456432"/>
            <a:ext cx="3845052" cy="95097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როლი: სთხოვეთ Gemini-ს, იპოვოს ლოგიკური ხარვეზები ან შეუსაბამობები მომზადებულ პრომპტში. მიზანი: პრომპტის სრულყოფა Lovable-ში პირველივე ცდაზე იდეალური შედეგისთვის.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Lovable.dev: Interface &amp; Project Setup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23 / 51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დავიწყოთ ახალი პროექტი Lovable-ში?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🚀 ნაბიჯები: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19933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1.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შედით lovable.dev-ზე და გაიარეთ ავტორიზაცია Google-ით;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2.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დააჭირეთ "Create New Project" ღილაკს;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3.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ჩაწერეთ თქვენი 1-წინადადებიანი Pitch საწყის პრომპტად.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🖥️ Lovable-ის ინტერფეისი: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203704"/>
            <a:ext cx="3771900" cy="22677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Chat Panel (მარცხნივ): სადაც AI-ს აძლევთ ინსტრუქციებს;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Preview Panel (მარჯვნივ): სადაც რეალურ დროში ხედავთ მუშა საიტს;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GitHub connect: კოდის რეპოზიტორიასთან დასაკავშირებლად.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Lovable.dev: Prompting UI layouts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24 / 51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ვმართოთ საიტის ინტერფეისი პრომპტებით?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1307592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8174736" cy="1307592"/>
          </a:xfrm>
          <a:prstGeom prst="roundRect">
            <a:avLst>
              <a:gd name="adj" fmla="val 4000"/>
            </a:avLst>
          </a:prstGeom>
          <a:solidFill>
            <a:srgbClr val="FFF7ED"/>
          </a:solidFill>
          <a:ln w="9525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💡 რეკომენდაცია: წერეთ ეტაპობრივად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7955279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არ სთხოვოთ AI-ს მთელი საიტის ერთბაშად შეცვლა. მიეცით 1-2 კონკრეტული დავალება ყოველ ჯერზე.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118104"/>
            <a:ext cx="54864" cy="777240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12064" y="3118104"/>
            <a:ext cx="8174736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3154680"/>
            <a:ext cx="8010144" cy="219456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900" b="1" i="0">
                <a:solidFill>
                  <a:srgbClr val="3730A3"/>
                </a:solidFill>
                <a:ea typeface="Consolas"/>
                <a:cs typeface="Consolas"/>
                <a:latin typeface="Consolas"/>
              </a:rPr>
              <a:t>UI Prompt Example: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3392424"/>
            <a:ext cx="8010144" cy="46634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1792" y="3419856"/>
            <a:ext cx="7900416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დაამატე Hero სექცია მუქი ლურჯი ფონით.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მარცხენა მხარეს განათავსე სათაური "[სათაური]" და CTA ღილაკი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"დაიწყე უფასოდ".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მარჯვენა მხარეს დაამატე პროდუქტის ილუსტრაციის მოკაპი.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🛠️ პრაქტიკული დავალება #3: Landing Page შექმნა Lovable-ით (35 წუთი)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25 / 51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შექმენით live Landing Page Lovable-ის მეშვეობით: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📋 ინსტრუქცია: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22677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შედით Lovable.dev -ზე და დაიწყეთ ახალი პროექტი;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გამოიყენეთ პირველი პრომპტი საიტის სტრუქტურის ასაგებად;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გაუშვით მეორე პრომპტი იტერაციისთვის (ფორმა, ფერები, CTA).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" y="4544568"/>
            <a:ext cx="54864" cy="23317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76656" y="4544568"/>
            <a:ext cx="3717036" cy="23317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805172" y="1810512"/>
            <a:ext cx="54864" cy="777240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860036" y="1810512"/>
            <a:ext cx="3717036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14900" y="1847088"/>
            <a:ext cx="3552444" cy="219456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900" b="1" i="0">
                <a:solidFill>
                  <a:srgbClr val="3730A3"/>
                </a:solidFill>
                <a:ea typeface="Consolas"/>
                <a:cs typeface="Consolas"/>
                <a:latin typeface="Consolas"/>
              </a:rPr>
              <a:t>პირველი პრომპტი (სტრუქტურა):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914900" y="2084831"/>
            <a:ext cx="3552444" cy="46634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69764" y="2112263"/>
            <a:ext cx="3442716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შექმენი Landing Page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პროდუქტისთვის [სახელი],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რომელიც აგვარებს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[პრობლემას] [სამიზნე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აუდიტორიისთვის].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დაამატე: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- Hero Section (სათაური,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ქვესათაური, CTA)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- Features (3-4 ფუნქცია)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 Pricing (3 tier)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805172" y="3145536"/>
            <a:ext cx="54864" cy="777240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860036" y="3145536"/>
            <a:ext cx="3717036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14900" y="3182112"/>
            <a:ext cx="3552444" cy="219456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900" b="1" i="0">
                <a:solidFill>
                  <a:srgbClr val="3730A3"/>
                </a:solidFill>
                <a:ea typeface="Consolas"/>
                <a:cs typeface="Consolas"/>
                <a:latin typeface="Consolas"/>
              </a:rPr>
              <a:t>მეორე პრომპტი (ფორმა და ფერები):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914900" y="3419856"/>
            <a:ext cx="3552444" cy="46634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969764" y="3447288"/>
            <a:ext cx="3442716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შეცვალე Landing Page: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1. Hero Section-ში დაამატე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CTA ღილაკი "დაიწყე უფასოდ"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2. შეცვალე ფერები ბრენდის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პალიტრით: [ფერები]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3. დაამატე Email Sign-up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ფორმა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Supabase: Connecting Backend Database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26 / 51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ბექენდ მონაცემთა ბაზის დაკავშირება Lovable-თან: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2587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2587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🗄️ Supabase შესაძლებლობები: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171907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მონაცემთა ბაზა (PostgreSQL);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მომხმარებელთა ავთენტიფიკაცია (Sign Up / Login);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ფაილების შენახვა (Storage).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2587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2587751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🔗 დაკავშირების ინსტრუქცია: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203704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Lovable-ის პარამეტრებში დააჭირეთ "Connect Supabase" ღილაკს. Lovable ავტომატურად შექმნის ახალ პროექტს და დააკავშირებს API გასაღებებს.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Supabase: Creating Leads Schema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27 / 51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მონაცემთა ბაზის ცხრილის შექმნა მეილების შესაგროვებლად: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2606040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8174736" cy="2606040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9525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📊 Leads ცხრილის სტრუქტურა (Schema):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21792" y="2203704"/>
          <a:ext cx="795528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2651760"/>
                <a:gridCol w="2651760"/>
              </a:tblGrid>
              <a:tr h="402336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სვეტის სახელი (Column)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ტიპი (Type)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ea typeface="Sylfaen"/>
                          <a:cs typeface="Sylfaen"/>
                          <a:latin typeface="Sylfaen"/>
                        </a:rPr>
                        <a:t>მნიშვნელობა</a:t>
                      </a:r>
                    </a:p>
                  </a:txBody>
                  <a:tcPr>
                    <a:solidFill>
                      <a:srgbClr val="3730A3"/>
                    </a:solidFill>
                  </a:tcPr>
                </a:tc>
              </a:tr>
              <a:tr h="402336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id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uuid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უნიკალური იდენტიფიკატორი (Primary Key)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email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text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მომხმარებლის ელფოსტა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02336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name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text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მომხმარებლის სახელი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created_at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timestamp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lIns="73152" rIns="73152" tIns="36576" bIns="36576" wrap="square"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ea typeface="Sylfaen"/>
                          <a:cs typeface="Sylfaen"/>
                          <a:latin typeface="Sylfaen"/>
                        </a:rPr>
                        <a:t>რეგისტრაციის დრო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13" name="Rectangle 12"/>
          <p:cNvSpPr/>
          <p:nvPr/>
        </p:nvSpPr>
        <p:spPr>
          <a:xfrm>
            <a:off x="457200" y="4416552"/>
            <a:ext cx="54864" cy="434339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12064" y="4416552"/>
            <a:ext cx="8174736" cy="434339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4453128"/>
            <a:ext cx="8010144" cy="219456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900" b="1" i="0">
                <a:solidFill>
                  <a:srgbClr val="3730A3"/>
                </a:solidFill>
                <a:ea typeface="Consolas"/>
                <a:cs typeface="Consolas"/>
                <a:latin typeface="Consolas"/>
              </a:rPr>
              <a:t>Supabase Table Prompt: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4690872"/>
            <a:ext cx="8010144" cy="123443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1792" y="4718304"/>
            <a:ext cx="7900416" cy="68579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Supabase-ში შექმენი Leads ცხრილი id, email, name და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created_at სვეტებით.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Lovable-ის საიტზე არსებული ფორმის შევსებისას მონაცემები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ავტომატურად ჩაიწეროს ამ ცხრილში.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Supabase: ავთენტიფიკაცია და ფაილების შენახვა (Storage)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28 / 51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მონაცემთა ბაზის შესაძლებლობების გაფართოება მომხმარებლის მართვისა და ფაილებისთვის: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975104"/>
            <a:ext cx="54864" cy="158191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975104"/>
            <a:ext cx="3991356" cy="1581912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2048256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🔐 User Auth (ავთენტიფიკაცია):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441448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Supabase-ში მომხმარებლის რეგისტრაცია (Email/Password ან Google Login) ხდება სრულიად უფასოდ და დაცულად. Lovable-ს შეუძლია ავტომატურად ააწყოს შესვლის ფორმა.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975104"/>
            <a:ext cx="54864" cy="158191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975104"/>
            <a:ext cx="3991356" cy="158191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2048256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📂 Supabase Storage: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441448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ადგილი ფაილების, სურათებისა და დოკუმენტების შესანახად. მაგალითად: მომხმარებლის პროფილის სურათების ან ატვირთული CV-ების შესანახად.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GDPR Compliance: 4 Core Principles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29 / 51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მონაცემთა დაცვის ევროპული რეგულაციები (GDPR) სტარტაპებისთვის: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008376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8174736" cy="3008376"/>
          </a:xfrm>
          <a:prstGeom prst="roundRect">
            <a:avLst>
              <a:gd name="adj" fmla="val 4000"/>
            </a:avLst>
          </a:prstGeom>
          <a:solidFill>
            <a:srgbClr val="FFF7ED"/>
          </a:solidFill>
          <a:ln w="9525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GDPR 4 ძირითადი წესი: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7955279" cy="241401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1.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მკაფიო თანხმობა (Consent): ფორმაში მეილის შეყვანისას მომხმარებელმა უნდა მონიშნოს "ვეთანხმები წესებს" ჩეკბოქსი.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2.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მონაცემთა მინიმიზაცია: შეაგროვეთ მხოლოდ ის მონაცემები, რაც კრიტიკულად გჭირდებათ (არა ზედმეტი პირადი ინფორმაცია).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3.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წაშლის უფლება: მომხმარებლის მოთხოვნისთანავე წაშალეთ მისი მონაცემები ბაზიდან.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4.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Privacy Policy გვერდი: საიტზე უნდა არსებობდეს ბმული მარტივი წესების გვერდზე.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GDPR: Generating Privacy Policy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30 / 51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Privacy Policy გვერდის ტექსტის გენერირება Claude-ის საშუალებით: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777240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8174736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1773936"/>
            <a:ext cx="8010144" cy="219456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900" b="1" i="0">
                <a:solidFill>
                  <a:srgbClr val="3730A3"/>
                </a:solidFill>
                <a:ea typeface="Consolas"/>
                <a:cs typeface="Consolas"/>
                <a:latin typeface="Consolas"/>
              </a:rPr>
              <a:t>GDPR Legal Prompt: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2011679"/>
            <a:ext cx="8010144" cy="466344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1792" y="2039111"/>
            <a:ext cx="7900416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მე მაქვს Landing Page [პროდუქტის სახელი], რომელიც აგროვებს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მომხმარებელთა Email-ებს Supabase-ის მეშვეობით.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დამიწერე მარტივი Privacy Policy და Terms of Service გვერდის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ტექსტი ქართულად, GDPR წესების დაცვით.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მიუთითე მონაცემთა შენახვის მიზანი და წაშლის უფლება.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072384"/>
            <a:ext cx="82296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💡 მითითება: გენერირებული ტექსტი განათავსეთ Lovable-ის საიტზე `/privacy` გვერდზე და ბმული ჩასვით ფუტერში.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Custom Domain Deploy: DNS A-record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31 / 51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საიტის ძირითადი დომენის (მაგ: `mystartup.ge`) დაკავშირება Lovable-თან: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DNS კონფიგურაცია: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შედით თქვენი დომენის რეგისტრატორის (Namecheap, GoDaddy) პანელში და დაამატეთ A Record: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2990088"/>
            <a:ext cx="3771900" cy="171907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Type: A Record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Host: @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Value: 76.76.21.21 (Lovable/Vercel სერვერი)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რატომ არის საჭირო A Record?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05172" y="2203704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იგი მიმართავს თქვენს დომენს სერვერის კონკრეტულ IP მისამართზე, სადაც განთავსებულია საიტი.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Custom Domain Deploy: CNAME &amp; SSL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32 / 51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`www` ქვედომენის მიერთება და უსაფრთხოების (SSL) სერტიფიკატი: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231343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2313431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CNAME კონფიგურაცია: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144475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Type: CNAME Record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Host: www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Value: cname.lovable.dev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231343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231343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SSL სერტიფიკატი (HTTPS):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203704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DNS ჩანაწერების გაწერიდან 10-15 წუთში Lovable ავტომატურად დააგენერირებს უფასო SSL სერტიფიკატს, რაც უზრუნველყოფს საიტის უსაფრთხოებას.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GitHub Integration: Code Export Steps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33 / 51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კოდის ექსპორტი პირადი უსაფრთხოებისთვის: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📦 ექსპორტის ნაბიჯები: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22677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1.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Lovable-ის მენიუში აირჩიეთ "GitHub integration";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2.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გაიარეთ ავტორიზაცია თქვენს GitHub პროფილზე;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3.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შექმენით ახალი რეპოზიტორია. Lovable ავტომატურად ატვირთავს მთელ კოდს.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📂 კოდის სტრუქტურა: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203704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საიტი აწყობილია React-ზე (Vite) , სტილებისთვის გამოიყენება TailwindCSS , ხოლო კომპონენტებისთვის - shadcn/ui 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Code Ownership: Handover to React/Vite Devs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34 / 51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გადავაბაროთ No-Code-ით დაწყებული პროექტი დეველოპერებს?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2313432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8174736" cy="2313432"/>
          </a:xfrm>
          <a:prstGeom prst="roundRect">
            <a:avLst>
              <a:gd name="adj" fmla="val 4000"/>
            </a:avLst>
          </a:prstGeom>
          <a:solidFill>
            <a:srgbClr val="FFF7ED"/>
          </a:solidFill>
          <a:ln w="9525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💡 კოდის გადაცემის წესები: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7955279" cy="171907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მიეცით დეველოპერს წვდომა თქვენს GitHub რეპოზიტორიაზე;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გადასცემთ Supabase-ის API გასაღებებს;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დეველოპერს შეუძლია ჩვეულებრივ გააგრძელოს მუშაობა React-ში, ყოველგვარი No-Code შეზღუდვების გარეშე.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პრომპტის მომზადება AI Studio-სთვის: მოდელების Pipeline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35 / 51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88720"/>
            <a:ext cx="45720" cy="1444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02920" y="1188720"/>
            <a:ext cx="4000500" cy="1444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85216" y="124358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🔍 ნაბიჯი 1: Perplexity (კვლევა)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1636776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როლი: მოიძიეთ უახლესი ფაქტები, API დოკუმენტაციები, ან ტექნიკური სტანდარტები. მიზანი: პრომპტში ჩასაწერი კონტექსტის სიზუსტის უზრუნველყოფა.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640580" y="1188720"/>
            <a:ext cx="45720" cy="1444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686300" y="1188720"/>
            <a:ext cx="4000500" cy="1444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68596" y="124358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🧱 ნაბიჯი 2: Claude (სტრუქტურირება)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68596" y="1636776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როლი: სთხოვეთ Claude-ს დაწეროს System Instructions, XML სქემები და JSON გამომავალი ფორმატები. მიზანი: პრომპტის მკაცრი ლოგიკური სტრუქტურის აგება.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770632"/>
            <a:ext cx="45720" cy="1444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02920" y="2770632"/>
            <a:ext cx="4000500" cy="1444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85216" y="2825496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🎨 ნაბიჯი 3: ChatGPT Canvas (იტერაცია)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5216" y="3218688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როლი: გამოიყენეთ Canvas რეჟიმი ტექსტის ტონის, მესიჯების და სათაურების რეალურ დროში დასახვეწად. მიზანი: პრომპტის კოპირაითინგისა და კრეატიული მხარის გაძლიერება.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640580" y="2770632"/>
            <a:ext cx="45720" cy="1444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4686300" y="2770632"/>
            <a:ext cx="4000500" cy="1444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768596" y="2825496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🔮 ნაბიჯი 4: Gemini / AI Studio (ტესტირება)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68596" y="3218688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როლი: გაუშვით Reasoning ტესტები, შეამოწმეთ ტოკენების ხარჯვა და ოპტიმალური ტემპერატურა. მიზანი: საბოლოო პრომპტის ოპტიმიზაცია და API-სთვის მომზადება.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Google AI Studio: Android აპლიკაციის შექმნა &amp; Gemini SDK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36 / 51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88720"/>
            <a:ext cx="54864" cy="366217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12064" y="1188720"/>
            <a:ext cx="3991356" cy="366217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126187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🛠️ 1. Google AI Studio &amp; API გასაღები: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1655064"/>
            <a:ext cx="3771900" cy="3122675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პროტოტიპირება: გამოსცადეთ Prompt-ები, System Instructions და JSON რეჟიმი უშუალოდ ბრაუზერში;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API Key გენერაცია: შექმენით უსაფრთხო გასაღები თქვენი პროექტისთვის;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Build რეჟიმი: დაწერეთ პრომპტი ბუნებრივ ენაზე, AI Studio თავად ააწყობს native Kotlin/Jetpack Compose Android პროექტს;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ბრაუზერული ემულატორი: დატესტეთ აპლიკაცია ინსტალაციის გარეშე და გააკეთეთ ექსპორტი Android Studio-ში.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640580" y="1188720"/>
            <a:ext cx="54864" cy="366217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695444" y="1188720"/>
            <a:ext cx="3991356" cy="3662172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05172" y="126187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📲 2. Android Studio &amp; SDK ინტეგრაცია: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05172" y="1655064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A. Firebase AI Logic SDK (რეკომენდებული): მართავს უსაფრთხოებას და გასაღებებს Cloud-ში, იცავს API Key-ს გაჟონვისგან.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441448"/>
            <a:ext cx="37719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B. Google AI Client SDK (პირდაპირი კავშირი):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805172" y="2990088"/>
            <a:ext cx="3771900" cy="17876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860036" y="3035808"/>
            <a:ext cx="3662172" cy="1696211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14900" y="3054096"/>
            <a:ext cx="3552444" cy="1659635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// build.gradle.kts: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implementation("google.ai.client.generativeai:generativeai:0.7.0")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// Kotlin ინიციალიზაცია: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val generativeModel =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GenerativeModel(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modelName =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"gemini-1.5-flash",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apiKey =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BuildConfig.apiKey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Make.com: Interface &amp; Workflow Scenarios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37 / 51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ავტომატიზაციის ვიზუალური პლატფორმა Make.com: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📋 ვის რაში გამოგადგებათ (გუნდური ქეისები):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2574035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🏥 Health &amp; Med (Team 1, 2): შეკვეთების &amp; ჯავშნების ავტომატური SMS/Email შეტყობინებები კლიენტებთან და ექიმებთან.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🛡️ Travel &amp; Samachablo (Team 9, 10): მომხმარებლისგან მიღებული პანიკის/საფრთხის სიგნალების მყისიერი გაგზავნა Telegram Bot-ში ან Slack-ში.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⚖️ Legal &amp; Compliance (Team 4, 5): გენერირებული PDF დოკუმენტების ავტომატური ატვირთვა Google Drive-ში და კლიენტთან გაგზავნა.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🎒 EdTech (Team 6, 8): Early Adopters-ის ბაზის შევსება Sheets CRM-ში და Welcome-Email-ის გაგზავნა სასწავლო გზამკვლევით.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📝 Productivity (Team 7): Smart Diary-ის დავალებების სინქრონიზაცია Google Calendar-სა და Notion-თან.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🚀 Make.com-ის უპირატესობა: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203704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ის არის No-Code "ძრავი", რომელიც თქვენს Lovable საიტს აკავშირებს ნებისმიერ გარე სერვისთან (Email, CRM, Sheets, Telegram, Slack) 100% უფასოდ და მარტივად.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05172" y="2990088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📦 ძირითადი ცნებები: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05172" y="3383280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Scenario: ავტომატიზაციის სქემა · Module: აპლიკაციის ბლოკი (მაგ: Gmail) · Webhook: მყისიერი რეაგირების ტრიგერი.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Make.com: Webhooks setup &amp; JSON mapping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38 / 51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მონაცემთა მყისიერი მიღება საიტიდან (Webhook):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1581912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1581912"/>
          </a:xfrm>
          <a:prstGeom prst="roundRect">
            <a:avLst>
              <a:gd name="adj" fmla="val 4000"/>
            </a:avLst>
          </a:prstGeom>
          <a:solidFill>
            <a:srgbClr val="FFF7ED"/>
          </a:solidFill>
          <a:ln w="635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🌐 რა არის Webhook?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ეს არის URL მისამართი Make.com-ში, რომელიც ელოდება მონაცემების გამოგზავნას საიტიდან. ყოველი ფორმის შევსებისას Lovable აგზავნის მონაცემებს ამ მისამართზე.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158191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158191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⚙️ JSON Mapping: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203704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Webhook-ის გააქტიურების შემდეგ გაუშვით ტესტური რეგისტრაცია საიტზე, რათა Make-მა ავტომატურად ამოიცნოს ცვლადები (Email, Name).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🛠️ პრაქტიკული დავალება #4: Automation Workflow Make.com-ში (30 წუთი)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39 / 51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ააწყვეთ ავტომატიზაციის სქემა Make.com-ზე: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📋 ინსტრუქცია: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22677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შექმენით ანგარიში Make.com -ზე და დაიწყეთ Scenario;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დაამატეთ Webhook trigger და დაუკავშირეთ თქვენს Landing Page-ს;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დაამატეთ Gmail/SMTP და Google Sheets მოდულები და გააკეთეთ mapping.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" y="4544568"/>
            <a:ext cx="54864" cy="23317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76656" y="4544568"/>
            <a:ext cx="3717036" cy="23317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805172" y="1810512"/>
            <a:ext cx="54864" cy="29260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860036" y="1810512"/>
            <a:ext cx="3717036" cy="29260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914900" y="1865376"/>
            <a:ext cx="3552444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69764" y="1892807"/>
            <a:ext cx="3442716" cy="14630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Make.com სცენარის</a:t>
            </a:r>
          </a:p>
          <a:p>
            <a:pPr>
              <a:spcAft>
                <a:spcPts val="0"/>
              </a:spcAft>
            </a:pPr>
            <a:r>
              <a:rPr sz="8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კონფიგურაცია: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805172" y="2176272"/>
            <a:ext cx="3771900" cy="260146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860036" y="2221991"/>
            <a:ext cx="3662172" cy="2510027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14900" y="2240279"/>
            <a:ext cx="3552444" cy="247345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Scenario: Landing Page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Form → Email + CRM Sheets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1. TRIGGER: Webhook (POST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request)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URL: [Lovable-იდან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მიღებული Webhook URL]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2. MODULE 1: Send Email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via Gmail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To: {{trigger.email}}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Subject: "გმადლობთ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რეგისტრაციისთვის!"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Body: "ჩვენი გუნდი მალე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დაგიკავშირდებათ."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3. MODULE 2: Add Row to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Google Sheets (leads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ცხრილში)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Columns: Email, Name, Date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4. FILTER: Email is not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empty (ცარიელი მეილები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0F172A"/>
                </a:solidFill>
                <a:ea typeface="Consolas"/>
                <a:cs typeface="Consolas"/>
                <a:latin typeface="Consolas"/>
              </a:rPr>
              <a:t>იფილტრება)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CRM Scenario: Appending Lead Row in Sheets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40 / 51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მონაცემთა ბაზიდან Leads-ის გადატანა Google Sheets CRM-ში: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23134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8174736" cy="2313432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9525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Google Sheets მოდულის კონფიგურაცია: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7955279" cy="171907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დააკავშირეთ თქვენი Google Drive ანგარიში Make-თან;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აირჩიეთ ფაილი „Leads CRM“;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სვეტებში (A, B, C) მიაბით Webhook-იდან მიღებული ცვლადები: A = Name , B = Email , C = Created_at 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CRM Scenario: Gmail SMTP Connection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41 / 51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ავტომატური იმეილის გაგზავნა დარეგისტრირებულ მომხმარებელთან: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Gmail მოდულის პარამეტრები: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22677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To: Webhook-იდან მიღებული Email ცვლადი;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Subject: „გმადლობთ რეგისტრაციისთვის [სტარტაპის სახელი]-ზე!“;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Body: პერსონალიზებული ტექსტი, სადაც გამოიყენებთ Name ცვლადს.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 w="6350">
            <a:solidFill>
              <a:srgbClr val="3730A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🔒 SMTP უსაფრთხოება: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203704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Gmail-თან დასაკავშირებლად დაგჭირდებათ Google-ის უსაფრთხოების მენიუდან "App Password"-ის გენერირება.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Make.com: შეცდომების მართვა და Edge Cases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42 / 51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უზრუნველვყოთ ჩვენი ავტომატიზაციების სტაბილური მუშაობა შეცდომების შემთხვევაში?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975104"/>
            <a:ext cx="54864" cy="287578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975104"/>
            <a:ext cx="3991356" cy="2875788"/>
          </a:xfrm>
          <a:prstGeom prst="roundRect">
            <a:avLst>
              <a:gd name="adj" fmla="val 4000"/>
            </a:avLst>
          </a:prstGeom>
          <a:solidFill>
            <a:srgbClr val="FFF7ED"/>
          </a:solidFill>
          <a:ln w="635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2048256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⚠️ პოტენციური შეცდომები: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441448"/>
            <a:ext cx="3771900" cy="171907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მომხმარებელმა ფორმაში არ შეიყვანა სახელი (ცარიელი ველი);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ელფოსტის ფორმატი არასწორია;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სერვერი დროებით გაითიშა.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975104"/>
            <a:ext cx="54864" cy="287578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975104"/>
            <a:ext cx="3991356" cy="287578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2048256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⚙️ გადაჭრის გზები: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441448"/>
            <a:ext cx="3771900" cy="21214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Validation Rules: საიტის ფორმაში ელფოსტის ველის სავალდებულოობა (Required field);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Error Handling Modules: Make.com-ში შეცდომის მართვის ბლოკების (Ignore, Resume, Break) გამოყენება.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Demo Day Pitch: First 2 Minutes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43 / 51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პრეზენტაციის დასაწყისი — ჟიურის ყურადღების მიპყრობა: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1581912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1581912"/>
          </a:xfrm>
          <a:prstGeom prst="roundRect">
            <a:avLst>
              <a:gd name="adj" fmla="val 4000"/>
            </a:avLst>
          </a:prstGeom>
          <a:solidFill>
            <a:srgbClr val="FFF7ED"/>
          </a:solidFill>
          <a:ln w="635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0:00 - 1:00 (პრობლემა):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დაიწყეთ რეალური ისტორიით ან შოკისმომგვრელი სტატისტიკით. აჩვენეთ, რომ პრობლემა მტკივნეულია და ბაზარი დიდია.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158191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158191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1:00 - 2:00 (გადაწყვეტა/MVP):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203704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აჩვენეთ მუშა საიტი. არ აჩვენოთ სქრინშოთები - აჩვენეთ რეალური Lovable URL და მომხმარებლის რეგისტრაციის პროცესი.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Demo Day Pitch: Last 3 Minutes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44 / 51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პრეზენტაციის დასასრული — ბიზნეს მოდელი და Ask: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45720" cy="1325879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737360"/>
            <a:ext cx="4000500" cy="1325879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1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2:00 - 3:00 (ბიზნეს მოდელი):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" y="2185416"/>
            <a:ext cx="3845052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გამოიმუშავებთ ფულს? აჩვენეთ 3-საფეხურიანი Pricing.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45720" cy="1325879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86300" y="1737360"/>
            <a:ext cx="4000500" cy="1325879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6859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3:00 - 4:00 (კონკურენცია &amp; Traction):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68596" y="2185416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აჩვენეთ, რით ხართ უკეთესი Perplexity Matrix-ის მიხედვით. აჩვენეთ პირველი ლიდები Google Sheets-დან.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200399"/>
            <a:ext cx="45720" cy="1325879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2920" y="3200399"/>
            <a:ext cx="4000500" cy="1325879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3255263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4:00 - 5:00 (გუნდი &amp; Ask):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5216" y="3648456"/>
            <a:ext cx="3845052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რატომ ხართ თქვენ საუკეთესო გუნდი და რისთვის გჭირდებათ 25,000-ლარიანი გრანტი.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VC Mock Grill: Financial Q&amp;A (CAC:LTV)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45 / 51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ჟიურის ფინანსური კითხვები და სწორი პასუხები: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1819656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1819656"/>
          </a:xfrm>
          <a:prstGeom prst="roundRect">
            <a:avLst>
              <a:gd name="adj" fmla="val 4000"/>
            </a:avLst>
          </a:prstGeom>
          <a:solidFill>
            <a:srgbClr val="FFF7ED"/>
          </a:solidFill>
          <a:ln w="635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❓ კითხვა: „როგორ აპირებთ მომხმარებლის მოზიდვას და რა იქნება თქვენი CAC?“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არასწორი პასუხი: „ჩვენ მარკეტინგზე ფულს არ დავხარჯავთ, მომხმარებლები თავად მოვლენ.“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1819656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1819656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🟢 სწორი პასუხი (CAC:LTV):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203704"/>
            <a:ext cx="3771900" cy="95097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„ჩვენი საწყისი CAC იქნება $5 Facebook Ads-ით, მომხმარებლის LTV კი - $30 (საშუალოდ 6 თვიანი ხელმოწერა $5-ად). ჩვენი LTV:CAC პროპორცია იქნება 6:1, რაც ბიზნესს მომგებიანს ხდის.“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No-Code ლიმიტები და დეველოპერის აყვანის დრო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46 / 51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როგორია No-Code პლატფორმების შეზღუდვები და როდის უნდა გადავიდეთ ტრადიციულ დეველოპმენტზე?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975104"/>
            <a:ext cx="54864" cy="287578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975104"/>
            <a:ext cx="3991356" cy="2875788"/>
          </a:xfrm>
          <a:prstGeom prst="roundRect">
            <a:avLst>
              <a:gd name="adj" fmla="val 4000"/>
            </a:avLst>
          </a:prstGeom>
          <a:solidFill>
            <a:srgbClr val="FFF7ED"/>
          </a:solidFill>
          <a:ln w="635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2048256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⚠️ No-Code პლატფორმების ლიმიტები: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441448"/>
            <a:ext cx="3771900" cy="233629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რთული ლოგიკა: მრავალდონიანი ფინანსური ტრანზაქციები ან მორგებული დაშიფვრა;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მძიმე AI/ML მოდელები: ვიდეო/აუდიო დამუშავება რეალურ დროში;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საკუთარი მობილური აპლიკაციები: App Store / Google Play-ზე მორგებული Native ფუნქციები (Bluetooth, NFC).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975104"/>
            <a:ext cx="54864" cy="2875788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975104"/>
            <a:ext cx="3991356" cy="287578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2048256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🚀 როდის ავიყვანოთ დეველოპერი?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441448"/>
            <a:ext cx="3771900" cy="2336291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როდესაც MVP-მ მიაღწია Product-Market Fit-ს და გყავთ პირველი ასობით აქტიური მომხმარებელი;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როდესაც გჭირდებათ უნიკალური უსაფრთხოების/ლოკალიზაციის პარამეტრები;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როდესაც მიიღეთ GITA გრანტი და გაქვთ ბიუჯეტი პროფესიონალური გუნდის დასაქირავებლად (Handover to React Devs GitHub-ით).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VC Mock Grill: Competitors Q&amp;A (Unfair Advantage)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47 / 51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კონკურენციის საკითხები და გრანტის მიზნობრიობა: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1819656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1819656"/>
          </a:xfrm>
          <a:prstGeom prst="roundRect">
            <a:avLst>
              <a:gd name="adj" fmla="val 4000"/>
            </a:avLst>
          </a:prstGeom>
          <a:solidFill>
            <a:srgbClr val="FFF7ED"/>
          </a:solidFill>
          <a:ln w="635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❓ კითხვა: „რა არის თქვენი კონკურენტული უპირატესობა და რაში დახარჯავთ გრანტს?“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არასწორი პასუხი: „გრანტით გადავუხდით ხელფასს დეველოპერებს, რომ საიტი დაგვიწერონ.“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1819656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1819656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🟢 სწორი პასუხი: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203704"/>
            <a:ext cx="3771900" cy="95097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„ჩვენ უკვე გვაქვს მუშა MVP და პირველი 20 დარეგისტრირებული მომხმარებელი. გრანტის 80%-ს დავხარჯავთ მარკეტინგსა და მომხმარებლის მოზიდვაზე, ხოლო 20%-ს - API სერვერების ლიცენზიებზე.“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ფინანსური მოდელირება: P&amp;L და CAC:LTV მატრიცა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48 / 51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დავასაბუთოთ Pitch Deck-ის ფინანსური სლაიდი (Slide 8) ციფრებით?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45720" cy="1444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737360"/>
            <a:ext cx="4000500" cy="1444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1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📈 P&amp;L (მოგება-ზარალი)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" y="2185416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პროგნოზი 3 წელზე: შემოსავლები, საოპერაციო ხარჯები (OPEX), სერვერები, მარკეტინგი და წმინდა მოგება.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45720" cy="1444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86300" y="1737360"/>
            <a:ext cx="4000500" cy="1444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68596" y="1792224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💰 CAC (მოზიდვის ხარჯი)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68596" y="2185416"/>
            <a:ext cx="3845052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რამდენი ლარი იხარჯება 1 ახალი კლიენტის მოსაზიდად (მაგ. რეკლამა, გაყიდვები).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319272"/>
            <a:ext cx="45720" cy="1444751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2920" y="3319272"/>
            <a:ext cx="4000500" cy="1444751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5216" y="3374136"/>
            <a:ext cx="3845052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💎 LTV (მომხმარებლის ღირებულება)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5216" y="3767328"/>
            <a:ext cx="3845052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რა ჯამურ შემოსავალს მოიტანს მომხმარებელი ბრენდთან ურთიერთობისას (ხელმოწერის საშუალო დრო × თვიური საფასური).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GITA ჟიურისთან Q&amp;A სესიის ტაქტიკა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49 / 51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როგორ ვუპასუხოთ ჟიურის რთულ კითხვებს 5-წუთიანი პრეზენტაციის შემდეგ?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3113532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FF7ED"/>
          </a:solidFill>
          <a:ln w="6350">
            <a:solidFill>
              <a:srgbClr val="4F4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⚠️ 3 ძირითადი წესი: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3771900" cy="2542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იყავით კონკრეტული: უპასუხეთ პირდაპირ ციფრებით, მოერიდეთ ზოგად ფილოსოფიას;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არ იკამათოთ: მიიღეთ ჟიურის შენიშვნა, როგორც კონსტრუქციული რჩევა;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აღიარეთ თუ არ იცით: „ამ ეტაპზე ზუსტი პასუხი არ გვაქვს, მაგრამ შევამოწმებთ ექსპერიმენტით.“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40580" y="1737360"/>
            <a:ext cx="54864" cy="311353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95444" y="1737360"/>
            <a:ext cx="3991356" cy="311353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5172" y="1810512"/>
            <a:ext cx="3771900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კითხვების ტიპები: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5172" y="2203704"/>
            <a:ext cx="3771900" cy="22677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„რით განსხვავდებით კონკურენტებისგან?“ (აჩვენეთ Feature Matrix);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„რაში დახარჯავთ 25,000 ლარს?“ (აჩვენეთ გაწერილი ხარჯები);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„როგორ მოიზიდავთ მომხმარებლებს?“ (აჩვენეთ Channels &amp; CAC).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Homework Part B &amp; Launch Sprint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50 / 51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47548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დავალება Demo Day-სთვის (1 კვირიანი Sprint):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864" cy="2459736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737360"/>
            <a:ext cx="8174736" cy="2459736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1810512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📋 Launch Checklist: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203704"/>
            <a:ext cx="7955279" cy="186537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[ ] Lovable საიტი გაშვებულია საკუთარ დომენზე;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[ ] Make.com სცენარი აქტიურია;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[ ] მოზიდულია მინიმუმ 15 რეალური Leads/Email Google Sheets-ში;</a:t>
            </a:r>
          </a:p>
          <a:p>
            <a:pPr algn="l">
              <a:spcAft>
                <a:spcPts val="300"/>
              </a:spcAft>
            </a:pPr>
            <a:r>
              <a:rPr sz="13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▸  </a:t>
            </a:r>
            <a:r>
              <a:rPr sz="130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[ ] პრეზენტაცია (Gamma Pitch Deck) დასრულებულია.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7772400" cy="7772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r>
              <a:rPr sz="2600" b="1">
                <a:solidFill>
                  <a:srgbClr val="3730A3"/>
                </a:solidFill>
                <a:ea typeface="Sylfaen"/>
                <a:cs typeface="Sylfaen"/>
                <a:latin typeface="Sylfaen"/>
              </a:rPr>
              <a:t>Course Wrap-up &amp; Certification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8229600" cy="2286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201168"/>
            <a:ext cx="777240" cy="32004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ea typeface="Sylfaen"/>
                <a:cs typeface="Sylfaen"/>
                <a:latin typeface="Sylfaen"/>
              </a:rPr>
              <a:t>51 / 51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88720"/>
            <a:ext cx="8229600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თქვენ წარმატებით დაასრულეთ 10-საათიანი პრაქტიკული კურსი „AI ინსტრუმენტები სტარტაპერებისთვის“!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975104"/>
            <a:ext cx="54864" cy="1307592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12064" y="1975104"/>
            <a:ext cx="8174736" cy="1307592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2048256"/>
            <a:ext cx="7955279" cy="32004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🚀 რა არის შემდეგი ნაბიჯი?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2441448"/>
            <a:ext cx="7955279" cy="7132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1300" b="0" i="0">
                <a:solidFill>
                  <a:srgbClr val="0F172A"/>
                </a:solidFill>
                <a:ea typeface="Sylfaen"/>
                <a:cs typeface="Sylfaen"/>
                <a:latin typeface="Sylfaen"/>
              </a:rPr>
              <a:t>გამოიყენეთ მიღებული ცოდნა, აწყობილი MVP და ავტომატიზაციები GITA-ს 25,000 ლარიანი გრანტის მოსაპოვებლად. წარმატებები Demo Day-ზე!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4850892"/>
            <a:ext cx="82296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4887468"/>
            <a:ext cx="8229600" cy="201168"/>
          </a:xfrm>
          <a:prstGeom prst="rect">
            <a:avLst/>
          </a:prstGeom>
          <a:noFill/>
        </p:spPr>
        <p:txBody>
          <a:bodyPr wrap="square" anchor="ctr" lIns="54864" rIns="54864" tIns="54864" bIns="54864">
            <a:spAutoFit/>
          </a:bodyPr>
          <a:lstStyle/>
          <a:p>
            <a:pPr>
              <a:spcAft>
                <a:spcPts val="400"/>
              </a:spcAft>
            </a:pPr>
            <a:r>
              <a:rPr sz="800" b="0" i="0">
                <a:solidFill>
                  <a:srgbClr val="94A3B8"/>
                </a:solidFill>
                <a:ea typeface="Sylfaen"/>
                <a:cs typeface="Sylfaen"/>
                <a:latin typeface="Sylfaen"/>
              </a:rPr>
              <a:t>GITA Pre-Acceleration 2026 · AI for Startups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