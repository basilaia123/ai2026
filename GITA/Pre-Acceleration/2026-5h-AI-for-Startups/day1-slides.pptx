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7863840" cy="128016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3600" b="1" i="0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AI ინსტრუმენტები სტარტაპერებისთვის: იდეიდან პროტოტიპამდე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7863840" cy="5486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75569"/>
                </a:solidFill>
                <a:ea typeface="Sylfaen"/>
                <a:cs typeface="Sylfaen"/>
                <a:latin typeface="Sylfaen"/>
              </a:rPr>
              <a:t>2-დღიანი პრაქტიკული კურსი · 10 საათი · 20+ AI ხელსაწყო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786384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📅 Day 1: AI Foundation &amp; Validation (5 საათი / 300 წუთი)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57015"/>
            <a:ext cx="786384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ფოკუსი: იდეების გენერირება, ფილტრაცია, ვალიდაცია, Lean Canvas და მომხმარებლის ინტერვიუს დიზაინი.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40580"/>
            <a:ext cx="7863840" cy="2743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 · გიორგი ბასილაია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Welcome &amp; 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დღის განრიგი და მუშაობის ფორმატი: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📅 Day 1 განრიგი: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0:00 - 0:20: Welcome + Projects Showcase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0:20 - 1:00: AI Strategy &amp; Safety Matrix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1:00 - 1:30: AI Tools Overview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1:30 - 2:00: შესვენება (☕ 30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2:00 - 3:05: Brainstorming &amp; SCAMPER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3:05 - 4:00: Lean Canvas &amp; VPC Validation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4:00 - 5:00: Wrap-up + Homework Setup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DF3D8"/>
          </a:solidFill>
          <a:ln w="63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💡 მუშაობის წესი: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ეს არის 100% პრაქტიკული ვორქშოფი. არანაირი პასიური მოსმენა - ყოველი თეორიის შემდეგ AI-სთან ერთად ვაკეთებთ რეალურ დავალებას.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Welcome Showcase - AgriTech Focus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როგორ წარვადგინოთ აგროტექნოლოგიური სტარტაპ იდეა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02082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020824"/>
          </a:xfrm>
          <a:prstGeom prst="roundRect">
            <a:avLst>
              <a:gd name="adj" fmla="val 4000"/>
            </a:avLst>
          </a:prstGeom>
          <a:solidFill>
            <a:srgbClr val="FDF3D8"/>
          </a:solidFill>
          <a:ln w="9525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🌾 სადემონსტრაციო ქეისი: ჭკვიანი ირიგაციის სისტემა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პრობლემა: კლიმატის ცვლილების გამო ფერმერები კარგავენ მოსავალს და ხარჯავენ ზედმეტ წყალს.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7955279" cy="69494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გადაწყვეტა: ნიადაგის ტენიანობის AI სენსორები, რომლებიც ავტომატურად არეგულირებენ მორწყვას.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31335"/>
            <a:ext cx="54864" cy="7772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831335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867911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D97706"/>
                </a:solidFill>
                <a:ea typeface="Consolas"/>
                <a:cs typeface="Consolas"/>
                <a:latin typeface="Consolas"/>
              </a:rPr>
              <a:t>AgriTech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105655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4133087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მე ვარ ფერმერი/აგრონომი. ჩემი იდეაა ჭკვიანი სარწყავი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სისტემა.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დამიწერე 30-წამიანი პრეზენტაციის ტექსტი ქართულად, რომელიც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ნათლად გამოკვეთს პრობლემას და წყლის დაზოგვის ეკონომიკურ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სარგებელს.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Welcome Showcase - FinTech Focus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როგორ წარვადგინოთ ფინტექ სტარტაპ იდეა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7830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783080"/>
          </a:xfrm>
          <a:prstGeom prst="roundRect">
            <a:avLst>
              <a:gd name="adj" fmla="val 4000"/>
            </a:avLst>
          </a:prstGeom>
          <a:solidFill>
            <a:srgbClr val="FDF3D8"/>
          </a:solidFill>
          <a:ln w="9525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💳 სადემონსტრაციო ქეისი: AI ბუღალტერია მცირე ბიზნესისთვის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პრობლემა: ინდ. მეწარმეები ხარჯავენ საათებს საგადასახადო დეკლარაციების შევსებაზე.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752344"/>
            <a:ext cx="7955279" cy="6949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გადაწყვეტა: AI აპლიკაცია, რომელიც ბანკის ამონაწერებიდან ავტომატურად აგენერირებს დეკლარაციებს.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593591"/>
            <a:ext cx="54864" cy="7772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593591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630168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D97706"/>
                </a:solidFill>
                <a:ea typeface="Consolas"/>
                <a:cs typeface="Consolas"/>
                <a:latin typeface="Consolas"/>
              </a:rPr>
              <a:t>FinTech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867911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3895344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მე ვარ ფინანსისტი. ჩემი იდეაა AI ბუღალტერია მცირე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ბიზნესისთვის.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დამიწერე 30-წამიანი პრეზენტაციის ტექსტი ქართულად, რომელიც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აჩვენებს თუ როგორ ზოგავს მომხმარებელი დროსა და ჯარიმების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რისკს.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Welcome Showcase - HealthTech Focus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როგორ წარვადგინოთ ჯანდაცვის სტარტაპ იდეა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02082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020824"/>
          </a:xfrm>
          <a:prstGeom prst="roundRect">
            <a:avLst>
              <a:gd name="adj" fmla="val 4000"/>
            </a:avLst>
          </a:prstGeom>
          <a:solidFill>
            <a:srgbClr val="FDF3D8"/>
          </a:solidFill>
          <a:ln w="9525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🏥 სადემონსტრაციო ქეისი: აფთიაქი-დელივერი ხანდაზმულებისთვის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პრობლემა: ქრონიკული დაავადებების მქონე ხანდაზმულებს უჭირთ წამლების რიგებში დგომა.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7955279" cy="69494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გადაწყვეტა: პერსონალური რეცეპტების ავტომატური გამოწერა და წამლების სახლში მიტანა 1 საათში.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31335"/>
            <a:ext cx="54864" cy="7772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831335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867911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D97706"/>
                </a:solidFill>
                <a:ea typeface="Consolas"/>
                <a:cs typeface="Consolas"/>
                <a:latin typeface="Consolas"/>
              </a:rPr>
              <a:t>HealthTech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105655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4133087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მე ვარ ჯანდაცვის სპეციალისტი. ჩემი იდეაა აფთიაქი-დელივერი.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დამიწერე 30-წამიანი პრეზენტაციის ტექსტი ქართულად, რომელიც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ხაზს უსვამს სოციალურ პასუხისმგებლობასა და ოპერატიულობას.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30-30-30 Pitch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მონაწილეთა პრეზენტაციის მკაცრი სტრუქტურა: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⏱️ დროის გადანაწილება: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პირველი 30 წამი: ვინ ხართ თქვენ და რა არის თქვენი კომპეტენცია?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მეორე 30 წამი: რა არის იდეა, ვისთვის არის და რა პრობლემას ჭრის?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ბოლო 30 წამი: ტრენერის 1-2 კითხვა და თქვენი მკაფიო პასუხი.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3E0"/>
          </a:solidFill>
          <a:ln w="63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⚠️ 3 კრიტიკული შეცდომა: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დროის გადაცილება (ტაიმერი გაგაჩერებთ);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პროდუქტის ფუნქციების დეტალური ჩამოთვლა ბიზნეს-მოდელის ნაცვლად;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ბუნდოვანი სამიზნე აუდიტორია.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Elevator Pitch Formula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როგორ ჩამოვაყალიბოთ სტარტაპის არსი 1 წინადადებაში?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94436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944368"/>
          </a:xfrm>
          <a:prstGeom prst="roundRect">
            <a:avLst>
              <a:gd name="adj" fmla="val 4000"/>
            </a:avLst>
          </a:prstGeom>
          <a:solidFill>
            <a:srgbClr val="FDF3D8"/>
          </a:solidFill>
          <a:ln w="9525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[პროდუქტი]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49424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[სამიზნე მომხმარებელს]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688336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127248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[საჭიროება/ტკივილი]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566160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00507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[გადაწყვეტის ძირითადი მოქმედება]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4443984"/>
            <a:ext cx="7955279" cy="1645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"ჩემი ეხმარება , რომელსაც სჭირდება , რადგან ჩვენ ."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754879"/>
            <a:ext cx="8229600" cy="9601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💡 რჩევა: სცადეთ თქვენი ფორმულის ხმამაღლა წარმოთქმა 15 წამში. თუ ვერ ასწრებთ, ფორმულა ძალიან რთულია.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Elevator Pitch Sector Examples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Elevator Pitch-ის მაგალითები სხვადასხვა სექტორისთვის: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🌾 AgriTech: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„ჩვენი AI ირიგატორი ეხმარება ფერმერებს , რომელთაც სურთ წყლის ხარჯების შემცირება , რადგან სენსორულ მონაცემებზე დაყრდნობით ავტომატურად რწყავს მიწას 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💳 FinTech: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„ჩვენი AI ბუღალტერია ეხმარება მცირე მეწარმეებს , რომელთაც ეშინიათ საგადასახადო ჯარიმების , რადგან დეკლარაციებს 1 წამში აგენერირებს 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🏥 HealthTech: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„ჩვენი აპლიკაცია ეხმარება ხანდაზმულ პაციენტებს , რომელთაც წამლების მიღება ავიწყდებათ , რადგან ავტომატურად უგზავნის შეხსენებას და აწვდის წამლებს სახლში .“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LLM-ების მუშაობის პრინციპი: Transformer, Training &amp; Inference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როგორ ამუშავებს და აგენერირებს ტექსტს თანამედროვე ხელოვნური ინტელექტი?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DF3D8"/>
          </a:solidFill>
          <a:ln w="63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🧠 Transformer &amp; Attention: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Transformer არქიტექტურა (Attention Mechanism) საშუალებას აძლევს მოდელს ერთდროულად დაინახოს მთელი წინადადება და განსაზღვროს სიტყვების მნიშვნელობა კონტექსტში.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⚙️ Training Pipeline: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Pre-training: მოდელი სწავლობს ენის სტრუქტურას ინტერნეტის მილიარდობით ტექსტზე.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Fine-tuning: მოდელის მორგება კონკრეტული ამოცანების შესასრულებლად.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RLHF (ადამიანური უკუკავშირი): მოდელის ქცევის კორექტირება ადამიანების შეფასებების მიხედვით.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AI ლანდშაფტი 2026: Frontier, Reasoning &amp; Agentic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ხელოვნური ინტელექტის ოთხი ძირითადი კატეგორია და მიმართულება დღეს: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🚀 Frontier Models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ზოგადი და უნივერსალური მოდელები: GPT-5.6 Sol, Claude Sonnet 5, Gemini 3.5 Pro. გამოიყენება კოპირაითინგისთვის, ანალიზისა და თარგმნისთვის.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🧠 Reasoning Models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ლოგიკური აზროვნების მოდელები: o1 / o3, DeepSeek R1, Claude Sonnet with Extended Thinking. იდეალურია რთული მათემატიკისთვის, კოდირებისა და სტრატეგიისთვის.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🤖 Agentic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ავტონომიური AI აგენტები (Manus, Devin), რომლებსაც შეუძლიათ დამოუკიდებლად გამოიყენონ ბრაუზერი და კომპიუტერი ამოცანების დასასრულებლად.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LLM-ების რეიტინგი: lmarena.ai &amp; ELO Rating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როგორ განვსაზღვროთ რომელი მოდელია რეალურად საუკეთესო თქვენი ბიზნესისთვის?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DF3D8"/>
          </a:solidFill>
          <a:ln w="63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📊 lmarena.ai (Chatbot Arena):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დამოუკიდებელი პლატფორმა, სადაც მიმდინარეობს მოდელების „ბრმა“ შედარება ადამიანის მიერ (A/B testing). რეიტინგი ითვლება ჭადრაკის ELO სისტემით.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🏆 2026 წლის Top Rankings: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GPT-5.6 Sol: ~1420 ELO (ლიდერი ზოგად ლოგიკაში)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Claude Sonnet 5: ~1390 ELO (საუკეთესო კოდში/ტექსტში)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Gemini 3.5 Pro: ~1350 ELO (საუკეთესო მულტიმედიაში)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DeepSeek R1: ~1240 ELO (საუკეთესო ლოგიკა/ფასი)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ვიზუალური AI-ის რეიტინგი: designarena.ai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საუკეთესო ხელსაწყოების რეიტინგი გრაფიკისა და ბრენდინგის შესაქმნელად: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🎨 Ideogram v3/v4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რეიტინგი: #1 ლოგოებისთვის. საუკეთესოდ აინტეგრირებს ტექსტს სურათებში, იდეალურია სტარტაპის ლოგოსა და სლოგანისთვის.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📷 Flux.2 / Flux 1.1 Pro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რეიტინგი: #1 ფოტო-რეალიზმში. საუკეთესოდ გადმოსცემს ადამიანის ანატომიას, ტექსტურებსა და პროფესიონალურ ფოტოგადაღების სტილს.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🖌️ Midjourney V8.1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რეიტინგი: #1 ილუსტრაციებში. საუკეთესოა კრეატიული კონცეფტ-არტის, 3D რენდერებისა და მხატვრული სურათებისთვის.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C.R.E.A.T.E. პრომპტინგის ჩარჩო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უნივერსალური 6-ელემენტიანი მეთოდოლოგია პროფესიონალური პრომპტების დასაწერად: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6517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ელემენტი</a:t>
                      </a:r>
                    </a:p>
                  </a:txBody>
                  <a:tcPr>
                    <a:solidFill>
                      <a:srgbClr val="D97706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განმარტება</a:t>
                      </a:r>
                    </a:p>
                  </a:txBody>
                  <a:tcPr>
                    <a:solidFill>
                      <a:srgbClr val="D97706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მაგალითი</a:t>
                      </a:r>
                    </a:p>
                  </a:txBody>
                  <a:tcPr>
                    <a:solidFill>
                      <a:srgbClr val="D97706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C - Context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ბექგრაუნდი და როლი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„იმოქმედე, როგორც გამოცდილი ფინანსისტი...“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R - Request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ზუსტი დავალება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„დამიწერე საინვესტიციო წინადადება...“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E - Explanation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დეტალები და მიზანი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„მიზანია დავარწმუნოთ ანგელოზი ინვესტორი...“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A - Action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ნაბიჯები და წესები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„გამოიყენე მარტივი ენა, წერე მოკლედ...“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T - Target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ფორმატი და სტრუქტურა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„წარმოადგინე 3 აბზაცის სახით...“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E - Extras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მაგალითები/ტონი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„ტონი: თავდაჯერებული. მაგალითი: ...“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Day 1: Goals &amp; Deliverables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დღეს ჩვენ შევქმნით შემდეგ ხელშესახებ შედეგებს (Deliverables):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1691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ბლოკი</a:t>
                      </a:r>
                    </a:p>
                  </a:txBody>
                  <a:tcPr>
                    <a:solidFill>
                      <a:srgbClr val="D97706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აქტივობა</a:t>
                      </a:r>
                    </a:p>
                  </a:txBody>
                  <a:tcPr>
                    <a:solidFill>
                      <a:srgbClr val="D97706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შედეგი (Output)</a:t>
                      </a:r>
                    </a:p>
                  </a:txBody>
                  <a:tcPr>
                    <a:solidFill>
                      <a:srgbClr val="D97706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Block III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Brainstorming &amp; SCAMPER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10+ იდეის მუტაცია და ფილტრაცია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Block IV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Lean Canvas &amp; VPC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შევსებული Lean Canvas + JTBD Personas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Block 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Interview Design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5-7 ღია კითხვა მომხმარებელთან საუბრისთვის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502152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💡 მიზანი: დღის ბოლოს გქონდეთ მზა ბიზნეს მოდელი და ვალიდაციის გეგმა, რათა ხვალ დაიწყოთ MVP-ს აწყობა.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Myth 1: Innovation requires uniqueness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15 / 43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88950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88950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❌ მითი #1: იდეა აუცილებლად სრულიად ახალი და უნიკალური უნდა იყოს ბაზარზე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სტარტაპერები ხშირად უარს ამბობენ იდეაზე, თუ მსგავსი პროდუქტი უკვე არსებობს.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54533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54533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🟢 რეალობა: შესრულება (Execution) უფრო მნიშვნელოვანია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წარმატებული სტარტაპების უმრავლესობა არსებულ ბაზარზე მცირე მუტაციით (SCAMPER) და უკეთესი სერვისით იმარჯვებს. მაგალითად: Google არ ყოფილა პირველი საძიებო სისტემა, ხოლო Facebook - პირველი სოციალური ქსელი.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Myth 2: MVP requires developers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16 / 43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651759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65175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❌ მითი #2: MVP-ს (პირველი პროდუქტის) შესაქმნელად მჭირდება დეველოპერთა გუნდი და 3 თვე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დამფუძნებლები ხარჯავენ თვეებს დეველოპერების ძებნაში იდეის ვალიდაციამდე.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30759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30759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🟢 რეალობა: No-Code/AI იძლევა სწრაფ ალტერნატივას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Lovable.dev-ითა და Supabase-ით სტარტაპერს შეუძლია თავად ააწყოს მუშა Landing Page მონაცემთა ბაზით სულ რაღაც 45 წუთში, კოდის წერის გარეშე.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Myth 3: High budget is essential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17 / 43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88950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88950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❌ მითი #3: სტარტაპის დასაწყებად საჭიროა დიდი საწყისი კაპიტალი და ინვესტიცია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დამფუძნებლები ელოდებიან გრანტს ან ინვესტორს იდეის შესამოწმებლად.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54533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54533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🟢 რეალობა: $0-იანი ვალიდაციის ეპოქა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AI ხელსაწყოების (Claude, Perplexity, Gamma, Make) უფასო ვერსიებით შეგიძლიათ სრულიად უფასოდ ჩაატაროთ კვლევა, შექმნათ ვიზუალური ბრენდი და მოიზიდოთ პირველი მომხმარებლები.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AI Strategy: 10x Experimentation Speed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როგორ აჩქარებს AI ექსპერიმენტების სიჩქარეს?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73405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734056"/>
          </a:xfrm>
          <a:prstGeom prst="roundRect">
            <a:avLst>
              <a:gd name="adj" fmla="val 4000"/>
            </a:avLst>
          </a:prstGeom>
          <a:solidFill>
            <a:srgbClr val="FDF3D8"/>
          </a:solidFill>
          <a:ln w="63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ტრადიციული პროცესი (1 თვე):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8653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ბაზრის კვლევა სააგენტოს მიერ;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დიზაინერის მიერ ლოგოს შექმნა;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კოპირაითერის მიერ ტექსტების წერა;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დეველოპერის მიერ კოდის წერა.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73405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73405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AI-Driven პროცესი (1 დღე):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8653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კვლევა Perplexity-ით (10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ლოგო Ideogram-ით (5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კოპირაითინგი Claude-ით (10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MVP Lovable-ით (45 წუთი).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AI Strategy: Cost Minimization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სტარტაპის დაწყების ხარჯების ოპტიმიზაცია AI-ის მეშვეობით: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🎨 Visuals ($0 vs $500)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Ideogram-ითა და Flux-ით იქმნება პროფესიონალური ლოგო და ილუსტრაციები უფასოდ.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💻 Dev ($0 vs $3000)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Lovable-ის უფასო ვერსიით ეშვება პირველი MVP, Vercel-ის უფასო ჰოსტინგით.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🤖 Ops ($0 vs $400)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Make.com-ის 1000 უფასო ოპერაციით ხდება CRM ბაზის ავტომატიზაცია.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361688"/>
            <a:ext cx="8229600" cy="4892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💡 დასკვნა: თქვენი მთავარი ხარჯი არის დრო და არა ფული. AI გაძლევთ საშუალებას $0-ით მიაღწიოთ პირველ გაყიდვებამდე.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AI Tools: Safety Ratings 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რომელი AI ინსტრუმენტებია უსაფრთხო თქვენი სტარტაპის მონაცემებისთვის?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1691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ინსტრუმენტი</a:t>
                      </a:r>
                    </a:p>
                  </a:txBody>
                  <a:tcPr>
                    <a:solidFill>
                      <a:srgbClr val="D97706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რეიტინგი</a:t>
                      </a:r>
                    </a:p>
                  </a:txBody>
                  <a:tcPr>
                    <a:solidFill>
                      <a:srgbClr val="D97706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მონაცემთა გამოყენება</a:t>
                      </a:r>
                    </a:p>
                  </a:txBody>
                  <a:tcPr>
                    <a:solidFill>
                      <a:srgbClr val="D97706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რეკომენდაცია</a:t>
                      </a:r>
                    </a:p>
                  </a:txBody>
                  <a:tcPr>
                    <a:solidFill>
                      <a:srgbClr val="D97706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NotebookLM / Lovable</a:t>
                      </a:r>
                    </a:p>
                  </a:txBody>
                  <a:tcPr>
                    <a:solidFill>
                      <a:srgbClr val="D1FAE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🟢 GO</a:t>
                      </a:r>
                    </a:p>
                  </a:txBody>
                  <a:tcPr>
                    <a:solidFill>
                      <a:srgbClr val="D1FAE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არ გამოიყენება წვრთნისთვის</a:t>
                      </a:r>
                    </a:p>
                  </a:txBody>
                  <a:tcPr>
                    <a:solidFill>
                      <a:srgbClr val="D1FAE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უსაფრთხოა ბიზნეს დოკუმენტებისთვის</a:t>
                      </a:r>
                    </a:p>
                  </a:txBody>
                  <a:tcPr>
                    <a:solidFill>
                      <a:srgbClr val="D1FAE5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Claude / Perplexity</a:t>
                      </a:r>
                    </a:p>
                  </a:txBody>
                  <a:tcPr>
                    <a:solidFill>
                      <a:srgbClr val="FFF3E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🟡 CAUTION</a:t>
                      </a:r>
                    </a:p>
                  </a:txBody>
                  <a:tcPr>
                    <a:solidFill>
                      <a:srgbClr val="FFF3E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შეიძლება გამოიყენოს, თუ არ გათიშავთ</a:t>
                      </a:r>
                    </a:p>
                  </a:txBody>
                  <a:tcPr>
                    <a:solidFill>
                      <a:srgbClr val="FFF3E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გამოიყენეთ კოპირაითინგისთვის, პირადი მონაცემების გარეშე</a:t>
                      </a:r>
                    </a:p>
                  </a:txBody>
                  <a:tcPr>
                    <a:solidFill>
                      <a:srgbClr val="FFF3E0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ChatGPT Free / Gemini Free</a:t>
                      </a:r>
                    </a:p>
                  </a:txBody>
                  <a:tcPr>
                    <a:solidFill>
                      <a:srgbClr val="FEE2E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🔴 STOP</a:t>
                      </a:r>
                    </a:p>
                  </a:txBody>
                  <a:tcPr>
                    <a:solidFill>
                      <a:srgbClr val="FEE2E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ყველა მონაცემს იყენებს წვრთნისთვის</a:t>
                      </a:r>
                    </a:p>
                  </a:txBody>
                  <a:tcPr>
                    <a:solidFill>
                      <a:srgbClr val="FEE2E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არ ჩაწეროთ საიდუმლო ფორმულები ან კოდი</a:t>
                      </a:r>
                    </a:p>
                  </a:txBody>
                  <a:tcPr>
                    <a:solidFill>
                      <a:srgbClr val="FEE2E2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AI Tools: Data Leakage Protection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როგორ დავიცვათ თავი მონაცემთა გაჟონვისგან (Data Leakage)?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620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862072"/>
          </a:xfrm>
          <a:prstGeom prst="roundRect">
            <a:avLst>
              <a:gd name="adj" fmla="val 4000"/>
            </a:avLst>
          </a:prstGeom>
          <a:solidFill>
            <a:srgbClr val="FFF3E0"/>
          </a:solidFill>
          <a:ln w="95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⚠️ უსაფრთხოების წესები: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გათიშეთ Training პარამეტრი: ChatGPT-ისა და Claude-ის პარამეტრებში გათიშეთ „Improve model for everyone“;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მონაცემთა ფილტრაცია: AI-ში ჩაწერამდე წაშალეთ მომხმარებლის ელფოსტა, ტელეფონის ნომერი და გვარი;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Enterprise ვერსიები: თუ ბიუჯეტი გაქვთ, გამოიყენეთ API ვერსიები, რადგან API-ით გაგზავნილი მონაცემები არასოდეს გამოიყენება მოდელის წვრთნისთვის.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Divergent Thinking: Ideation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როგორ გამოვიყენოთ AI იდეების რაოდენობრივი გაფართოებისთვის?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06984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069848"/>
          </a:xfrm>
          <a:prstGeom prst="roundRect">
            <a:avLst>
              <a:gd name="adj" fmla="val 4000"/>
            </a:avLst>
          </a:prstGeom>
          <a:solidFill>
            <a:srgbClr val="FDF3D8"/>
          </a:solidFill>
          <a:ln w="9525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💡 წესი: რაოდენობა ბადებს ხარისხს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ამ ეტაპზე არ ვფილტრავთ იდეებს. ვავალებთ AI-ს გენერირებას სხვადასხვა კუთხით.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80360"/>
            <a:ext cx="54864" cy="7772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2880360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916936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D97706"/>
                </a:solidFill>
                <a:ea typeface="Consolas"/>
                <a:cs typeface="Consolas"/>
                <a:latin typeface="Consolas"/>
              </a:rPr>
              <a:t>Divergent Ideation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154679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182111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იმოქმედე როგორც კრეატიული სტარტაპ მენტორი.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ჩემი ბაზისური იდეაა: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შემომთავაზე 20 სრულიად განსხვავებული მიმართულება და ნიშა ამ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იდეისთვის.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გამოიყენე უჩვეულო კავშირები და მოერიდე სტანდარტულ პასუხებს.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Convergent Thinking: Pruning &amp; Selection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როგორ შევამციროთ 20 იდეა 1 ფინალურ პროექტამდე?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3E0"/>
          </a:solidFill>
          <a:ln w="63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🔍 ფილტრაციის კრიტერიუმები: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Traction Potential: რამდენად მარტივია პირველი 10 მომხმარებლის მოზიდვა?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Feasibility: შესაძლებელია თუ არა MVP-ს აწყობა Lovable-ით 1 დღეში?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Market Need: რამდენად მტკივნეულია პრობლემა მომხმარებლისთვის?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🚀 პრაქტიკული ნაბიჯი: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AI-ს ვთხოვთ იდეების შეფასებას მატრიცის მიხედვით: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05172" y="2752344"/>
            <a:ext cx="54864" cy="7772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2752344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2807208"/>
            <a:ext cx="3552444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2834640"/>
            <a:ext cx="3442716" cy="63093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შეაფასე ეს 3 იდეა [იდეები]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0-10 შკალაზე: 1) მარტივი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MVP, 2) პირველი გაყიდვების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სიჩქარე, 3) კონკურენციის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სიმცირე. წარმოადგინე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ცხრილის სახით.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SCAMPER მეთოდოლოგია: 7 გზა ინოვაციისთვის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ინოვაციის მიღების 7 გზა ნებისმიერი ტრადიციული ბიზნესისთვის: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ასო</a:t>
                      </a:r>
                    </a:p>
                  </a:txBody>
                  <a:tcPr>
                    <a:solidFill>
                      <a:srgbClr val="D97706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კითხვა</a:t>
                      </a:r>
                    </a:p>
                  </a:txBody>
                  <a:tcPr>
                    <a:solidFill>
                      <a:srgbClr val="D97706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მაგალითი</a:t>
                      </a:r>
                    </a:p>
                  </a:txBody>
                  <a:tcPr>
                    <a:solidFill>
                      <a:srgbClr val="D97706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S - Substitute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შენაცვლება შეგვიძლია?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ოფისის ჩანაცვლება 24/7 AI ხმოვანი ასისტენტით.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C - Combine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გაერთიანება შეიძლება?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ირიგაციის სისტემისა და აგრო-დაზღვევის გაერთიანება.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A - Adapt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როგორ მოვარგოთ სხვა სფეროს?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Tinder-ის „Swipe“ მოდელის მორგება ვაკანსიების ძებნაზე.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M - Modify / Magnify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გადიდება/შეცვლა შეიძლება?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სისხლის ანალიზის პასუხი 24 საათის ნაცვლად 1 წუთში.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P - Put to other use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სად შეიძლება სხვაგან გამოყენება?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ნარჩენი მონაცემების გამოყენება ბაზრის ტრენდების პროგნოზირებისთვის.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E - Eliminate</a:t>
                      </a:r>
                    </a:p>
                  </a:txBody>
                  <a:tcPr>
                    <a:solidFill>
                      <a:srgbClr val="D1FAE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მოცილება შეიძლება?</a:t>
                      </a:r>
                    </a:p>
                  </a:txBody>
                  <a:tcPr>
                    <a:solidFill>
                      <a:srgbClr val="D1FAE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რეგისტრაციის ეტაპის გაუქმება - პირდაპირ Google-ით 1 წამში.</a:t>
                      </a:r>
                    </a:p>
                  </a:txBody>
                  <a:tcPr>
                    <a:solidFill>
                      <a:srgbClr val="D1FAE5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R - Reverse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შებრუნება შეიძლება?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BNPL: ჯერ პროდუქტი, მერე გადახდა, ტრადიციული წინასწარი გადახდის ნაცვლად.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SCAMPER: Worked Example — ჭკვიანი ირიგაცია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როგორ გამოიყურება SCAMPER-ის 7 ნაბიჯი გამოყენებული ერთსა და იმავე იდეაზე?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🔄 S + 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ჩაანაცვლეთ ოპერატორები 24/7 AI ასისტენტით და გააერთიანეთ სისტემა აგრო-დაზღვევასთან: თუ ფერმერი იყენებს AI მორწყვას, დაზღვევა უფრო იაფია.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🔌 A +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მოარგეთ Tinder-ის Swipe მოდელი პარტნიორი მომწოდებლების შერჩევას. ასევე, გაზარდეთ სიზუსტე: სენსორმა 24 საათის ნაცვლად 1 წუთში აჩვენოს ტენიანობის დონე.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🔁 P + E + 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გამოიყენეთ ნიადაგის ისტორიული მონაცემები მოსავლის პროგნოზირებისთვის, გააუქმეთ რთული რეგისტრაცია და შესთავაზეთ სენსორი იჯარით (ჯერ სარგებელი, მერე გადახდა).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5 Whys: Deep Root-Cause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როგორ მივაგნოთ მომხმარებლის რეალურ ტკივილს?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3113532"/>
          </a:xfrm>
          <a:prstGeom prst="roundRect">
            <a:avLst>
              <a:gd name="adj" fmla="val 4000"/>
            </a:avLst>
          </a:prstGeom>
          <a:solidFill>
            <a:srgbClr val="FFF3E0"/>
          </a:solidFill>
          <a:ln w="95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❓ 5 Whys მაგალითი: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22860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რატომ არ რწყავს ფერმერი მიწას დროულად? - წყალი ძვირია;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რატომ არის ძვირი? - ბევრს ხარჯავს ზედმეტი მორწყვით;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რატომ რწყავს ზედმეტად? - არ იცის ნიადაგის რეალური ტენიანობა;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4.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რატომ არ იცის? - არ აქვს საზომი ხელსაწყოები;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5.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რატომ არ აქვს? - ბაზარზე არსებული სისტემები რთული და ძვირია.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4562856"/>
            <a:ext cx="7955279" cy="21488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ფესვური პრობლემა: ფერმერს სჭირდება იაფი და მარტივი საზომი, არა დიდი ტექნიკა.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What If: Blue Ocean Opportunity Prompts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სტანდარტების დარღვევა და ახალი ბაზრების (Blue Ocean) პოვნა: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892807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892807"/>
          </a:xfrm>
          <a:prstGeom prst="roundRect">
            <a:avLst>
              <a:gd name="adj" fmla="val 4000"/>
            </a:avLst>
          </a:prstGeom>
          <a:solidFill>
            <a:srgbClr val="FDF3D8"/>
          </a:solidFill>
          <a:ln w="9525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💡 What If კითხვების დიზაინი: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2984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„რა მოხდება, თუ ჩვენს საიტს არ ექნება ფასები და მომხმარებელი თავად გადაიხდის იმდენს, რამდენსაც საჭიროდ ჩათვლის?“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„რა მოხდება, თუ ჩვენი პროდუქტი იმუშავებს სრულიად ხაზგარეშე (Offline)?“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703320"/>
            <a:ext cx="54864" cy="7772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703320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739896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D97706"/>
                </a:solidFill>
                <a:ea typeface="Consolas"/>
                <a:cs typeface="Consolas"/>
                <a:latin typeface="Consolas"/>
              </a:rPr>
              <a:t>What If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977639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4005072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ჩემი სტარტაპ იდეაა: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დამისვი 5 პროვოკაციული "What If" კითხვა, რომელიც მთლიანად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შეცვლის ამ ბიზნესის ტრადიციულ წესებს და დამეხმარება ახალი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ბაზრის პოვნაში.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Six Thinking Hats: 6 ქუდის ჩარჩო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იდეის სისტემატური, მრავალმხრივი შეფასების 6 პერსპექტივა: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6517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ქუდი</a:t>
                      </a:r>
                    </a:p>
                  </a:txBody>
                  <a:tcPr>
                    <a:solidFill>
                      <a:srgbClr val="D97706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ფოკუსი</a:t>
                      </a:r>
                    </a:p>
                  </a:txBody>
                  <a:tcPr>
                    <a:solidFill>
                      <a:srgbClr val="D97706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კითხვა</a:t>
                      </a:r>
                    </a:p>
                  </a:txBody>
                  <a:tcPr>
                    <a:solidFill>
                      <a:srgbClr val="D97706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⚪ თეთრი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ინფორმაცია და ციფრები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რა ობიექტური ფაქტები გვაქვს?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🔴 წითელი</a:t>
                      </a:r>
                    </a:p>
                  </a:txBody>
                  <a:tcPr>
                    <a:solidFill>
                      <a:srgbClr val="FEE2E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ინტუიცია და ემოციები</a:t>
                      </a:r>
                    </a:p>
                  </a:txBody>
                  <a:tcPr>
                    <a:solidFill>
                      <a:srgbClr val="FEE2E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რას გრძნობს დამფუძნებელი და მომხმარებელი?</a:t>
                      </a:r>
                    </a:p>
                  </a:txBody>
                  <a:tcPr>
                    <a:solidFill>
                      <a:srgbClr val="FEE2E2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⚫ შავი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რისკები და კრიტიკა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რატომ ჩაფლავდება იდეა?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🟡 ყვითელი</a:t>
                      </a:r>
                    </a:p>
                  </a:txBody>
                  <a:tcPr>
                    <a:solidFill>
                      <a:srgbClr val="FFF3E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ოპტიმიზმი და სარგებელი</a:t>
                      </a:r>
                    </a:p>
                  </a:txBody>
                  <a:tcPr>
                    <a:solidFill>
                      <a:srgbClr val="FFF3E0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რა არის საუკეთესო სცენარი?</a:t>
                      </a:r>
                    </a:p>
                  </a:txBody>
                  <a:tcPr>
                    <a:solidFill>
                      <a:srgbClr val="FFF3E0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🟢 მწვანე</a:t>
                      </a:r>
                    </a:p>
                  </a:txBody>
                  <a:tcPr>
                    <a:solidFill>
                      <a:srgbClr val="D1FAE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კრეატიულობა</a:t>
                      </a:r>
                    </a:p>
                  </a:txBody>
                  <a:tcPr>
                    <a:solidFill>
                      <a:srgbClr val="D1FAE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როგორ გადავჭრათ შავი ქუდის რისკები?</a:t>
                      </a:r>
                    </a:p>
                  </a:txBody>
                  <a:tcPr>
                    <a:solidFill>
                      <a:srgbClr val="D1FAE5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🔵 ლურჯი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შეჯამება და მართვა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1E293B"/>
                          </a:solidFill>
                          <a:ea typeface="Sylfaen"/>
                          <a:cs typeface="Sylfaen"/>
                          <a:latin typeface="Sylfaen"/>
                        </a:rPr>
                        <a:t>რა არის ჩვენი შემდეგი ნაბიჯი?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Six Thinking Hats: Worked Example — ირიგაციის სისტემა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ერთი და იგივე იდეა, გატარებული სამივე წყვილ ქუდში: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8818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⚪🔴 თეთრი + წითელი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„საქართველოში არის 40,000 მცირე ფერმერი, აქედან მხოლოდ 15% იყენებს წვეთოვან სისტემებს. ამასთან, ფერმერებს ეშინიათ ახალი ტექნოლოგიების, რადგან ჰგონიათ, რომ რთულია.“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8818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⚫🟡 შავი + ყვითელი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„რისკი: ინტერნეტი რეგიონებში სუსტია და სენსორების ფასი მაღალია. სარგებელი: ფერმერი ზოგავს 40% წყალს, სისტემა ხარჯებს 3 თვეში ანაზღაურებს.“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62706"/>
            <a:ext cx="45720" cy="148818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62706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417570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🟢🔵 მწვანე + ლურჯი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810761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„გადაწყვეტა: მონაცემები SMS-ით ინტერნეტის ნაცვლად, სენსორები იჯარით ყიდვის ნაცვლად. შემდეგი ნაბიჯი: 1 სწრაფი ინტერვიუ ფერმერთან იჯარის მოდელის შესამოწმებლად.“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Jobs-to-be-Done (JTBD): Milkshake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კლეიტონ კრისტენსენის ლეგენდარული ქეისი - რატომ ყიდულობენ ადამიანები მილქშეიკს დილით?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58191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FF3E0"/>
          </a:solidFill>
          <a:ln w="63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❌ არასწორი ანალიზი (დემოგრაფია):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მილქშეიკს ყიდულობენ 25-35 წლის მამაკაცები, რომელთაც უყვართ ტკბილი.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158191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🟢 სწორი ანალიზი (JTBD):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მომხმარებელი „ქირაობს“ მილქშეიკს, რათა გრძელი და მოსაწყენი მგზავრობისას მანქანაში ჰქონდეს რაღაც ნოყიერი, რაც დიდხანს არ გათავდება და ხელს დაუკავებს.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630168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დასკვნა: თქვენი კონკურენტი შეიძლება იყოს არა სხვა მილქშეიკი, არამედ ბანანი ან ორცხობილა.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JTBD: Formula &amp; Syntax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როგორ ჩამოვაყალიბოთ JTBD მომხმარებლისთვის?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1635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816352"/>
          </a:xfrm>
          <a:prstGeom prst="roundRect">
            <a:avLst>
              <a:gd name="adj" fmla="val 4000"/>
            </a:avLst>
          </a:prstGeom>
          <a:solidFill>
            <a:srgbClr val="FDF3D8"/>
          </a:solidFill>
          <a:ln w="9525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როდესაც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49424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688336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მე მინდა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127248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566160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რათა შევძლო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005072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[სიტუაცია/კონტექსტი], [რა ქმედება ან ფუნქცია მჭირდება], [რა საბოლოო შედეგს/ემოციას ველოდები].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626864"/>
            <a:ext cx="54864" cy="2743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2064" y="4626864"/>
            <a:ext cx="8174736" cy="2743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4663440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D97706"/>
                </a:solidFill>
                <a:ea typeface="Consolas"/>
                <a:cs typeface="Consolas"/>
                <a:latin typeface="Consolas"/>
              </a:rPr>
              <a:t>JTBD Generator Prompt: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901184"/>
            <a:ext cx="8010144" cy="91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4928616"/>
            <a:ext cx="7900416" cy="365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ჩემი სტარტაპ იდეაა: [იდეა]. სამიზნე მომხმარებელია: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[მომხმარებელი].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დამიწერე 3 განსხვავებული JTBD წინადადება ამ ფორმულით.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Alternative Ideation: Analogical &amp; Contrarian Prompting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ორი დამატებითი ტექნიკა, თუ SCAMPER-ის შემდეგაც გჭირდებათ ახალი კუთხე: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DF3D8"/>
          </a:solidFill>
          <a:ln w="63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🔗 Analogical: „Airbnb for X“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არსებული წარმატებული ბიზნეს მოდელის გადმოტანა თქვენს სფეროში (Uber for X, Netflix for X, Airbnb for X).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2990088"/>
            <a:ext cx="54864" cy="7772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2990088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19" y="3044952"/>
            <a:ext cx="3552444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3072384"/>
            <a:ext cx="3442716" cy="63093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შემომთავაზე 5 სხვადასხვა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"Airbnb for X" ან "Uber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for X" ანალოგიური ბიზნეს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მოდელი [სფერო]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ინდუსტრიისთვის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საქართველოში.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🚫 Contrarian: წესების დარღვევა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ინდუსტრიის მიღებული სტანდარტის შებრუნება ახალი მოდელის შესაქმნელად (მაგ: სასტუმროში მისაღების გარეშე შესვლა მობილური აპლიკაციით).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5172" y="2990088"/>
            <a:ext cx="54864" cy="7772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60036" y="2990088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914900" y="3044952"/>
            <a:ext cx="3552444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69764" y="3072384"/>
            <a:ext cx="3442716" cy="63093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9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დაასახელე 3 მიღებული წესი</a:t>
            </a:r>
          </a:p>
          <a:p>
            <a:pPr>
              <a:spcAft>
                <a:spcPts val="0"/>
              </a:spcAft>
            </a:pPr>
            <a:r>
              <a:rPr sz="9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[სფერო] ინდუსტრიაში და</a:t>
            </a:r>
          </a:p>
          <a:p>
            <a:pPr>
              <a:spcAft>
                <a:spcPts val="0"/>
              </a:spcAft>
            </a:pPr>
            <a:r>
              <a:rPr sz="9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შემომთავაზე Contrarian</a:t>
            </a:r>
          </a:p>
          <a:p>
            <a:pPr>
              <a:spcAft>
                <a:spcPts val="0"/>
              </a:spcAft>
            </a:pPr>
            <a:r>
              <a:rPr sz="9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იდეა, რომელიც ამ წესებს</a:t>
            </a:r>
          </a:p>
          <a:p>
            <a:pPr>
              <a:spcAft>
                <a:spcPts val="0"/>
              </a:spcAft>
            </a:pPr>
            <a:r>
              <a:rPr sz="9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არღვევს.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Value Proposition Canvas: Customer Profile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მომხმარებლის დეტალური შესწავლა: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44144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441447"/>
          </a:xfrm>
          <a:prstGeom prst="roundRect">
            <a:avLst>
              <a:gd name="adj" fmla="val 4000"/>
            </a:avLst>
          </a:prstGeom>
          <a:solidFill>
            <a:srgbClr val="FFF3E0"/>
          </a:solidFill>
          <a:ln w="63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👤 Customer Jobs (სამუშაოები):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რა ტექნიკურ, სოციალურ თუ ემოციურ ამოცანებს ასრულებს მომხმარებელი ყოველდღიურად?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441447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441447"/>
          </a:xfrm>
          <a:prstGeom prst="roundRect">
            <a:avLst>
              <a:gd name="adj" fmla="val 4000"/>
            </a:avLst>
          </a:prstGeom>
          <a:solidFill>
            <a:srgbClr val="FDF3D8"/>
          </a:solidFill>
          <a:ln w="63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⚠️ Pains (ტკივილები) &amp; Gains (სარგებელი):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5727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Pains: რა უშლის ხელს ამ საქმის კეთებაში? რა რისკებია?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Gains: რა დადებით შედეგს ელოდება წარმატების შემთხვევაში?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მომხმარებლის ინტერვიუს სცენარი (Customer Interview Script)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სანამ ეს პროფილი ვარაუდად დარჩება, გადაამოწმეთ ის რეალურ საუბარში: როგორ ვესაუბროთ პოტენციურ მომხმარებელს, რათა მივიღოთ რეალური ინსაითები?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620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FF3E0"/>
          </a:solidFill>
          <a:ln w="63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❌ არასწორი კითხვები: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15727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„მოგწონთ ჩემი იდეა?“ (ადამიანები მოგატყუებენ, რომ გული არ გატკინონ);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„იყიდიდით ასეთ აპლიკაციას?“ (ჰიპოთეტური კითხვები არ მუშაობს).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6207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🟢 სწორი კითხვები (The Mom Test):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„როგორ წყვეტთ ამ პრობლემას დღეს?“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„ბოლოს როდის მოხდა ეს პრობლემა და რა გააკეთეთ?“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„რა იყო ყველაზე რთული ამ პროცესში და რატომ?“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The Mom Test: კითხვების ჩატარების წესები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Actionable cheatsheet მომხმარებელთან ინტერვიუს სწორად წარსამართად: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DF3D8"/>
          </a:solidFill>
          <a:ln w="63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🟢 დასვით ეს კითხვები (Do's)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„როგორ ჭრით ამ პრობლემას ამჟამად?“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„ბოლოს როდის მოხდა ეს და კონკრეტულად რა გააკეთეთ?“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„რა იყო ამ პროცესში ყველაზე დამღლელი/ძვირი?“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„რომელი ინსტრუმენტი გამოიყენეთ ბოლოს და რა გადაიხადეთ?“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„კიდევ ვის იცნობთ, ვისაც ეს პრობლემა აწუხებს?“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3E0"/>
          </a:solidFill>
          <a:ln w="63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🔴 მოერიდეთ ამ კითხვებს (Don'ts)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„მოგწონთ თუ არა ჩემი იდეა?“ (ყველა გეტყვით რომ მოსწონს)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„იყიდიდით თუ არა ამ აპლიკაციას?“ (ჰიპოთეტური პასუხები)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„რამდენს გადაიხდიდით ამ სერვისში?“ (არარეალური ციფრები)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„დაგეხმარებოდათ თუ არა ეს ფუნქცია?“ (ყველაფერზე გეტვიან კი-ს)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„როგორი უნდა იყოს იდეალური პროდუქტი?“ (ხალხმა არ იცის რა უნდა)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Value Proposition Canvas: Value Map Alignment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ინტერვიუდან მიღებული ინსაითების გათვალისწინებით - როგორ ერგება თქვენი პროდუქტი მომხმარებლის პროფილს?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7578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📦 ჩვენი შეთავაზება: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Products &amp; Services: ჩვენი კონკრეტული MVP პროდუქტი.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Pain Relievers: როგორ ვაყუჩებთ მომხმარებლის ტკივილს?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Gain Creators: როგორ ვქმნით დამატებით სარგებელს?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7578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DF3D8"/>
          </a:solidFill>
          <a:ln w="63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🎯 იდეალური მორგება (Fit):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თქვენი Pain Relievers და Gain Creators ზუსტად უნდა პასუხობდნენ მომხმარებლის მიერ დასახელებულ Pains &amp; Gains-ს.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Define Your ICP: სამიზნე მომხმარებლის პროფილი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Customer Profile, ინტერვიუ და Value Map უკვე დაგეხმარათ მომხმარებლის გაცნობაში - ახლა ეს ყველაფერი 1 კონკრეტულ პორტრეტად ჩამოვაყალიბოთ (Ideal Customer Profile):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73405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8174736" cy="2734056"/>
          </a:xfrm>
          <a:prstGeom prst="roundRect">
            <a:avLst>
              <a:gd name="adj" fmla="val 4000"/>
            </a:avLst>
          </a:prstGeom>
          <a:solidFill>
            <a:srgbClr val="FDF3D8"/>
          </a:solidFill>
          <a:ln w="9525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🎯 ICP-ის სავალდებულო ელემენტები: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7955279" cy="21396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დემოგრაფია/ფირმოგრაფია: ასაკი, პროფესია ან ბიზნესის ზომა და სექტორი;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ქცევა: სად ეძებს ინფორმაციას, რომელ პლატფორმებს იყენებს;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გადახდისუნარიანობა: აქვს თუ არა რეალური ბიუჯეტი პრობლემის მოსაგვარებლად;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Early Adopter ნიშანი: უკვე ცდილობს თუ არა პრობლემის გადაჭრას სხვა (ხშირად არასრულყოფილი) გზით.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782312"/>
            <a:ext cx="54864" cy="2743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4782312"/>
            <a:ext cx="8174736" cy="2743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818888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D97706"/>
                </a:solidFill>
                <a:ea typeface="Consolas"/>
                <a:cs typeface="Consolas"/>
                <a:latin typeface="Consolas"/>
              </a:rPr>
              <a:t>ICP Definition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5056632"/>
            <a:ext cx="8010144" cy="91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5084064"/>
            <a:ext cx="7900416" cy="365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ჩემი სტარტაპ იდეაა: [იდეა]. მომხმარებლის ინტერვიუდან გავიგე: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[insights].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ჩამომიყალიბე 1 კონკრეტული ICP პორტრეტი: ვინ არის ეს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ადამიანი/ბიზნესი, სად ვიპოვი მას, და რატომ იქნება ის ჩვენი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პირველი მომხმარებელი.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Lean Canvas: Blocks 1-3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ბიზნეს მოდელის პირველი და ყველაზე კრიტიკული ნაწილი - ახლა უკვე ICP-ისა და ინტერვიუს ინსაითებით გამყარებული: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45720" cy="136931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975104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2029968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1. Problem (პრობლემა)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423160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1-3 მთავარი პრობლემა, რომელსაც მომხმარებელი აწყდება. ასევე, არსებული ალტერნატივები.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45720" cy="136931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975104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2029968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2. Customer Segments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423160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ვინ არის სამიზნე მომხმარებელი? ვინ არიან თქვენი პირველი მომხმარებლები (Early Adopters)?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481578"/>
            <a:ext cx="45720" cy="136931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481578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536442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3. UVP (ფასეულობა)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929634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მკაფიო მესიჯი, რომელიც ხსნის, რით ხართ განსხვავებული და რატომ უნდა იყიდონ თქვენგან.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Lean Canvas: Blocks 4-6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ბიზნეს მოდელის მეორე ნაწილი - გადაწყვეტა და ფინანსები: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4. Solution (გადაწყვეტა)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3 ძირითადი ფუნქცია, რომლითაც აგვარებთ თითოეულ პრობლემას.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5. Channels (არხები)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როგორ მიაღწევთ მომხმარებლამდე? (სოც. მედია, SEO, პარტნიორობები, გაყიდვები).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6. Revenue Streams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როგორ გამოიმუშავებთ ფულს? (SaaS გამოწერა, ერთჯერადი გაყიდვა, საკომისიო).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Lean Canvas: Blocks 7-9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ბიზნეს მოდელის ბოლო ნაწილი - ხარჯები, მეტრიკები და უპირატესობა: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7. Cost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თქვენი ძირითადი ფიქსირებული და ცვლადი ხარჯები (ჰოსტინგი, მარკეტინგი, დომენი).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8. Key Metrics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როგორ გაზომავთ წარმატებას? (რეგისტრაციები, კონვერსია, Churn rate).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9. Unfair Advantage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კონკურენტული უპირატესობა, რომლის კოპირებაც რთულია (ექსკლუზიური გუნდი, პატენტი).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კონკურენტების ანალიზი და Feature 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როგორ შევისწავლოთ კონკურენტები Perplexity-ის მეშვეობით და ვაჩვენოთ ჩვენი უპირატესობა?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30759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FDF3D8"/>
          </a:solidFill>
          <a:ln w="9525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📊 Feature Matrix: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შედარებითი ცხრილი, რომელიც აჩვენებს თქვენი პროდუქტისა და კონკურენტების ფუნქციების, ფასისა და სუსტი მხარეების თანაფარდობას.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" cy="7772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355848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392424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D97706"/>
                </a:solidFill>
                <a:ea typeface="Consolas"/>
                <a:cs typeface="Consolas"/>
                <a:latin typeface="Consolas"/>
              </a:rPr>
              <a:t>Competitor Analysis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630168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657600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როლი: ბაზრის წამყვანი ანალიტიკოსი და სტარტაპ კონსულტანტი.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კონტექსტი: ვამზადებ კონკურენტულ ანალიზს ჩემი სტარტაპისთვის.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ჩემი პროდუქტი: [აღწერე პროდუქტი].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დავალება: მოიძიე ინტერნეტში ჩემი პროდუქტის 3 ძირითადი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კონკურენტი.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გამომავალი ფორმატი: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1. შეადგინე Feature Matrix ცხრილის სახით (ჩვენი პროდუქტი vs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3 კონკურენტი), სადაც შეადარებ: ფუნქციებს, საფასო მოდელს,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ძლიერ და სუსტ მხარეებს.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2. მოამზადე მოკლე SWOT ანალიზი თითოეულისთვის.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3. ჩამოაყალიბე ჩვენი Unfair Advantage (უნიკალური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1E293B"/>
                </a:solidFill>
                <a:ea typeface="Consolas"/>
                <a:cs typeface="Consolas"/>
                <a:latin typeface="Consolas"/>
              </a:rPr>
              <a:t>კონკურენტული უპირატესობა).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Homework Part A Guidelines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Day 1-ის ბოლოს გასაგზავნი დავალება (20 წუთი):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58775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58775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📋 დავალების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რეგისტრაცია (5 წთ): დარეგისტრირდით Lovable.dev, Supabase, Make.com, Perplexity-ზე.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1 მომხმარებლის ინტერვიუ (10 წთ): დაუსვით 3 ღია კითხვა პოტენციურ კლიენტს და ჩაწერეთ 3 Insights.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Pitch-ის გამარტივება (5 წთ): ჩამოაყალიბეთ თქვენი იდეა 1 წინადადებაში.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398264"/>
            <a:ext cx="8229600" cy="452627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📧 გაგზავნის წესი: გამოიყენეთ `day1_homework_template.md` და გამოაგზავნეთ მეილზე შაბათს დილის 10:00 საათამდე.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D97706"/>
                </a:solidFill>
                <a:ea typeface="Sylfaen"/>
                <a:cs typeface="Sylfaen"/>
                <a:latin typeface="Sylfaen"/>
              </a:rPr>
              <a:t>Day 1 Wrap-up &amp; Checklist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გილოცავთ! Day 1-ის ძირითადი ეტაპები დასრულებულია: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იდეაცია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SCAMPER და 5 Whys ტექნიკით იდეები გაღრმავდა.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ვალიდაცია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Lean Canvas და VPC-ით ბიზნეს მოდელი მზად არის.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🚀 მზადება ხვალისთვის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ხვალ ავაწყობთ რეალურ MVP საიტს Lovable-ში და Make.com-ის ავტომატიზაციას.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361688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293B"/>
                </a:solidFill>
                <a:ea typeface="Sylfaen"/>
                <a:cs typeface="Sylfaen"/>
                <a:latin typeface="Sylfaen"/>
              </a:rPr>
              <a:t>შევხვდებით ხვალ 10:00 საათზე! 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